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10287000" cx="18288000"/>
  <p:notesSz cx="6858000" cy="9144000"/>
  <p:embeddedFontLst>
    <p:embeddedFont>
      <p:font typeface="Cambay"/>
      <p:regular r:id="rId21"/>
      <p:bold r:id="rId22"/>
      <p:italic r:id="rId23"/>
      <p:boldItalic r:id="rId24"/>
    </p:embeddedFont>
    <p:embeddedFont>
      <p:font typeface="Alexandria"/>
      <p:regular r:id="rId25"/>
      <p:bold r:id="rId26"/>
    </p:embeddedFont>
    <p:embeddedFont>
      <p:font typeface="Manjari"/>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9" roundtripDataSignature="AMtx7mg7W7SssFtALmcdH71YCSiOAn39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E3AA36-B336-4C85-A64B-B9FFD539F627}">
  <a:tblStyle styleId="{82E3AA36-B336-4C85-A64B-B9FFD539F62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ambay-bold.fntdata"/><Relationship Id="rId21" Type="http://schemas.openxmlformats.org/officeDocument/2006/relationships/font" Target="fonts/Cambay-regular.fntdata"/><Relationship Id="rId24" Type="http://schemas.openxmlformats.org/officeDocument/2006/relationships/font" Target="fonts/Cambay-boldItalic.fntdata"/><Relationship Id="rId23" Type="http://schemas.openxmlformats.org/officeDocument/2006/relationships/font" Target="fonts/Camb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lexandria-bold.fntdata"/><Relationship Id="rId25" Type="http://schemas.openxmlformats.org/officeDocument/2006/relationships/font" Target="fonts/Alexandria-regular.fntdata"/><Relationship Id="rId28" Type="http://schemas.openxmlformats.org/officeDocument/2006/relationships/font" Target="fonts/Manjari-bold.fntdata"/><Relationship Id="rId27" Type="http://schemas.openxmlformats.org/officeDocument/2006/relationships/font" Target="fonts/Manjari-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4" name="Google Shape;13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17.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jpg"/><Relationship Id="rId4" Type="http://schemas.openxmlformats.org/officeDocument/2006/relationships/image" Target="../media/image8.png"/><Relationship Id="rId5"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jp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jp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16.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 name="Google Shape;85;p1"/>
          <p:cNvSpPr/>
          <p:nvPr/>
        </p:nvSpPr>
        <p:spPr>
          <a:xfrm rot="3230776">
            <a:off x="-3442537" y="-855281"/>
            <a:ext cx="16797211" cy="15270192"/>
          </a:xfrm>
          <a:custGeom>
            <a:rect b="b" l="l" r="r" t="t"/>
            <a:pathLst>
              <a:path extrusionOk="0" h="15268999" w="16795899">
                <a:moveTo>
                  <a:pt x="0" y="0"/>
                </a:moveTo>
                <a:lnTo>
                  <a:pt x="16795898" y="0"/>
                </a:lnTo>
                <a:lnTo>
                  <a:pt x="16795898" y="15268999"/>
                </a:lnTo>
                <a:lnTo>
                  <a:pt x="0" y="152689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13698426" y="1280999"/>
            <a:ext cx="3266674" cy="2477591"/>
          </a:xfrm>
          <a:custGeom>
            <a:rect b="b" l="l" r="r" t="t"/>
            <a:pathLst>
              <a:path extrusionOk="0" h="2030812" w="2415286">
                <a:moveTo>
                  <a:pt x="0" y="0"/>
                </a:moveTo>
                <a:lnTo>
                  <a:pt x="2415285" y="0"/>
                </a:lnTo>
                <a:lnTo>
                  <a:pt x="2415285" y="2030812"/>
                </a:lnTo>
                <a:lnTo>
                  <a:pt x="0" y="2030812"/>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txBox="1"/>
          <p:nvPr/>
        </p:nvSpPr>
        <p:spPr>
          <a:xfrm>
            <a:off x="1883850" y="1552350"/>
            <a:ext cx="11338800" cy="1847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999"/>
              <a:buFont typeface="Arial"/>
              <a:buNone/>
            </a:pPr>
            <a:r>
              <a:rPr b="1" i="0" lang="es-MX" sz="6000" u="none" cap="none" strike="noStrike">
                <a:solidFill>
                  <a:srgbClr val="CCFFAB"/>
                </a:solidFill>
                <a:latin typeface="Alexandria"/>
                <a:ea typeface="Alexandria"/>
                <a:cs typeface="Alexandria"/>
                <a:sym typeface="Alexandria"/>
              </a:rPr>
              <a:t>PROYECTO INGECON GRUPO 12 - Incremento 3</a:t>
            </a:r>
            <a:endParaRPr b="0" i="0" sz="6000" u="none" cap="none" strike="noStrike">
              <a:solidFill>
                <a:srgbClr val="000000"/>
              </a:solidFill>
              <a:latin typeface="Arial"/>
              <a:ea typeface="Arial"/>
              <a:cs typeface="Arial"/>
              <a:sym typeface="Arial"/>
            </a:endParaRPr>
          </a:p>
        </p:txBody>
      </p:sp>
      <p:sp>
        <p:nvSpPr>
          <p:cNvPr id="88" name="Google Shape;88;p1"/>
          <p:cNvSpPr/>
          <p:nvPr/>
        </p:nvSpPr>
        <p:spPr>
          <a:xfrm>
            <a:off x="1356329" y="4846097"/>
            <a:ext cx="16340928" cy="3223339"/>
          </a:xfrm>
          <a:custGeom>
            <a:rect b="b" l="l" r="r" t="t"/>
            <a:pathLst>
              <a:path extrusionOk="0" h="3223339" w="16340928">
                <a:moveTo>
                  <a:pt x="0" y="0"/>
                </a:moveTo>
                <a:lnTo>
                  <a:pt x="16340928" y="0"/>
                </a:lnTo>
                <a:lnTo>
                  <a:pt x="16340928" y="3223339"/>
                </a:lnTo>
                <a:lnTo>
                  <a:pt x="0" y="3223339"/>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txBox="1"/>
          <p:nvPr/>
        </p:nvSpPr>
        <p:spPr>
          <a:xfrm>
            <a:off x="2045723" y="4023371"/>
            <a:ext cx="7481100" cy="6808800"/>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Clr>
                <a:srgbClr val="000000"/>
              </a:buClr>
              <a:buSzPts val="3808"/>
              <a:buFont typeface="Arial"/>
              <a:buNone/>
            </a:pPr>
            <a:r>
              <a:rPr b="1" i="0" lang="es-MX" sz="3808" u="none" cap="none" strike="noStrike">
                <a:solidFill>
                  <a:srgbClr val="FFFFFF"/>
                </a:solidFill>
                <a:latin typeface="Cambay"/>
                <a:ea typeface="Cambay"/>
                <a:cs typeface="Cambay"/>
                <a:sym typeface="Cambay"/>
              </a:rPr>
              <a:t>Integrantes</a:t>
            </a:r>
            <a:endParaRPr b="0" i="0" sz="1400" u="none" cap="none" strike="noStrike">
              <a:solidFill>
                <a:srgbClr val="000000"/>
              </a:solidFill>
              <a:latin typeface="Arial"/>
              <a:ea typeface="Arial"/>
              <a:cs typeface="Arial"/>
              <a:sym typeface="Arial"/>
            </a:endParaRPr>
          </a:p>
          <a:p>
            <a:pPr indent="0" lvl="0" marL="0" marR="0" rtl="0" algn="l">
              <a:lnSpc>
                <a:spcPct val="120010"/>
              </a:lnSpc>
              <a:spcBef>
                <a:spcPts val="0"/>
              </a:spcBef>
              <a:spcAft>
                <a:spcPts val="0"/>
              </a:spcAft>
              <a:buClr>
                <a:srgbClr val="000000"/>
              </a:buClr>
              <a:buSzPts val="3808"/>
              <a:buFont typeface="Arial"/>
              <a:buNone/>
            </a:pPr>
            <a:r>
              <a:t/>
            </a:r>
            <a:endParaRPr b="1" i="0" sz="3808" u="none" cap="none" strike="noStrike">
              <a:solidFill>
                <a:srgbClr val="FFFFFF"/>
              </a:solidFill>
              <a:latin typeface="Cambay"/>
              <a:ea typeface="Cambay"/>
              <a:cs typeface="Cambay"/>
              <a:sym typeface="Cambay"/>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Diego Carabajal Belmar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Tomás Hurtado Silva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Vicente Ortega Nobizelli </a:t>
            </a:r>
            <a:endParaRPr b="0" i="0" sz="1400" u="none" cap="none" strike="noStrike">
              <a:solidFill>
                <a:srgbClr val="000000"/>
              </a:solidFill>
              <a:latin typeface="Arial"/>
              <a:ea typeface="Arial"/>
              <a:cs typeface="Arial"/>
              <a:sym typeface="Arial"/>
            </a:endParaRPr>
          </a:p>
          <a:p>
            <a:pPr indent="-321118"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Benjamín Parraguez Aguirre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Paulina Urrutia Moya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p:txBody>
      </p:sp>
      <p:sp>
        <p:nvSpPr>
          <p:cNvPr id="90" name="Google Shape;90;p1"/>
          <p:cNvSpPr txBox="1"/>
          <p:nvPr/>
        </p:nvSpPr>
        <p:spPr>
          <a:xfrm>
            <a:off x="-2907545" y="8419315"/>
            <a:ext cx="16341000" cy="461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1" i="0" lang="es-MX" sz="2999" u="none" cap="none" strike="noStrike">
                <a:solidFill>
                  <a:srgbClr val="FFFFFF"/>
                </a:solidFill>
                <a:latin typeface="Arial"/>
                <a:ea typeface="Arial"/>
                <a:cs typeface="Arial"/>
                <a:sym typeface="Arial"/>
              </a:rPr>
              <a:t>Profesor: </a:t>
            </a:r>
            <a:r>
              <a:rPr b="0" i="0" lang="es-MX" sz="2999" u="none" cap="none" strike="noStrike">
                <a:solidFill>
                  <a:srgbClr val="FFFFFF"/>
                </a:solidFill>
                <a:latin typeface="Arial"/>
                <a:ea typeface="Arial"/>
                <a:cs typeface="Arial"/>
                <a:sym typeface="Arial"/>
              </a:rPr>
              <a:t>Paulo Quinsacara Jofré</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1</a:t>
            </a:r>
            <a:endParaRPr b="0" i="0" sz="1400" u="none" cap="none" strike="noStrike">
              <a:solidFill>
                <a:srgbClr val="000000"/>
              </a:solidFill>
              <a:latin typeface="Arial"/>
              <a:ea typeface="Arial"/>
              <a:cs typeface="Arial"/>
              <a:sym typeface="Arial"/>
            </a:endParaRPr>
          </a:p>
        </p:txBody>
      </p:sp>
    </p:spTree>
  </p:cSld>
  <p:clrMapOvr>
    <a:masterClrMapping/>
  </p:clrMapOvr>
  <p:transition spd="slow" p14:dur="1500">
    <p:split orient="ver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p:nvPr/>
        </p:nvSpPr>
        <p:spPr>
          <a:xfrm>
            <a:off x="103239"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 name="Google Shape;97;p2"/>
          <p:cNvSpPr/>
          <p:nvPr/>
        </p:nvSpPr>
        <p:spPr>
          <a:xfrm>
            <a:off x="655311" y="3572025"/>
            <a:ext cx="16340928" cy="3426834"/>
          </a:xfrm>
          <a:custGeom>
            <a:rect b="b" l="l" r="r" t="t"/>
            <a:pathLst>
              <a:path extrusionOk="0" h="3223339" w="16340928">
                <a:moveTo>
                  <a:pt x="0" y="0"/>
                </a:moveTo>
                <a:lnTo>
                  <a:pt x="16340928" y="0"/>
                </a:lnTo>
                <a:lnTo>
                  <a:pt x="16340928" y="3223339"/>
                </a:lnTo>
                <a:lnTo>
                  <a:pt x="0" y="3223339"/>
                </a:lnTo>
                <a:lnTo>
                  <a:pt x="0" y="0"/>
                </a:lnTo>
                <a:close/>
              </a:path>
            </a:pathLst>
          </a:custGeom>
          <a:noFill/>
          <a:ln>
            <a:noFill/>
          </a:ln>
        </p:spPr>
        <p:txBody>
          <a:bodyPr anchorCtr="0" anchor="t" bIns="45700" lIns="91425" spcFirstLastPara="1" rIns="91425" wrap="square" tIns="45700">
            <a:noAutofit/>
          </a:bodyPr>
          <a:lstStyle/>
          <a:p>
            <a:pPr indent="-193674" lvl="1" marL="539748" marR="0" rtl="0" algn="l">
              <a:lnSpc>
                <a:spcPct val="291583"/>
              </a:lnSpc>
              <a:spcBef>
                <a:spcPts val="0"/>
              </a:spcBef>
              <a:spcAft>
                <a:spcPts val="0"/>
              </a:spcAft>
              <a:buClr>
                <a:schemeClr val="dk1"/>
              </a:buClr>
              <a:buSzPts val="1200"/>
              <a:buFont typeface="Calibri"/>
              <a:buNone/>
            </a:pPr>
            <a:r>
              <a:t/>
            </a:r>
            <a:endParaRPr b="0" i="0" sz="1200" u="none" cap="none" strike="noStrike">
              <a:solidFill>
                <a:srgbClr val="FFFFFF"/>
              </a:solidFill>
              <a:latin typeface="Arial"/>
              <a:ea typeface="Arial"/>
              <a:cs typeface="Arial"/>
              <a:sym typeface="Arial"/>
            </a:endParaRPr>
          </a:p>
        </p:txBody>
      </p:sp>
      <p:sp>
        <p:nvSpPr>
          <p:cNvPr id="98" name="Google Shape;98;p2"/>
          <p:cNvSpPr/>
          <p:nvPr/>
        </p:nvSpPr>
        <p:spPr>
          <a:xfrm rot="3226633">
            <a:off x="-1894250" y="-3774095"/>
            <a:ext cx="20819845" cy="20706390"/>
          </a:xfrm>
          <a:custGeom>
            <a:rect b="b" l="l" r="r" t="t"/>
            <a:pathLst>
              <a:path extrusionOk="0" h="15268999" w="16795899">
                <a:moveTo>
                  <a:pt x="0" y="0"/>
                </a:moveTo>
                <a:lnTo>
                  <a:pt x="16795899" y="0"/>
                </a:lnTo>
                <a:lnTo>
                  <a:pt x="16795899" y="15268999"/>
                </a:lnTo>
                <a:lnTo>
                  <a:pt x="0" y="152689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txBox="1"/>
          <p:nvPr/>
        </p:nvSpPr>
        <p:spPr>
          <a:xfrm>
            <a:off x="2124540" y="1326697"/>
            <a:ext cx="7574100" cy="1545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037"/>
              <a:buFont typeface="Arial"/>
              <a:buNone/>
            </a:pPr>
            <a:r>
              <a:rPr b="1" i="0" lang="es-MX" sz="10037" u="none" cap="none" strike="noStrike">
                <a:solidFill>
                  <a:srgbClr val="CCFFAB"/>
                </a:solidFill>
                <a:latin typeface="Alexandria"/>
                <a:ea typeface="Alexandria"/>
                <a:cs typeface="Alexandria"/>
                <a:sym typeface="Alexandria"/>
              </a:rPr>
              <a:t>ÍNDICE</a:t>
            </a:r>
            <a:endParaRPr b="0" i="0" sz="1400" u="none" cap="none" strike="noStrike">
              <a:solidFill>
                <a:srgbClr val="000000"/>
              </a:solidFill>
              <a:latin typeface="Arial"/>
              <a:ea typeface="Arial"/>
              <a:cs typeface="Arial"/>
              <a:sym typeface="Arial"/>
            </a:endParaRPr>
          </a:p>
        </p:txBody>
      </p:sp>
      <p:sp>
        <p:nvSpPr>
          <p:cNvPr id="100" name="Google Shape;100;p2"/>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2</a:t>
            </a:r>
            <a:endParaRPr b="0" i="0" sz="1400" u="none" cap="none" strike="noStrike">
              <a:solidFill>
                <a:srgbClr val="000000"/>
              </a:solidFill>
              <a:latin typeface="Arial"/>
              <a:ea typeface="Arial"/>
              <a:cs typeface="Arial"/>
              <a:sym typeface="Arial"/>
            </a:endParaRPr>
          </a:p>
        </p:txBody>
      </p:sp>
      <p:sp>
        <p:nvSpPr>
          <p:cNvPr id="101" name="Google Shape;101;p2"/>
          <p:cNvSpPr txBox="1"/>
          <p:nvPr/>
        </p:nvSpPr>
        <p:spPr>
          <a:xfrm>
            <a:off x="2124550" y="3077450"/>
            <a:ext cx="9978000" cy="6534000"/>
          </a:xfrm>
          <a:prstGeom prst="rect">
            <a:avLst/>
          </a:prstGeom>
          <a:noFill/>
          <a:ln>
            <a:noFill/>
          </a:ln>
        </p:spPr>
        <p:txBody>
          <a:bodyPr anchorCtr="0" anchor="t" bIns="45700" lIns="91425" spcFirstLastPara="1" rIns="91425" wrap="square" tIns="45700">
            <a:spAutoFit/>
          </a:bodyPr>
          <a:lstStyle/>
          <a:p>
            <a:pPr indent="-400050" lvl="0" marL="457200" marR="0" rtl="0" algn="l">
              <a:lnSpc>
                <a:spcPct val="150000"/>
              </a:lnSpc>
              <a:spcBef>
                <a:spcPts val="0"/>
              </a:spcBef>
              <a:spcAft>
                <a:spcPts val="0"/>
              </a:spcAft>
              <a:buClr>
                <a:schemeClr val="lt1"/>
              </a:buClr>
              <a:buSzPts val="2700"/>
              <a:buAutoNum type="arabicPeriod"/>
            </a:pPr>
            <a:r>
              <a:rPr b="1" lang="es-MX" sz="2700">
                <a:solidFill>
                  <a:schemeClr val="lt1"/>
                </a:solidFill>
              </a:rPr>
              <a:t>Portada</a:t>
            </a:r>
            <a:endParaRPr b="1" sz="2700">
              <a:solidFill>
                <a:schemeClr val="lt1"/>
              </a:solidFill>
            </a:endParaRPr>
          </a:p>
          <a:p>
            <a:pPr indent="0" lvl="0" marL="0" marR="0" rtl="0" algn="l">
              <a:lnSpc>
                <a:spcPct val="150000"/>
              </a:lnSpc>
              <a:spcBef>
                <a:spcPts val="0"/>
              </a:spcBef>
              <a:spcAft>
                <a:spcPts val="0"/>
              </a:spcAft>
              <a:buNone/>
            </a:pPr>
            <a:r>
              <a:rPr b="1" lang="es-MX" sz="2700">
                <a:solidFill>
                  <a:schemeClr val="lt1"/>
                </a:solidFill>
              </a:rPr>
              <a:t>2. </a:t>
            </a:r>
            <a:r>
              <a:rPr b="1" lang="es-MX" sz="2700">
                <a:solidFill>
                  <a:schemeClr val="lt1"/>
                </a:solidFill>
              </a:rPr>
              <a:t>Í</a:t>
            </a:r>
            <a:r>
              <a:rPr b="1" lang="es-MX" sz="2700">
                <a:solidFill>
                  <a:srgbClr val="FFFFFF"/>
                </a:solidFill>
              </a:rPr>
              <a:t>ndice</a:t>
            </a:r>
            <a:endParaRPr b="1" sz="2700">
              <a:solidFill>
                <a:srgbClr val="FFFFFF"/>
              </a:solidFill>
            </a:endParaRPr>
          </a:p>
          <a:p>
            <a:pPr indent="0" lvl="0" marL="0" rtl="0" algn="l">
              <a:lnSpc>
                <a:spcPct val="150000"/>
              </a:lnSpc>
              <a:spcBef>
                <a:spcPts val="0"/>
              </a:spcBef>
              <a:spcAft>
                <a:spcPts val="0"/>
              </a:spcAft>
              <a:buClr>
                <a:schemeClr val="dk1"/>
              </a:buClr>
              <a:buSzPts val="1100"/>
              <a:buFont typeface="Arial"/>
              <a:buNone/>
            </a:pPr>
            <a:r>
              <a:rPr b="1" lang="es-MX" sz="2700">
                <a:solidFill>
                  <a:schemeClr val="lt1"/>
                </a:solidFill>
              </a:rPr>
              <a:t>3. </a:t>
            </a:r>
            <a:r>
              <a:rPr b="1" lang="es-MX" sz="2700">
                <a:solidFill>
                  <a:schemeClr val="lt1"/>
                </a:solidFill>
              </a:rPr>
              <a:t>Introducción</a:t>
            </a:r>
            <a:endParaRPr b="1" sz="2700">
              <a:solidFill>
                <a:srgbClr val="FFFFFF"/>
              </a:solidFill>
            </a:endParaRPr>
          </a:p>
          <a:p>
            <a:pPr indent="0" lvl="0" marL="0" marR="0" rtl="0" algn="l">
              <a:lnSpc>
                <a:spcPct val="150000"/>
              </a:lnSpc>
              <a:spcBef>
                <a:spcPts val="0"/>
              </a:spcBef>
              <a:spcAft>
                <a:spcPts val="0"/>
              </a:spcAft>
              <a:buNone/>
            </a:pPr>
            <a:r>
              <a:rPr b="1" lang="es-MX" sz="2700">
                <a:solidFill>
                  <a:srgbClr val="FFFFFF"/>
                </a:solidFill>
              </a:rPr>
              <a:t>4. Resumen Incremento</a:t>
            </a:r>
            <a:endParaRPr b="1" i="0" sz="2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lang="es-MX" sz="2700">
                <a:solidFill>
                  <a:srgbClr val="FFFFFF"/>
                </a:solidFill>
              </a:rPr>
              <a:t>5 y 6. </a:t>
            </a:r>
            <a:r>
              <a:rPr b="1" i="0" lang="es-MX" sz="2700" u="none" cap="none" strike="noStrike">
                <a:solidFill>
                  <a:srgbClr val="FFFFFF"/>
                </a:solidFill>
                <a:latin typeface="Arial"/>
                <a:ea typeface="Arial"/>
                <a:cs typeface="Arial"/>
                <a:sym typeface="Arial"/>
              </a:rPr>
              <a:t>Requerimientos funcionales importantes</a:t>
            </a:r>
            <a:endParaRPr b="1" i="0" sz="2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lang="es-MX" sz="2700">
                <a:solidFill>
                  <a:srgbClr val="FFFFFF"/>
                </a:solidFill>
              </a:rPr>
              <a:t>7. </a:t>
            </a:r>
            <a:r>
              <a:rPr b="1" i="0" lang="es-MX" sz="2700" u="none" cap="none" strike="noStrike">
                <a:solidFill>
                  <a:srgbClr val="FFFFFF"/>
                </a:solidFill>
                <a:latin typeface="Arial"/>
                <a:ea typeface="Arial"/>
                <a:cs typeface="Arial"/>
                <a:sym typeface="Arial"/>
              </a:rPr>
              <a:t>Diagrama de Componentes</a:t>
            </a:r>
            <a:endParaRPr b="1" i="0" sz="2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lang="es-MX" sz="2700">
                <a:solidFill>
                  <a:srgbClr val="FFFFFF"/>
                </a:solidFill>
              </a:rPr>
              <a:t>8 a 11. </a:t>
            </a:r>
            <a:r>
              <a:rPr b="1" i="0" lang="es-MX" sz="2700" u="none" cap="none" strike="noStrike">
                <a:solidFill>
                  <a:srgbClr val="FFFFFF"/>
                </a:solidFill>
                <a:latin typeface="Arial"/>
                <a:ea typeface="Arial"/>
                <a:cs typeface="Arial"/>
                <a:sym typeface="Arial"/>
              </a:rPr>
              <a:t>Casos de Uso y Diagramas de Secuencia</a:t>
            </a:r>
            <a:endParaRPr b="1" i="0" sz="2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lang="es-MX" sz="2700">
                <a:solidFill>
                  <a:srgbClr val="FFFFFF"/>
                </a:solidFill>
              </a:rPr>
              <a:t>12. </a:t>
            </a:r>
            <a:r>
              <a:rPr b="1" i="0" lang="es-MX" sz="2700" u="none" cap="none" strike="noStrike">
                <a:solidFill>
                  <a:srgbClr val="FFFFFF"/>
                </a:solidFill>
                <a:latin typeface="Arial"/>
                <a:ea typeface="Arial"/>
                <a:cs typeface="Arial"/>
                <a:sym typeface="Arial"/>
              </a:rPr>
              <a:t>Árbol de navegación</a:t>
            </a:r>
            <a:endParaRPr b="1" i="0" sz="21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None/>
            </a:pPr>
            <a:r>
              <a:rPr b="1" lang="es-MX" sz="2700">
                <a:solidFill>
                  <a:srgbClr val="FFFFFF"/>
                </a:solidFill>
              </a:rPr>
              <a:t>13. </a:t>
            </a:r>
            <a:r>
              <a:rPr b="1" i="0" lang="es-MX" sz="2700" u="none" cap="none" strike="noStrike">
                <a:solidFill>
                  <a:srgbClr val="FFFFFF"/>
                </a:solidFill>
                <a:latin typeface="Arial"/>
                <a:ea typeface="Arial"/>
                <a:cs typeface="Arial"/>
                <a:sym typeface="Arial"/>
              </a:rPr>
              <a:t>Base de Datos: Diagrama de Clases</a:t>
            </a:r>
            <a:endParaRPr b="1" i="0" sz="2100" u="none" cap="none" strike="noStrike">
              <a:solidFill>
                <a:srgbClr val="000000"/>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a:p>
            <a:pPr indent="-228600" lvl="0" marL="34290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FFFFFF"/>
              </a:solidFill>
              <a:latin typeface="Arial"/>
              <a:ea typeface="Arial"/>
              <a:cs typeface="Arial"/>
              <a:sym typeface="Arial"/>
            </a:endParaRPr>
          </a:p>
        </p:txBody>
      </p:sp>
    </p:spTree>
  </p:cSld>
  <p:clrMapOvr>
    <a:masterClrMapping/>
  </p:clrMapOvr>
  <mc:AlternateContent>
    <mc:Choice Requires="p14">
      <p:transition spd="slow">
        <p14:flash/>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p:nvPr/>
        </p:nvSpPr>
        <p:spPr>
          <a:xfrm>
            <a:off x="-11"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 name="Google Shape;107;p3"/>
          <p:cNvSpPr/>
          <p:nvPr/>
        </p:nvSpPr>
        <p:spPr>
          <a:xfrm>
            <a:off x="12741850" y="1586400"/>
            <a:ext cx="4734374" cy="2070321"/>
          </a:xfrm>
          <a:custGeom>
            <a:rect b="b" l="l" r="r" t="t"/>
            <a:pathLst>
              <a:path extrusionOk="0" h="1703968" w="3928941">
                <a:moveTo>
                  <a:pt x="0" y="0"/>
                </a:moveTo>
                <a:lnTo>
                  <a:pt x="3928941" y="0"/>
                </a:lnTo>
                <a:lnTo>
                  <a:pt x="3928941" y="1703969"/>
                </a:lnTo>
                <a:lnTo>
                  <a:pt x="0" y="1703969"/>
                </a:lnTo>
                <a:lnTo>
                  <a:pt x="0" y="0"/>
                </a:lnTo>
                <a:close/>
              </a:path>
            </a:pathLst>
          </a:custGeom>
          <a:blipFill rotWithShape="1">
            <a:blip r:embed="rId4">
              <a:alphaModFix/>
            </a:blip>
            <a:stretch>
              <a:fillRect b="-13432" l="0" r="0" t="-1343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 name="Google Shape;108;p3"/>
          <p:cNvSpPr/>
          <p:nvPr/>
        </p:nvSpPr>
        <p:spPr>
          <a:xfrm>
            <a:off x="16574517" y="2782877"/>
            <a:ext cx="1262987" cy="828979"/>
          </a:xfrm>
          <a:custGeom>
            <a:rect b="b" l="l" r="r" t="t"/>
            <a:pathLst>
              <a:path extrusionOk="0" h="828979" w="1262987">
                <a:moveTo>
                  <a:pt x="0" y="0"/>
                </a:moveTo>
                <a:lnTo>
                  <a:pt x="1262987" y="0"/>
                </a:lnTo>
                <a:lnTo>
                  <a:pt x="1262987" y="828978"/>
                </a:lnTo>
                <a:lnTo>
                  <a:pt x="0" y="82897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 name="Google Shape;109;p3"/>
          <p:cNvSpPr/>
          <p:nvPr/>
        </p:nvSpPr>
        <p:spPr>
          <a:xfrm>
            <a:off x="-1134735" y="5127725"/>
            <a:ext cx="15926559" cy="3141602"/>
          </a:xfrm>
          <a:custGeom>
            <a:rect b="b" l="l" r="r" t="t"/>
            <a:pathLst>
              <a:path extrusionOk="0" h="3141602" w="15926559">
                <a:moveTo>
                  <a:pt x="0" y="0"/>
                </a:moveTo>
                <a:lnTo>
                  <a:pt x="15926559" y="0"/>
                </a:lnTo>
                <a:lnTo>
                  <a:pt x="15926559" y="3141603"/>
                </a:lnTo>
                <a:lnTo>
                  <a:pt x="0" y="3141603"/>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 name="Google Shape;110;p3"/>
          <p:cNvSpPr txBox="1"/>
          <p:nvPr/>
        </p:nvSpPr>
        <p:spPr>
          <a:xfrm>
            <a:off x="1399234" y="1209675"/>
            <a:ext cx="11845324" cy="12366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313"/>
              <a:buFont typeface="Arial"/>
              <a:buNone/>
            </a:pPr>
            <a:r>
              <a:rPr b="1" i="0" lang="es-MX" sz="9313" u="none" cap="none" strike="noStrike">
                <a:solidFill>
                  <a:srgbClr val="CCFFAB"/>
                </a:solidFill>
                <a:latin typeface="Alexandria"/>
                <a:ea typeface="Alexandria"/>
                <a:cs typeface="Alexandria"/>
                <a:sym typeface="Alexandria"/>
              </a:rPr>
              <a:t>INTRODUCCIÓN</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1052075" y="4313225"/>
            <a:ext cx="14678400" cy="4149900"/>
          </a:xfrm>
          <a:prstGeom prst="roundRect">
            <a:avLst>
              <a:gd fmla="val 16667" name="adj"/>
            </a:avLst>
          </a:prstGeom>
          <a:solidFill>
            <a:srgbClr val="53290A"/>
          </a:solidFill>
          <a:ln cap="flat" cmpd="sng" w="9525">
            <a:solidFill>
              <a:srgbClr val="AC784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12" name="Google Shape;112;p3"/>
          <p:cNvSpPr txBox="1"/>
          <p:nvPr/>
        </p:nvSpPr>
        <p:spPr>
          <a:xfrm>
            <a:off x="1550515" y="5463817"/>
            <a:ext cx="3512961" cy="2120773"/>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199"/>
              <a:buFont typeface="Arial"/>
              <a:buNone/>
            </a:pPr>
            <a:r>
              <a:rPr b="0" i="0" lang="es-MX" sz="2199" u="none" cap="none" strike="noStrike">
                <a:solidFill>
                  <a:srgbClr val="FFFFFF"/>
                </a:solidFill>
                <a:latin typeface="Manjari"/>
                <a:ea typeface="Manjari"/>
                <a:cs typeface="Manjari"/>
                <a:sym typeface="Manjari"/>
              </a:rPr>
              <a:t>Evolución desde la ingeniería manual de conectores hacia la industrialización y automatización de estructuras prefabricadas.</a:t>
            </a:r>
            <a:endParaRPr b="0" i="0" sz="1400" u="none" cap="none" strike="noStrike">
              <a:solidFill>
                <a:srgbClr val="000000"/>
              </a:solidFill>
              <a:latin typeface="Arial"/>
              <a:ea typeface="Arial"/>
              <a:cs typeface="Arial"/>
              <a:sym typeface="Arial"/>
            </a:endParaRPr>
          </a:p>
        </p:txBody>
      </p:sp>
      <p:sp>
        <p:nvSpPr>
          <p:cNvPr id="113" name="Google Shape;113;p3"/>
          <p:cNvSpPr txBox="1"/>
          <p:nvPr/>
        </p:nvSpPr>
        <p:spPr>
          <a:xfrm>
            <a:off x="6435887" y="5504012"/>
            <a:ext cx="3694499" cy="1768348"/>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199"/>
              <a:buFont typeface="Arial"/>
              <a:buNone/>
            </a:pPr>
            <a:r>
              <a:rPr b="0" i="0" lang="es-MX" sz="2199" u="none" cap="none" strike="noStrike">
                <a:solidFill>
                  <a:srgbClr val="FFFFFF"/>
                </a:solidFill>
                <a:latin typeface="Manjari"/>
                <a:ea typeface="Manjari"/>
                <a:cs typeface="Manjari"/>
                <a:sym typeface="Manjari"/>
              </a:rPr>
              <a:t>Carencia de una presencia digital robusta y de un canal formalizado para la gestión de cotizaciones y visualización de certificados.</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11324942" y="5504012"/>
            <a:ext cx="4405500" cy="2071800"/>
          </a:xfrm>
          <a:prstGeom prst="rect">
            <a:avLst/>
          </a:prstGeom>
          <a:noFill/>
          <a:ln>
            <a:noFill/>
          </a:ln>
        </p:spPr>
        <p:txBody>
          <a:bodyPr anchorCtr="0" anchor="t" bIns="0" lIns="0" spcFirstLastPara="1" rIns="0" wrap="square" tIns="0">
            <a:spAutoFit/>
          </a:bodyPr>
          <a:lstStyle/>
          <a:p>
            <a:pPr indent="0" lvl="0" marL="0" marR="0" rtl="0" algn="l">
              <a:lnSpc>
                <a:spcPct val="128011"/>
              </a:lnSpc>
              <a:spcBef>
                <a:spcPts val="0"/>
              </a:spcBef>
              <a:spcAft>
                <a:spcPts val="0"/>
              </a:spcAft>
              <a:buClr>
                <a:srgbClr val="000000"/>
              </a:buClr>
              <a:buSzPts val="2199"/>
              <a:buFont typeface="Arial"/>
              <a:buNone/>
            </a:pPr>
            <a:r>
              <a:rPr b="0" i="0" lang="es-MX" sz="2199" u="none" cap="none" strike="noStrike">
                <a:solidFill>
                  <a:srgbClr val="FFFFFF"/>
                </a:solidFill>
                <a:latin typeface="Manjari"/>
                <a:ea typeface="Manjari"/>
                <a:cs typeface="Manjari"/>
                <a:sym typeface="Manjari"/>
              </a:rPr>
              <a:t>Desarrollo de una plataforma web que funciona como vista técnica pública y un panel de gestión interno seguro para el control administrativo.</a:t>
            </a:r>
            <a:endParaRPr b="0" i="0" sz="1400" u="none" cap="none" strike="noStrike">
              <a:solidFill>
                <a:srgbClr val="000000"/>
              </a:solidFill>
              <a:latin typeface="Arial"/>
              <a:ea typeface="Arial"/>
              <a:cs typeface="Arial"/>
              <a:sym typeface="Arial"/>
            </a:endParaRPr>
          </a:p>
        </p:txBody>
      </p:sp>
      <p:sp>
        <p:nvSpPr>
          <p:cNvPr id="115" name="Google Shape;115;p3"/>
          <p:cNvSpPr txBox="1"/>
          <p:nvPr/>
        </p:nvSpPr>
        <p:spPr>
          <a:xfrm>
            <a:off x="1558930" y="4750595"/>
            <a:ext cx="2279216" cy="562737"/>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800"/>
              <a:buFont typeface="Arial"/>
              <a:buNone/>
            </a:pPr>
            <a:r>
              <a:rPr b="1" i="0" lang="es-MX" sz="3800" u="none" cap="none" strike="noStrike">
                <a:solidFill>
                  <a:srgbClr val="FFFFFF"/>
                </a:solidFill>
                <a:latin typeface="Manjari"/>
                <a:ea typeface="Manjari"/>
                <a:cs typeface="Manjari"/>
                <a:sym typeface="Manjari"/>
              </a:rPr>
              <a:t>Historia</a:t>
            </a:r>
            <a:endParaRPr b="0" i="0" sz="1400" u="none" cap="none" strike="noStrike">
              <a:solidFill>
                <a:srgbClr val="000000"/>
              </a:solidFill>
              <a:latin typeface="Arial"/>
              <a:ea typeface="Arial"/>
              <a:cs typeface="Arial"/>
              <a:sym typeface="Arial"/>
            </a:endParaRPr>
          </a:p>
        </p:txBody>
      </p:sp>
      <p:sp>
        <p:nvSpPr>
          <p:cNvPr id="116" name="Google Shape;116;p3"/>
          <p:cNvSpPr txBox="1"/>
          <p:nvPr/>
        </p:nvSpPr>
        <p:spPr>
          <a:xfrm>
            <a:off x="6435887" y="4729631"/>
            <a:ext cx="2082208" cy="562737"/>
          </a:xfrm>
          <a:prstGeom prst="rect">
            <a:avLst/>
          </a:prstGeom>
          <a:noFill/>
          <a:ln>
            <a:noFill/>
          </a:ln>
        </p:spPr>
        <p:txBody>
          <a:bodyPr anchorCtr="0" anchor="t" bIns="0" lIns="0" spcFirstLastPara="1" rIns="0" wrap="square" tIns="0">
            <a:spAutoFit/>
          </a:bodyPr>
          <a:lstStyle/>
          <a:p>
            <a:pPr indent="0" lvl="0" marL="0" marR="0" rtl="0" algn="l">
              <a:lnSpc>
                <a:spcPct val="108002"/>
              </a:lnSpc>
              <a:spcBef>
                <a:spcPts val="0"/>
              </a:spcBef>
              <a:spcAft>
                <a:spcPts val="0"/>
              </a:spcAft>
              <a:buClr>
                <a:srgbClr val="000000"/>
              </a:buClr>
              <a:buSzPts val="3799"/>
              <a:buFont typeface="Arial"/>
              <a:buNone/>
            </a:pPr>
            <a:r>
              <a:rPr b="1" i="0" lang="es-MX" sz="3799" u="none" cap="none" strike="noStrike">
                <a:solidFill>
                  <a:srgbClr val="FFFFFF"/>
                </a:solidFill>
                <a:latin typeface="Manjari"/>
                <a:ea typeface="Manjari"/>
                <a:cs typeface="Manjari"/>
                <a:sym typeface="Manjari"/>
              </a:rPr>
              <a:t>Desafío</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11324942" y="4729631"/>
            <a:ext cx="3865355" cy="562737"/>
          </a:xfrm>
          <a:prstGeom prst="rect">
            <a:avLst/>
          </a:prstGeom>
          <a:noFill/>
          <a:ln>
            <a:noFill/>
          </a:ln>
        </p:spPr>
        <p:txBody>
          <a:bodyPr anchorCtr="0" anchor="t" bIns="0" lIns="0" spcFirstLastPara="1" rIns="0" wrap="square" tIns="0">
            <a:spAutoFit/>
          </a:bodyPr>
          <a:lstStyle/>
          <a:p>
            <a:pPr indent="0" lvl="0" marL="0" marR="0" rtl="0" algn="l">
              <a:lnSpc>
                <a:spcPct val="108002"/>
              </a:lnSpc>
              <a:spcBef>
                <a:spcPts val="0"/>
              </a:spcBef>
              <a:spcAft>
                <a:spcPts val="0"/>
              </a:spcAft>
              <a:buClr>
                <a:srgbClr val="000000"/>
              </a:buClr>
              <a:buSzPts val="3799"/>
              <a:buFont typeface="Arial"/>
              <a:buNone/>
            </a:pPr>
            <a:r>
              <a:rPr b="1" i="0" lang="es-MX" sz="3799" u="none" cap="none" strike="noStrike">
                <a:solidFill>
                  <a:srgbClr val="FFFFFF"/>
                </a:solidFill>
                <a:latin typeface="Manjari"/>
                <a:ea typeface="Manjari"/>
                <a:cs typeface="Manjari"/>
                <a:sym typeface="Manjari"/>
              </a:rPr>
              <a:t>Solución</a:t>
            </a:r>
            <a:endParaRPr b="0" i="0" sz="1400" u="none" cap="none" strike="noStrike">
              <a:solidFill>
                <a:srgbClr val="000000"/>
              </a:solidFill>
              <a:latin typeface="Arial"/>
              <a:ea typeface="Arial"/>
              <a:cs typeface="Arial"/>
              <a:sym typeface="Arial"/>
            </a:endParaRPr>
          </a:p>
        </p:txBody>
      </p:sp>
      <p:sp>
        <p:nvSpPr>
          <p:cNvPr id="118" name="Google Shape;118;p3"/>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3</a:t>
            </a:r>
            <a:endParaRPr b="0" i="0" sz="1400" u="none" cap="none" strike="noStrike">
              <a:solidFill>
                <a:srgbClr val="000000"/>
              </a:solidFill>
              <a:latin typeface="Arial"/>
              <a:ea typeface="Arial"/>
              <a:cs typeface="Arial"/>
              <a:sym typeface="Arial"/>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4"/>
          <p:cNvSpPr/>
          <p:nvPr/>
        </p:nvSpPr>
        <p:spPr>
          <a:xfrm>
            <a:off x="9820447" y="4890910"/>
            <a:ext cx="7815719" cy="1541694"/>
          </a:xfrm>
          <a:custGeom>
            <a:rect b="b" l="l" r="r" t="t"/>
            <a:pathLst>
              <a:path extrusionOk="0" h="1541694" w="7815719">
                <a:moveTo>
                  <a:pt x="0" y="0"/>
                </a:moveTo>
                <a:lnTo>
                  <a:pt x="7815719" y="0"/>
                </a:lnTo>
                <a:lnTo>
                  <a:pt x="7815719" y="1541694"/>
                </a:lnTo>
                <a:lnTo>
                  <a:pt x="0" y="1541694"/>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125" name="Google Shape;125;p4"/>
          <p:cNvGraphicFramePr/>
          <p:nvPr/>
        </p:nvGraphicFramePr>
        <p:xfrm>
          <a:off x="10203817" y="2495682"/>
          <a:ext cx="3000000" cy="3000000"/>
        </p:xfrm>
        <a:graphic>
          <a:graphicData uri="http://schemas.openxmlformats.org/drawingml/2006/table">
            <a:tbl>
              <a:tblPr>
                <a:noFill/>
                <a:tableStyleId>{82E3AA36-B336-4C85-A64B-B9FFD539F627}</a:tableStyleId>
              </a:tblPr>
              <a:tblGrid>
                <a:gridCol w="2744775"/>
                <a:gridCol w="2284100"/>
                <a:gridCol w="2966050"/>
              </a:tblGrid>
              <a:tr h="1335400">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Incremento</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Porcentaje%</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Porcentaje Acumulado%</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699"/>
                    </a:solidFill>
                  </a:tcPr>
                </a:tc>
              </a:tr>
              <a:tr h="935575">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1</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latin typeface="Arial"/>
                          <a:ea typeface="Arial"/>
                          <a:cs typeface="Arial"/>
                          <a:sym typeface="Arial"/>
                        </a:rPr>
                        <a:t>29.09</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E5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latin typeface="Arial"/>
                          <a:ea typeface="Arial"/>
                          <a:cs typeface="Arial"/>
                          <a:sym typeface="Arial"/>
                        </a:rPr>
                        <a:t>29.09</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E59"/>
                    </a:solidFill>
                  </a:tcPr>
                </a:tc>
              </a:tr>
              <a:tr h="920200">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2</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rPr>
                        <a:t>40</a:t>
                      </a:r>
                      <a:endParaRPr b="1"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E5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rPr>
                        <a:t>60.09</a:t>
                      </a:r>
                      <a:endParaRPr b="1"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9525">
                      <a:solidFill>
                        <a:srgbClr val="FFD699"/>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E59"/>
                    </a:solidFill>
                  </a:tcPr>
                </a:tc>
              </a:tr>
              <a:tr h="920200">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3</a:t>
                      </a:r>
                      <a:endParaRPr sz="1100" u="none" cap="none" strike="noStrike"/>
                    </a:p>
                  </a:txBody>
                  <a:tcPr marT="190500" marB="190500" marR="190500" marL="190500" anchor="ctr">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latin typeface="Arial"/>
                          <a:ea typeface="Arial"/>
                          <a:cs typeface="Arial"/>
                          <a:sym typeface="Arial"/>
                        </a:rPr>
                        <a:t>29.09</a:t>
                      </a:r>
                      <a:endParaRPr b="1" sz="1100" u="none" cap="none" strike="noStrike"/>
                    </a:p>
                  </a:txBody>
                  <a:tcPr marT="190500" marB="190500" marR="190500" marL="190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E5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b="1" lang="es-MX" sz="1999" u="none" cap="none" strike="noStrike">
                          <a:solidFill>
                            <a:srgbClr val="000000"/>
                          </a:solidFill>
                          <a:latin typeface="Arial"/>
                          <a:ea typeface="Arial"/>
                          <a:cs typeface="Arial"/>
                          <a:sym typeface="Arial"/>
                        </a:rPr>
                        <a:t>98.18</a:t>
                      </a:r>
                      <a:endParaRPr b="1" sz="1100" u="none" cap="none" strike="noStrike"/>
                    </a:p>
                  </a:txBody>
                  <a:tcPr marT="190500" marB="190500" marR="190500" marL="190500" anchor="ctr">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FFDE59"/>
                    </a:solidFill>
                  </a:tcPr>
                </a:tc>
              </a:tr>
              <a:tr h="927875">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4</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FFD699"/>
                      </a:solidFill>
                      <a:prstDash val="solid"/>
                      <a:round/>
                      <a:headEnd len="sm" w="sm" type="none"/>
                      <a:tailEnd len="sm" w="sm" type="none"/>
                    </a:lnB>
                    <a:solidFill>
                      <a:srgbClr val="FFD699"/>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1.82</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FFD699"/>
                      </a:solidFill>
                      <a:prstDash val="solid"/>
                      <a:round/>
                      <a:headEnd len="sm" w="sm" type="none"/>
                      <a:tailEnd len="sm" w="sm" type="none"/>
                    </a:lnB>
                    <a:solidFill>
                      <a:srgbClr val="FFF4E3"/>
                    </a:solidFill>
                  </a:tcPr>
                </a:tc>
                <a:tc>
                  <a:txBody>
                    <a:bodyPr/>
                    <a:lstStyle/>
                    <a:p>
                      <a:pPr indent="0" lvl="0" marL="0" marR="0" rtl="0" algn="ctr">
                        <a:lnSpc>
                          <a:spcPct val="140020"/>
                        </a:lnSpc>
                        <a:spcBef>
                          <a:spcPts val="0"/>
                        </a:spcBef>
                        <a:spcAft>
                          <a:spcPts val="0"/>
                        </a:spcAft>
                        <a:buClr>
                          <a:srgbClr val="000000"/>
                        </a:buClr>
                        <a:buSzPts val="1999"/>
                        <a:buFont typeface="Arial"/>
                        <a:buNone/>
                      </a:pPr>
                      <a:r>
                        <a:rPr lang="es-MX" sz="1999" u="none" cap="none" strike="noStrike">
                          <a:solidFill>
                            <a:srgbClr val="000000"/>
                          </a:solidFill>
                          <a:latin typeface="Arial"/>
                          <a:ea typeface="Arial"/>
                          <a:cs typeface="Arial"/>
                          <a:sym typeface="Arial"/>
                        </a:rPr>
                        <a:t>100</a:t>
                      </a:r>
                      <a:endParaRPr sz="1100" u="none" cap="none" strike="noStrike"/>
                    </a:p>
                  </a:txBody>
                  <a:tcPr marT="190500" marB="190500" marR="190500" marL="190500" anchor="ctr">
                    <a:lnL cap="flat" cmpd="sng" w="9525">
                      <a:solidFill>
                        <a:srgbClr val="FFD699"/>
                      </a:solidFill>
                      <a:prstDash val="solid"/>
                      <a:round/>
                      <a:headEnd len="sm" w="sm" type="none"/>
                      <a:tailEnd len="sm" w="sm" type="none"/>
                    </a:lnL>
                    <a:lnR cap="flat" cmpd="sng" w="9525">
                      <a:solidFill>
                        <a:srgbClr val="FFD699"/>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FFD699"/>
                      </a:solidFill>
                      <a:prstDash val="solid"/>
                      <a:round/>
                      <a:headEnd len="sm" w="sm" type="none"/>
                      <a:tailEnd len="sm" w="sm" type="none"/>
                    </a:lnB>
                    <a:solidFill>
                      <a:srgbClr val="FFF4E3"/>
                    </a:solidFill>
                  </a:tcPr>
                </a:tc>
              </a:tr>
            </a:tbl>
          </a:graphicData>
        </a:graphic>
      </p:graphicFrame>
      <p:sp>
        <p:nvSpPr>
          <p:cNvPr id="126" name="Google Shape;126;p4"/>
          <p:cNvSpPr/>
          <p:nvPr/>
        </p:nvSpPr>
        <p:spPr>
          <a:xfrm>
            <a:off x="16971153" y="4372228"/>
            <a:ext cx="518682" cy="518682"/>
          </a:xfrm>
          <a:custGeom>
            <a:rect b="b" l="l" r="r" t="t"/>
            <a:pathLst>
              <a:path extrusionOk="0" h="518682" w="518682">
                <a:moveTo>
                  <a:pt x="0" y="0"/>
                </a:moveTo>
                <a:lnTo>
                  <a:pt x="518682" y="0"/>
                </a:lnTo>
                <a:lnTo>
                  <a:pt x="518682" y="518682"/>
                </a:lnTo>
                <a:lnTo>
                  <a:pt x="0" y="5186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4"/>
          <p:cNvSpPr txBox="1"/>
          <p:nvPr/>
        </p:nvSpPr>
        <p:spPr>
          <a:xfrm>
            <a:off x="263236" y="528051"/>
            <a:ext cx="9641851" cy="9509911"/>
          </a:xfrm>
          <a:prstGeom prst="rect">
            <a:avLst/>
          </a:prstGeom>
          <a:noFill/>
          <a:ln>
            <a:noFill/>
          </a:ln>
        </p:spPr>
        <p:txBody>
          <a:bodyPr anchorCtr="0" anchor="t" bIns="0" lIns="0" spcFirstLastPara="1" rIns="0" wrap="square" tIns="0">
            <a:spAutoFit/>
          </a:bodyPr>
          <a:lstStyle/>
          <a:p>
            <a:pPr indent="0" lvl="0" marL="0" marR="0" rtl="0" algn="ctr">
              <a:lnSpc>
                <a:spcPct val="205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2051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39988"/>
              </a:lnSpc>
              <a:spcBef>
                <a:spcPts val="0"/>
              </a:spcBef>
              <a:spcAft>
                <a:spcPts val="0"/>
              </a:spcAft>
              <a:buClr>
                <a:srgbClr val="000000"/>
              </a:buClr>
              <a:buSzPts val="3531"/>
              <a:buFont typeface="Arial"/>
              <a:buNone/>
            </a:pPr>
            <a:r>
              <a:rPr b="0" i="0" lang="es-MX" sz="3531" u="none" cap="none" strike="noStrike">
                <a:solidFill>
                  <a:srgbClr val="FFFFFF"/>
                </a:solidFill>
                <a:latin typeface="Alexandria"/>
                <a:ea typeface="Alexandria"/>
                <a:cs typeface="Alexandria"/>
                <a:sym typeface="Alexandria"/>
              </a:rPr>
              <a:t>Sistema web para apoyar la gestión pública y administrativa de la empresa.</a:t>
            </a:r>
            <a:endParaRPr b="0" i="0" sz="3531" u="none" cap="none" strike="noStrike">
              <a:solidFill>
                <a:srgbClr val="FFFFFF"/>
              </a:solidFill>
              <a:latin typeface="Alexandria"/>
              <a:ea typeface="Alexandria"/>
              <a:cs typeface="Alexandria"/>
              <a:sym typeface="Alexandria"/>
            </a:endParaRPr>
          </a:p>
          <a:p>
            <a:pPr indent="0" lvl="0" marL="0" marR="0" rtl="0" algn="l">
              <a:lnSpc>
                <a:spcPct val="139988"/>
              </a:lnSpc>
              <a:spcBef>
                <a:spcPts val="0"/>
              </a:spcBef>
              <a:spcAft>
                <a:spcPts val="0"/>
              </a:spcAft>
              <a:buClr>
                <a:srgbClr val="000000"/>
              </a:buClr>
              <a:buSzPts val="3531"/>
              <a:buFont typeface="Arial"/>
              <a:buNone/>
            </a:pPr>
            <a:r>
              <a:rPr b="0" i="0" lang="es-MX" sz="3531" u="none" cap="none" strike="noStrike">
                <a:solidFill>
                  <a:srgbClr val="E6CA69"/>
                </a:solidFill>
                <a:latin typeface="Alexandria"/>
                <a:ea typeface="Alexandria"/>
                <a:cs typeface="Alexandria"/>
                <a:sym typeface="Alexandria"/>
              </a:rPr>
              <a:t>Qué se presenta en el incremento 3?</a:t>
            </a:r>
            <a:endParaRPr b="0" i="0" sz="1400" u="none" cap="none" strike="noStrike">
              <a:solidFill>
                <a:srgbClr val="000000"/>
              </a:solidFill>
              <a:latin typeface="Arial"/>
              <a:ea typeface="Arial"/>
              <a:cs typeface="Arial"/>
              <a:sym typeface="Arial"/>
            </a:endParaRPr>
          </a:p>
          <a:p>
            <a:pPr indent="0" lvl="0" marL="0" marR="0" rtl="0" algn="l">
              <a:lnSpc>
                <a:spcPct val="122486"/>
              </a:lnSpc>
              <a:spcBef>
                <a:spcPts val="0"/>
              </a:spcBef>
              <a:spcAft>
                <a:spcPts val="0"/>
              </a:spcAft>
              <a:buClr>
                <a:srgbClr val="000000"/>
              </a:buClr>
              <a:buSzPts val="3531"/>
              <a:buFont typeface="Arial"/>
              <a:buNone/>
            </a:pPr>
            <a:r>
              <a:t/>
            </a:r>
            <a:endParaRPr b="0" i="0" sz="3531" u="none" cap="none" strike="noStrike">
              <a:solidFill>
                <a:srgbClr val="E6CA69"/>
              </a:solidFill>
              <a:latin typeface="Alexandria"/>
              <a:ea typeface="Alexandria"/>
              <a:cs typeface="Alexandria"/>
              <a:sym typeface="Alexandria"/>
            </a:endParaRPr>
          </a:p>
          <a:p>
            <a:pPr indent="-571500" lvl="0" marL="571500" marR="0" rtl="0" algn="l">
              <a:lnSpc>
                <a:spcPct val="140007"/>
              </a:lnSpc>
              <a:spcBef>
                <a:spcPts val="0"/>
              </a:spcBef>
              <a:spcAft>
                <a:spcPts val="0"/>
              </a:spcAft>
              <a:buClr>
                <a:srgbClr val="F2F2F2"/>
              </a:buClr>
              <a:buSzPts val="2637"/>
              <a:buFont typeface="Arial"/>
              <a:buAutoNum type="romanUcPeriod"/>
            </a:pPr>
            <a:r>
              <a:rPr b="0" i="0" lang="es-MX" sz="2800" u="none" cap="none" strike="noStrike">
                <a:solidFill>
                  <a:srgbClr val="FEFEFE"/>
                </a:solidFill>
                <a:latin typeface="Alexandria"/>
                <a:ea typeface="Alexandria"/>
                <a:cs typeface="Alexandria"/>
                <a:sym typeface="Alexandria"/>
              </a:rPr>
              <a:t>Mapa interactivo de proyectos </a:t>
            </a:r>
            <a:br>
              <a:rPr b="0" i="0" lang="es-MX" sz="2800" u="none" cap="none" strike="noStrike">
                <a:solidFill>
                  <a:srgbClr val="FEFEFE"/>
                </a:solidFill>
                <a:latin typeface="Alexandria"/>
                <a:ea typeface="Alexandria"/>
                <a:cs typeface="Alexandria"/>
                <a:sym typeface="Alexandria"/>
              </a:rPr>
            </a:br>
            <a:r>
              <a:rPr b="0" i="0" lang="es-MX" sz="2800" u="none" cap="none" strike="noStrike">
                <a:solidFill>
                  <a:srgbClr val="FEFEFE"/>
                </a:solidFill>
                <a:latin typeface="Alexandria"/>
                <a:ea typeface="Alexandria"/>
                <a:cs typeface="Alexandria"/>
                <a:sym typeface="Alexandria"/>
              </a:rPr>
              <a:t>Visualización de secciones de la página de inicio:            Colaboradores, FAQ, Opiniones, Fases Industriales y Productos </a:t>
            </a:r>
            <a:endParaRPr/>
          </a:p>
          <a:p>
            <a:pPr indent="-571500" lvl="0" marL="571500" marR="0" rtl="0" algn="l">
              <a:lnSpc>
                <a:spcPct val="140007"/>
              </a:lnSpc>
              <a:spcBef>
                <a:spcPts val="0"/>
              </a:spcBef>
              <a:spcAft>
                <a:spcPts val="0"/>
              </a:spcAft>
              <a:buClr>
                <a:srgbClr val="F2F2F2"/>
              </a:buClr>
              <a:buSzPts val="2637"/>
              <a:buFont typeface="Arial"/>
              <a:buAutoNum type="romanUcPeriod"/>
            </a:pPr>
            <a:r>
              <a:rPr b="0" i="0" lang="es-MX" sz="2800" u="none" cap="none" strike="noStrike">
                <a:solidFill>
                  <a:srgbClr val="FEFEFE"/>
                </a:solidFill>
                <a:latin typeface="Alexandria"/>
                <a:ea typeface="Alexandria"/>
                <a:cs typeface="Alexandria"/>
                <a:sym typeface="Alexandria"/>
              </a:rPr>
              <a:t>Ubicación de la Empresa y Confirmación de Consultas por Correo</a:t>
            </a:r>
            <a:br>
              <a:rPr b="0" i="0" lang="es-MX" sz="2800" u="none" cap="none" strike="noStrike">
                <a:solidFill>
                  <a:srgbClr val="FEFEFE"/>
                </a:solidFill>
                <a:latin typeface="Alexandria"/>
                <a:ea typeface="Alexandria"/>
                <a:cs typeface="Alexandria"/>
                <a:sym typeface="Alexandria"/>
              </a:rPr>
            </a:br>
            <a:r>
              <a:rPr b="0" i="0" lang="es-MX" sz="2800" u="none" cap="none" strike="noStrike">
                <a:solidFill>
                  <a:srgbClr val="FEFEFE"/>
                </a:solidFill>
                <a:latin typeface="Alexandria"/>
                <a:ea typeface="Alexandria"/>
                <a:cs typeface="Alexandria"/>
                <a:sym typeface="Alexandria"/>
              </a:rPr>
              <a:t>Gestión avanzada de consultas: orden, filtro, prioridad y responsable</a:t>
            </a:r>
            <a:br>
              <a:rPr b="0" i="0" lang="es-MX" sz="2800" u="none" cap="none" strike="noStrike">
                <a:solidFill>
                  <a:srgbClr val="FEFEFE"/>
                </a:solidFill>
                <a:latin typeface="Alexandria"/>
                <a:ea typeface="Alexandria"/>
                <a:cs typeface="Alexandria"/>
                <a:sym typeface="Alexandria"/>
              </a:rPr>
            </a:br>
            <a:r>
              <a:rPr b="0" i="0" lang="es-MX" sz="2800" u="none" cap="none" strike="noStrike">
                <a:solidFill>
                  <a:srgbClr val="FEFEFE"/>
                </a:solidFill>
                <a:latin typeface="Alexandria"/>
                <a:ea typeface="Alexandria"/>
                <a:cs typeface="Alexandria"/>
                <a:sym typeface="Alexandria"/>
              </a:rPr>
              <a:t>Gestión de cuentas de Administrador </a:t>
            </a:r>
            <a:endParaRPr b="0" i="0" sz="2637" u="none" cap="none" strike="noStrike">
              <a:solidFill>
                <a:srgbClr val="FFFFFF"/>
              </a:solidFill>
              <a:latin typeface="Alexandria"/>
              <a:ea typeface="Alexandria"/>
              <a:cs typeface="Alexandria"/>
              <a:sym typeface="Alexandria"/>
            </a:endParaRPr>
          </a:p>
        </p:txBody>
      </p:sp>
      <p:sp>
        <p:nvSpPr>
          <p:cNvPr id="128" name="Google Shape;128;p4"/>
          <p:cNvSpPr txBox="1"/>
          <p:nvPr/>
        </p:nvSpPr>
        <p:spPr>
          <a:xfrm>
            <a:off x="1032155" y="112050"/>
            <a:ext cx="16223700" cy="123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0"/>
              <a:buFont typeface="Arial"/>
              <a:buNone/>
            </a:pPr>
            <a:r>
              <a:rPr b="1" i="0" lang="es-MX" sz="8000" u="none" cap="none" strike="noStrike">
                <a:solidFill>
                  <a:srgbClr val="E6CA69"/>
                </a:solidFill>
                <a:latin typeface="Alexandria"/>
                <a:ea typeface="Alexandria"/>
                <a:cs typeface="Alexandria"/>
                <a:sym typeface="Alexandria"/>
              </a:rPr>
              <a:t>PROYECTO WEB INGECON</a:t>
            </a:r>
            <a:endParaRPr b="0" i="0" sz="1400" u="none" cap="none" strike="noStrike">
              <a:solidFill>
                <a:srgbClr val="000000"/>
              </a:solidFill>
              <a:latin typeface="Arial"/>
              <a:ea typeface="Arial"/>
              <a:cs typeface="Arial"/>
              <a:sym typeface="Arial"/>
            </a:endParaRPr>
          </a:p>
        </p:txBody>
      </p:sp>
      <p:sp>
        <p:nvSpPr>
          <p:cNvPr id="129" name="Google Shape;129;p4"/>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4</a:t>
            </a:r>
            <a:endParaRPr b="0" i="0" sz="1400" u="none" cap="none" strike="noStrike">
              <a:solidFill>
                <a:srgbClr val="000000"/>
              </a:solidFill>
              <a:latin typeface="Arial"/>
              <a:ea typeface="Arial"/>
              <a:cs typeface="Arial"/>
              <a:sym typeface="Arial"/>
            </a:endParaRPr>
          </a:p>
        </p:txBody>
      </p:sp>
      <p:sp>
        <p:nvSpPr>
          <p:cNvPr id="130" name="Google Shape;130;p4"/>
          <p:cNvSpPr/>
          <p:nvPr/>
        </p:nvSpPr>
        <p:spPr>
          <a:xfrm>
            <a:off x="13992033" y="4372228"/>
            <a:ext cx="518682" cy="518682"/>
          </a:xfrm>
          <a:custGeom>
            <a:rect b="b" l="l" r="r" t="t"/>
            <a:pathLst>
              <a:path extrusionOk="0" h="518682" w="518682">
                <a:moveTo>
                  <a:pt x="0" y="0"/>
                </a:moveTo>
                <a:lnTo>
                  <a:pt x="518682" y="0"/>
                </a:lnTo>
                <a:lnTo>
                  <a:pt x="518682" y="518682"/>
                </a:lnTo>
                <a:lnTo>
                  <a:pt x="0" y="518682"/>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descr="Marca de verificación con relleno sólido" id="131" name="Google Shape;131;p4"/>
          <p:cNvSpPr/>
          <p:nvPr/>
        </p:nvSpPr>
        <p:spPr>
          <a:xfrm>
            <a:off x="17327044" y="5661757"/>
            <a:ext cx="914400" cy="914400"/>
          </a:xfrm>
          <a:prstGeom prst="rect">
            <a:avLst/>
          </a:prstGeom>
          <a:noFill/>
          <a:ln>
            <a:noFill/>
          </a:ln>
        </p:spPr>
      </p:sp>
    </p:spTree>
  </p:cSld>
  <p:clrMapOvr>
    <a:masterClrMapping/>
  </p:clrMapOvr>
  <p:transition spd="slow">
    <p:wipe dir="l"/>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 name="Google Shape;137;p5"/>
          <p:cNvSpPr txBox="1"/>
          <p:nvPr/>
        </p:nvSpPr>
        <p:spPr>
          <a:xfrm>
            <a:off x="1028700" y="576499"/>
            <a:ext cx="17093100" cy="101970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4733"/>
              <a:buFont typeface="Arial"/>
              <a:buNone/>
            </a:pPr>
            <a:r>
              <a:rPr b="1" i="0" lang="es-MX" sz="4733" u="none" cap="none" strike="noStrike">
                <a:solidFill>
                  <a:srgbClr val="FFF7AD"/>
                </a:solidFill>
                <a:latin typeface="Arial"/>
                <a:ea typeface="Arial"/>
                <a:cs typeface="Arial"/>
                <a:sym typeface="Arial"/>
              </a:rPr>
              <a:t>Requerimientos funcionales: Geolocalización de Proyectos</a:t>
            </a:r>
            <a:endParaRPr b="0" i="0" sz="1400" u="none" cap="none" strike="noStrike">
              <a:solidFill>
                <a:srgbClr val="000000"/>
              </a:solidFill>
              <a:latin typeface="Arial"/>
              <a:ea typeface="Arial"/>
              <a:cs typeface="Arial"/>
              <a:sym typeface="Arial"/>
            </a:endParaRPr>
          </a:p>
        </p:txBody>
      </p:sp>
      <p:sp>
        <p:nvSpPr>
          <p:cNvPr id="138" name="Google Shape;138;p5"/>
          <p:cNvSpPr txBox="1"/>
          <p:nvPr/>
        </p:nvSpPr>
        <p:spPr>
          <a:xfrm>
            <a:off x="1028700" y="2222925"/>
            <a:ext cx="15595500" cy="738407"/>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399"/>
              <a:buFont typeface="Arial"/>
              <a:buNone/>
            </a:pPr>
            <a:r>
              <a:rPr b="0" i="0" lang="es-MX" sz="2399" u="none" cap="none" strike="noStrike">
                <a:solidFill>
                  <a:srgbClr val="E6CA69"/>
                </a:solidFill>
                <a:latin typeface="Alexandria"/>
                <a:ea typeface="Alexandria"/>
                <a:cs typeface="Alexandria"/>
                <a:sym typeface="Alexandria"/>
              </a:rPr>
              <a:t>RF22: </a:t>
            </a:r>
            <a:r>
              <a:rPr b="0" i="0" lang="es-MX" sz="2399" u="none" cap="none" strike="noStrike">
                <a:solidFill>
                  <a:schemeClr val="lt1"/>
                </a:solidFill>
                <a:latin typeface="Alexandria"/>
                <a:ea typeface="Alexandria"/>
                <a:cs typeface="Alexandria"/>
                <a:sym typeface="Alexandria"/>
              </a:rPr>
              <a:t>El sistema debe permitir al Visitante explorar la ubicación geográfica de los proyectos para visualizarlos en un Mapa Interactivo, Después de ejecutar una acción de filtrado de proyectos.</a:t>
            </a:r>
            <a:endParaRPr/>
          </a:p>
        </p:txBody>
      </p:sp>
      <p:sp>
        <p:nvSpPr>
          <p:cNvPr id="139" name="Google Shape;139;p5"/>
          <p:cNvSpPr txBox="1"/>
          <p:nvPr/>
        </p:nvSpPr>
        <p:spPr>
          <a:xfrm>
            <a:off x="1028700" y="3093350"/>
            <a:ext cx="14488391" cy="1551707"/>
          </a:xfrm>
          <a:prstGeom prst="rect">
            <a:avLst/>
          </a:prstGeom>
          <a:noFill/>
          <a:ln>
            <a:noFill/>
          </a:ln>
        </p:spPr>
        <p:txBody>
          <a:bodyPr anchorCtr="0" anchor="t" bIns="0" lIns="0" spcFirstLastPara="1" rIns="0" wrap="square" tIns="0">
            <a:spAutoFit/>
          </a:bodyPr>
          <a:lstStyle/>
          <a:p>
            <a:pPr indent="0" lvl="0" marL="0" marR="0" rtl="0" algn="l">
              <a:lnSpc>
                <a:spcPct val="186611"/>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40016"/>
              </a:lnSpc>
              <a:spcBef>
                <a:spcPts val="0"/>
              </a:spcBef>
              <a:spcAft>
                <a:spcPts val="0"/>
              </a:spcAft>
              <a:buClr>
                <a:srgbClr val="000000"/>
              </a:buClr>
              <a:buSzPts val="2399"/>
              <a:buFont typeface="Arial"/>
              <a:buNone/>
            </a:pPr>
            <a:r>
              <a:rPr b="0" i="0" lang="es-MX" sz="2399" u="none" cap="none" strike="noStrike">
                <a:solidFill>
                  <a:srgbClr val="FEFEFE"/>
                </a:solidFill>
                <a:latin typeface="Alexandria"/>
                <a:ea typeface="Alexandria"/>
                <a:cs typeface="Alexandria"/>
                <a:sym typeface="Alexandria"/>
              </a:rPr>
              <a:t>Esta funcionalidad refuerza la transparencia de la empresa, facilita la evaluación de alcance territorial y mejora la experiencia del usuario al explorar el portafolio de proyectos.</a:t>
            </a:r>
            <a:endParaRPr b="0" i="0" sz="1400" u="none" cap="none" strike="noStrike">
              <a:solidFill>
                <a:srgbClr val="000000"/>
              </a:solidFill>
              <a:latin typeface="Arial"/>
              <a:ea typeface="Arial"/>
              <a:cs typeface="Arial"/>
              <a:sym typeface="Arial"/>
            </a:endParaRPr>
          </a:p>
        </p:txBody>
      </p:sp>
      <p:sp>
        <p:nvSpPr>
          <p:cNvPr id="140" name="Google Shape;140;p5"/>
          <p:cNvSpPr txBox="1"/>
          <p:nvPr/>
        </p:nvSpPr>
        <p:spPr>
          <a:xfrm>
            <a:off x="12747525" y="9264104"/>
            <a:ext cx="9144000" cy="702821"/>
          </a:xfrm>
          <a:prstGeom prst="rect">
            <a:avLst/>
          </a:prstGeom>
          <a:noFill/>
          <a:ln>
            <a:noFill/>
          </a:ln>
        </p:spPr>
        <p:txBody>
          <a:bodyPr anchorCtr="0" anchor="t" bIns="45700" lIns="91425" spcFirstLastPara="1" rIns="91425" wrap="square" tIns="45700">
            <a:spAutoFit/>
          </a:bodyPr>
          <a:lstStyle/>
          <a:p>
            <a:pPr indent="0" lvl="0" marL="0" marR="0" rtl="0" algn="ctr">
              <a:lnSpc>
                <a:spcPct val="140013"/>
              </a:lnSpc>
              <a:spcBef>
                <a:spcPts val="0"/>
              </a:spcBef>
              <a:spcAft>
                <a:spcPts val="0"/>
              </a:spcAft>
              <a:buClr>
                <a:srgbClr val="000000"/>
              </a:buClr>
              <a:buSzPts val="2999"/>
              <a:buFont typeface="Arial"/>
              <a:buNone/>
            </a:pPr>
            <a:r>
              <a:rPr b="0" i="0" lang="es-MX" sz="3200" u="none" cap="none" strike="noStrike">
                <a:solidFill>
                  <a:srgbClr val="FFFFFF"/>
                </a:solidFill>
                <a:latin typeface="Arial"/>
                <a:ea typeface="Arial"/>
                <a:cs typeface="Arial"/>
                <a:sym typeface="Arial"/>
              </a:rPr>
              <a:t>5</a:t>
            </a:r>
            <a:endParaRPr b="0" i="0" sz="1400" u="none" cap="none" strike="noStrike">
              <a:solidFill>
                <a:srgbClr val="000000"/>
              </a:solidFill>
              <a:latin typeface="Arial"/>
              <a:ea typeface="Arial"/>
              <a:cs typeface="Arial"/>
              <a:sym typeface="Arial"/>
            </a:endParaRPr>
          </a:p>
        </p:txBody>
      </p:sp>
      <p:pic>
        <p:nvPicPr>
          <p:cNvPr id="141" name="Google Shape;141;p5"/>
          <p:cNvPicPr preferRelativeResize="0"/>
          <p:nvPr/>
        </p:nvPicPr>
        <p:blipFill rotWithShape="1">
          <a:blip r:embed="rId4">
            <a:alphaModFix/>
          </a:blip>
          <a:srcRect b="0" l="0" r="0" t="0"/>
          <a:stretch/>
        </p:blipFill>
        <p:spPr>
          <a:xfrm>
            <a:off x="693335" y="5001491"/>
            <a:ext cx="7866852" cy="4965434"/>
          </a:xfrm>
          <a:prstGeom prst="rect">
            <a:avLst/>
          </a:prstGeom>
          <a:noFill/>
          <a:ln>
            <a:noFill/>
          </a:ln>
        </p:spPr>
      </p:pic>
      <p:pic>
        <p:nvPicPr>
          <p:cNvPr id="142" name="Google Shape;142;p5"/>
          <p:cNvPicPr preferRelativeResize="0"/>
          <p:nvPr/>
        </p:nvPicPr>
        <p:blipFill rotWithShape="1">
          <a:blip r:embed="rId5">
            <a:alphaModFix/>
          </a:blip>
          <a:srcRect b="0" l="0" r="0" t="0"/>
          <a:stretch/>
        </p:blipFill>
        <p:spPr>
          <a:xfrm>
            <a:off x="9144000" y="5143500"/>
            <a:ext cx="8262719" cy="3938060"/>
          </a:xfrm>
          <a:prstGeom prst="rect">
            <a:avLst/>
          </a:prstGeom>
          <a:noFill/>
          <a:ln>
            <a:noFill/>
          </a:ln>
        </p:spPr>
      </p:pic>
    </p:spTree>
  </p:cSld>
  <p:clrMapOvr>
    <a:masterClrMapping/>
  </p:clrMapOvr>
  <p:transition spd="slow">
    <p:wipe dir="l"/>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p:nvPr/>
        </p:nvSpPr>
        <p:spPr>
          <a:xfrm rot="54000">
            <a:off x="-79663" y="-142994"/>
            <a:ext cx="18447325" cy="10572986"/>
          </a:xfrm>
          <a:custGeom>
            <a:rect b="b" l="l" r="r" t="t"/>
            <a:pathLst>
              <a:path extrusionOk="0" h="10572986" w="18447325">
                <a:moveTo>
                  <a:pt x="0" y="287255"/>
                </a:moveTo>
                <a:lnTo>
                  <a:pt x="18285744" y="0"/>
                </a:lnTo>
                <a:lnTo>
                  <a:pt x="18447326" y="10285731"/>
                </a:lnTo>
                <a:lnTo>
                  <a:pt x="161582" y="10572986"/>
                </a:lnTo>
                <a:lnTo>
                  <a:pt x="0" y="287255"/>
                </a:lnTo>
                <a:close/>
              </a:path>
            </a:pathLst>
          </a:custGeom>
          <a:blipFill rotWithShape="1">
            <a:blip r:embed="rId3">
              <a:alphaModFix/>
            </a:blip>
            <a:stretch>
              <a:fillRect b="-30507" l="-404" r="-1258" t="-468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 name="Google Shape;148;p6"/>
          <p:cNvSpPr txBox="1"/>
          <p:nvPr/>
        </p:nvSpPr>
        <p:spPr>
          <a:xfrm>
            <a:off x="889527" y="1746022"/>
            <a:ext cx="15549635" cy="11079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400"/>
              <a:buFont typeface="Arial"/>
              <a:buNone/>
            </a:pPr>
            <a:r>
              <a:rPr b="0" i="0" lang="es-MX" sz="2400" u="none" cap="none" strike="noStrike">
                <a:solidFill>
                  <a:srgbClr val="E6CA69"/>
                </a:solidFill>
                <a:latin typeface="Alexandria"/>
                <a:ea typeface="Alexandria"/>
                <a:cs typeface="Alexandria"/>
                <a:sym typeface="Alexandria"/>
              </a:rPr>
              <a:t>RF54: </a:t>
            </a:r>
            <a:r>
              <a:rPr b="0" i="0" lang="es-MX" sz="2400" u="none" cap="none" strike="noStrike">
                <a:solidFill>
                  <a:schemeClr val="lt1"/>
                </a:solidFill>
                <a:latin typeface="Alexandria"/>
                <a:ea typeface="Alexandria"/>
                <a:cs typeface="Alexandria"/>
                <a:sym typeface="Alexandria"/>
              </a:rPr>
              <a:t>El sistema debe mostrar al Visitante, en la sección Productos de la página de inicio, una tarjeta por cada Producto registrado en la Base de Datos, compuesta por su Imagen, el Nombre del Producto, una Descripción breve y el listado de Componentes que lo integran</a:t>
            </a:r>
            <a:endParaRPr b="0" i="0" sz="2400" u="none" cap="none" strike="noStrike">
              <a:solidFill>
                <a:schemeClr val="lt1"/>
              </a:solidFill>
              <a:latin typeface="Alexandria"/>
              <a:ea typeface="Alexandria"/>
              <a:cs typeface="Alexandria"/>
              <a:sym typeface="Alexandria"/>
            </a:endParaRPr>
          </a:p>
        </p:txBody>
      </p:sp>
      <p:sp>
        <p:nvSpPr>
          <p:cNvPr id="149" name="Google Shape;149;p6"/>
          <p:cNvSpPr txBox="1"/>
          <p:nvPr/>
        </p:nvSpPr>
        <p:spPr>
          <a:xfrm>
            <a:off x="17259300" y="9210675"/>
            <a:ext cx="152400" cy="20002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6</a:t>
            </a:r>
            <a:endParaRPr b="0" i="0" sz="1400" u="none" cap="none" strike="noStrike">
              <a:solidFill>
                <a:srgbClr val="000000"/>
              </a:solidFill>
              <a:latin typeface="Arial"/>
              <a:ea typeface="Arial"/>
              <a:cs typeface="Arial"/>
              <a:sym typeface="Arial"/>
            </a:endParaRPr>
          </a:p>
        </p:txBody>
      </p:sp>
      <p:sp>
        <p:nvSpPr>
          <p:cNvPr id="150" name="Google Shape;150;p6"/>
          <p:cNvSpPr txBox="1"/>
          <p:nvPr/>
        </p:nvSpPr>
        <p:spPr>
          <a:xfrm>
            <a:off x="909290" y="3912767"/>
            <a:ext cx="10199987" cy="327474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s-MX" sz="2400" u="none" cap="none" strike="noStrike">
                <a:solidFill>
                  <a:srgbClr val="FEFEFE"/>
                </a:solidFill>
                <a:latin typeface="Alexandria"/>
                <a:ea typeface="Alexandria"/>
                <a:cs typeface="Alexandria"/>
                <a:sym typeface="Alexandria"/>
              </a:rPr>
              <a:t>Esta funcionalidad expone de forma estructurada los productos que fabrica la empresa, permitiendo al visitante conocer su catálogo sin necesidad de contacto previo. Esto facilita la evaluación técnica por parte de potenciales clientes y refuerza la imagen comercial de Ingecon.</a:t>
            </a:r>
            <a:endParaRPr b="0" i="0" sz="2400" u="none" cap="none" strike="noStrike">
              <a:solidFill>
                <a:srgbClr val="000000"/>
              </a:solidFill>
              <a:latin typeface="Arial"/>
              <a:ea typeface="Arial"/>
              <a:cs typeface="Arial"/>
              <a:sym typeface="Arial"/>
            </a:endParaRPr>
          </a:p>
          <a:p>
            <a:pPr indent="0" lvl="0" marL="0" marR="0" rtl="0" algn="l">
              <a:lnSpc>
                <a:spcPct val="140016"/>
              </a:lnSpc>
              <a:spcBef>
                <a:spcPts val="0"/>
              </a:spcBef>
              <a:spcAft>
                <a:spcPts val="0"/>
              </a:spcAft>
              <a:buClr>
                <a:srgbClr val="000000"/>
              </a:buClr>
              <a:buSzPts val="2399"/>
              <a:buFont typeface="Arial"/>
              <a:buNone/>
            </a:pPr>
            <a:r>
              <a:t/>
            </a:r>
            <a:endParaRPr b="0" i="0" sz="3200" u="none" cap="none" strike="noStrike">
              <a:solidFill>
                <a:srgbClr val="000000"/>
              </a:solidFill>
              <a:latin typeface="Arial"/>
              <a:ea typeface="Arial"/>
              <a:cs typeface="Arial"/>
              <a:sym typeface="Arial"/>
            </a:endParaRPr>
          </a:p>
        </p:txBody>
      </p:sp>
      <p:sp>
        <p:nvSpPr>
          <p:cNvPr id="151" name="Google Shape;151;p6"/>
          <p:cNvSpPr txBox="1"/>
          <p:nvPr/>
        </p:nvSpPr>
        <p:spPr>
          <a:xfrm>
            <a:off x="889527" y="219549"/>
            <a:ext cx="17093100" cy="1019703"/>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4733"/>
              <a:buFont typeface="Arial"/>
              <a:buNone/>
            </a:pPr>
            <a:r>
              <a:rPr b="1" i="0" lang="es-MX" sz="4733" u="none" cap="none" strike="noStrike">
                <a:solidFill>
                  <a:srgbClr val="FFF7AD"/>
                </a:solidFill>
                <a:latin typeface="Arial"/>
                <a:ea typeface="Arial"/>
                <a:cs typeface="Arial"/>
                <a:sym typeface="Arial"/>
              </a:rPr>
              <a:t>Requerimientos funcionales: Visualización de Productos</a:t>
            </a:r>
            <a:endParaRPr b="0" i="0" sz="1400" u="none" cap="none" strike="noStrike">
              <a:solidFill>
                <a:srgbClr val="000000"/>
              </a:solidFill>
              <a:latin typeface="Arial"/>
              <a:ea typeface="Arial"/>
              <a:cs typeface="Arial"/>
              <a:sym typeface="Arial"/>
            </a:endParaRPr>
          </a:p>
        </p:txBody>
      </p:sp>
      <p:pic>
        <p:nvPicPr>
          <p:cNvPr id="152" name="Google Shape;152;p6"/>
          <p:cNvPicPr preferRelativeResize="0"/>
          <p:nvPr/>
        </p:nvPicPr>
        <p:blipFill rotWithShape="1">
          <a:blip r:embed="rId4">
            <a:alphaModFix/>
          </a:blip>
          <a:srcRect b="0" l="0" r="0" t="0"/>
          <a:stretch/>
        </p:blipFill>
        <p:spPr>
          <a:xfrm>
            <a:off x="12180129" y="2758483"/>
            <a:ext cx="3758820" cy="7013408"/>
          </a:xfrm>
          <a:prstGeom prst="rect">
            <a:avLst/>
          </a:prstGeom>
          <a:noFill/>
          <a:ln>
            <a:noFill/>
          </a:ln>
        </p:spPr>
      </p:pic>
    </p:spTree>
  </p:cSld>
  <p:clrMapOvr>
    <a:masterClrMapping/>
  </p:clrMapOvr>
  <p:transition spd="slow">
    <p:wipe dir="l"/>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7"/>
          <p:cNvSpPr txBox="1"/>
          <p:nvPr/>
        </p:nvSpPr>
        <p:spPr>
          <a:xfrm>
            <a:off x="4691185" y="183936"/>
            <a:ext cx="14423992" cy="669926"/>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999"/>
              <a:buFont typeface="Arial"/>
              <a:buNone/>
            </a:pPr>
            <a:r>
              <a:rPr b="1" i="0" lang="es-MX" sz="3999" u="none" cap="none" strike="noStrike">
                <a:solidFill>
                  <a:srgbClr val="FFF7AD"/>
                </a:solidFill>
                <a:latin typeface="Arial"/>
                <a:ea typeface="Arial"/>
                <a:cs typeface="Arial"/>
                <a:sym typeface="Arial"/>
              </a:rPr>
              <a:t>DIAGRAMA DE COMPONENTES</a:t>
            </a:r>
            <a:endParaRPr b="0" i="0" sz="1400" u="none" cap="none" strike="noStrike">
              <a:solidFill>
                <a:srgbClr val="000000"/>
              </a:solidFill>
              <a:latin typeface="Arial"/>
              <a:ea typeface="Arial"/>
              <a:cs typeface="Arial"/>
              <a:sym typeface="Arial"/>
            </a:endParaRPr>
          </a:p>
        </p:txBody>
      </p:sp>
      <p:sp>
        <p:nvSpPr>
          <p:cNvPr id="159" name="Google Shape;159;p7"/>
          <p:cNvSpPr txBox="1"/>
          <p:nvPr/>
        </p:nvSpPr>
        <p:spPr>
          <a:xfrm>
            <a:off x="17240922" y="9210675"/>
            <a:ext cx="189155" cy="50321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7</a:t>
            </a:r>
            <a:endParaRPr b="0" i="0" sz="1400" u="none" cap="none" strike="noStrike">
              <a:solidFill>
                <a:srgbClr val="000000"/>
              </a:solidFill>
              <a:latin typeface="Arial"/>
              <a:ea typeface="Arial"/>
              <a:cs typeface="Arial"/>
              <a:sym typeface="Arial"/>
            </a:endParaRPr>
          </a:p>
        </p:txBody>
      </p:sp>
      <p:pic>
        <p:nvPicPr>
          <p:cNvPr id="160" name="Google Shape;160;p7"/>
          <p:cNvPicPr preferRelativeResize="0"/>
          <p:nvPr/>
        </p:nvPicPr>
        <p:blipFill rotWithShape="1">
          <a:blip r:embed="rId4">
            <a:alphaModFix/>
          </a:blip>
          <a:srcRect b="0" l="0" r="0" t="0"/>
          <a:stretch/>
        </p:blipFill>
        <p:spPr>
          <a:xfrm>
            <a:off x="0" y="971282"/>
            <a:ext cx="18288000" cy="7259836"/>
          </a:xfrm>
          <a:prstGeom prst="rect">
            <a:avLst/>
          </a:prstGeom>
          <a:noFill/>
          <a:ln>
            <a:noFill/>
          </a:ln>
        </p:spPr>
      </p:pic>
    </p:spTree>
  </p:cSld>
  <p:clrMapOvr>
    <a:masterClrMapping/>
  </p:clrMapOvr>
  <p:transition spd="slow">
    <p:wipe dir="l"/>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914400" marR="0" rtl="0" algn="l">
              <a:lnSpc>
                <a:spcPct val="140013"/>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 name="Google Shape;166;p8"/>
          <p:cNvSpPr txBox="1"/>
          <p:nvPr/>
        </p:nvSpPr>
        <p:spPr>
          <a:xfrm>
            <a:off x="1234900" y="549625"/>
            <a:ext cx="16216800" cy="861583"/>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Clr>
                <a:srgbClr val="000000"/>
              </a:buClr>
              <a:buSzPts val="3999"/>
              <a:buFont typeface="Arial"/>
              <a:buNone/>
            </a:pPr>
            <a:r>
              <a:rPr b="1" i="0" lang="es-MX" sz="3999" u="none" cap="none" strike="noStrike">
                <a:solidFill>
                  <a:srgbClr val="FFF7AD"/>
                </a:solidFill>
                <a:latin typeface="Arial"/>
                <a:ea typeface="Arial"/>
                <a:cs typeface="Arial"/>
                <a:sym typeface="Arial"/>
              </a:rPr>
              <a:t>Caso de Uso – Consultando Detalles del Proyecto en el Mapa</a:t>
            </a:r>
            <a:endParaRPr b="0" i="0" sz="1400" u="none" cap="none" strike="noStrike">
              <a:solidFill>
                <a:srgbClr val="000000"/>
              </a:solidFill>
              <a:latin typeface="Arial"/>
              <a:ea typeface="Arial"/>
              <a:cs typeface="Arial"/>
              <a:sym typeface="Arial"/>
            </a:endParaRPr>
          </a:p>
        </p:txBody>
      </p:sp>
      <p:sp>
        <p:nvSpPr>
          <p:cNvPr id="167" name="Google Shape;167;p8"/>
          <p:cNvSpPr txBox="1"/>
          <p:nvPr/>
        </p:nvSpPr>
        <p:spPr>
          <a:xfrm>
            <a:off x="17219282" y="9210675"/>
            <a:ext cx="232436" cy="50321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8</a:t>
            </a:r>
            <a:endParaRPr b="0" i="0" sz="1400" u="none" cap="none" strike="noStrike">
              <a:solidFill>
                <a:srgbClr val="000000"/>
              </a:solidFill>
              <a:latin typeface="Arial"/>
              <a:ea typeface="Arial"/>
              <a:cs typeface="Arial"/>
              <a:sym typeface="Arial"/>
            </a:endParaRPr>
          </a:p>
        </p:txBody>
      </p:sp>
      <p:sp>
        <p:nvSpPr>
          <p:cNvPr id="168" name="Google Shape;168;p8"/>
          <p:cNvSpPr txBox="1"/>
          <p:nvPr/>
        </p:nvSpPr>
        <p:spPr>
          <a:xfrm>
            <a:off x="1084435" y="1902248"/>
            <a:ext cx="8295900" cy="7409144"/>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Permite al Visitante, al realizar una Acción de Usuario sobre un marcador del Mapa Interactivo, visualizar en una Ventana Modal la información básica del proyecto correspondiente siendo: Nombre de la Obra, Imagen y Año de ejecución, sin abandonar la vista del mapa.</a:t>
            </a:r>
            <a:endParaRPr/>
          </a:p>
          <a:p>
            <a:pPr indent="0" lvl="0" marL="0" marR="0" rtl="0" algn="l">
              <a:lnSpc>
                <a:spcPct val="140013"/>
              </a:lnSpc>
              <a:spcBef>
                <a:spcPts val="0"/>
              </a:spcBef>
              <a:spcAft>
                <a:spcPts val="0"/>
              </a:spcAft>
              <a:buClr>
                <a:srgbClr val="000000"/>
              </a:buClr>
              <a:buSzPts val="2999"/>
              <a:buFont typeface="Arial"/>
              <a:buNone/>
            </a:pPr>
            <a:r>
              <a:t/>
            </a:r>
            <a:endParaRPr b="0" i="0" sz="2999" u="none" cap="none" strike="noStrike">
              <a:solidFill>
                <a:srgbClr val="FFFFFF"/>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2999"/>
              <a:buFont typeface="Arial"/>
              <a:buNone/>
            </a:pPr>
            <a:r>
              <a:rPr b="0" i="0" lang="es-MX" sz="2999" u="none" cap="none" strike="noStrike">
                <a:solidFill>
                  <a:srgbClr val="FFDE59"/>
                </a:solidFill>
                <a:latin typeface="Arial"/>
                <a:ea typeface="Arial"/>
                <a:cs typeface="Arial"/>
                <a:sym typeface="Arial"/>
              </a:rPr>
              <a:t>Objetivo principal: </a:t>
            </a:r>
            <a:r>
              <a:rPr b="0" i="0" lang="es-MX" sz="2999" u="none" cap="none" strike="noStrike">
                <a:solidFill>
                  <a:schemeClr val="lt1"/>
                </a:solidFill>
                <a:latin typeface="Arial"/>
                <a:ea typeface="Arial"/>
                <a:cs typeface="Arial"/>
                <a:sym typeface="Arial"/>
              </a:rPr>
              <a:t>Dar al visitante acceso inmediato a la información clave de un proyecto desde el mapa, sin interrumpir su navegación.</a:t>
            </a:r>
            <a:endParaRPr b="0" i="0" sz="2999" u="none" cap="none" strike="noStrike">
              <a:solidFill>
                <a:schemeClr val="lt1"/>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2999"/>
              <a:buFont typeface="Arial"/>
              <a:buNone/>
            </a:pPr>
            <a:r>
              <a:t/>
            </a:r>
            <a:endParaRPr b="0" i="0" sz="2999" u="none" cap="none" strike="noStrike">
              <a:solidFill>
                <a:srgbClr val="FEFEFE"/>
              </a:solidFill>
              <a:latin typeface="Arial"/>
              <a:ea typeface="Arial"/>
              <a:cs typeface="Arial"/>
              <a:sym typeface="Arial"/>
            </a:endParaRPr>
          </a:p>
        </p:txBody>
      </p:sp>
      <p:sp>
        <p:nvSpPr>
          <p:cNvPr id="169" name="Google Shape;169;p8"/>
          <p:cNvSpPr txBox="1"/>
          <p:nvPr/>
        </p:nvSpPr>
        <p:spPr>
          <a:xfrm>
            <a:off x="10613338" y="2144675"/>
            <a:ext cx="7129800" cy="503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200"/>
              <a:buFont typeface="Arial"/>
              <a:buNone/>
            </a:pPr>
            <a:r>
              <a:t/>
            </a:r>
            <a:endParaRPr b="0" i="0" sz="3200" u="none" cap="none" strike="noStrike">
              <a:solidFill>
                <a:srgbClr val="FFDE59"/>
              </a:solidFill>
              <a:latin typeface="Calibri"/>
              <a:ea typeface="Calibri"/>
              <a:cs typeface="Calibri"/>
              <a:sym typeface="Calibri"/>
            </a:endParaRPr>
          </a:p>
        </p:txBody>
      </p:sp>
      <p:pic>
        <p:nvPicPr>
          <p:cNvPr id="170" name="Google Shape;170;p8"/>
          <p:cNvPicPr preferRelativeResize="0"/>
          <p:nvPr/>
        </p:nvPicPr>
        <p:blipFill rotWithShape="1">
          <a:blip r:embed="rId4">
            <a:alphaModFix/>
          </a:blip>
          <a:srcRect b="0" l="0" r="0" t="0"/>
          <a:stretch/>
        </p:blipFill>
        <p:spPr>
          <a:xfrm>
            <a:off x="9973081" y="1872499"/>
            <a:ext cx="7230484" cy="3734321"/>
          </a:xfrm>
          <a:prstGeom prst="rect">
            <a:avLst/>
          </a:prstGeom>
          <a:noFill/>
          <a:ln>
            <a:noFill/>
          </a:ln>
        </p:spPr>
      </p:pic>
      <p:pic>
        <p:nvPicPr>
          <p:cNvPr id="171" name="Google Shape;171;p8"/>
          <p:cNvPicPr preferRelativeResize="0"/>
          <p:nvPr/>
        </p:nvPicPr>
        <p:blipFill rotWithShape="1">
          <a:blip r:embed="rId5">
            <a:alphaModFix/>
          </a:blip>
          <a:srcRect b="0" l="0" r="0" t="0"/>
          <a:stretch/>
        </p:blipFill>
        <p:spPr>
          <a:xfrm>
            <a:off x="10185431" y="5849995"/>
            <a:ext cx="6805784" cy="3734321"/>
          </a:xfrm>
          <a:prstGeom prst="rect">
            <a:avLst/>
          </a:prstGeom>
          <a:noFill/>
          <a:ln>
            <a:noFill/>
          </a:ln>
        </p:spPr>
      </p:pic>
    </p:spTree>
  </p:cSld>
  <p:clrMapOvr>
    <a:masterClrMapping/>
  </p:clrMapOvr>
  <p:transition spd="slow">
    <p:wipe dir="l"/>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22" l="0" r="0" t="-92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7" name="Google Shape;177;p9"/>
          <p:cNvSpPr txBox="1"/>
          <p:nvPr/>
        </p:nvSpPr>
        <p:spPr>
          <a:xfrm>
            <a:off x="17212068" y="9210675"/>
            <a:ext cx="246863" cy="50321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9</a:t>
            </a:r>
            <a:endParaRPr b="0" i="0" sz="1400" u="none" cap="none" strike="noStrike">
              <a:solidFill>
                <a:srgbClr val="000000"/>
              </a:solidFill>
              <a:latin typeface="Arial"/>
              <a:ea typeface="Arial"/>
              <a:cs typeface="Arial"/>
              <a:sym typeface="Arial"/>
            </a:endParaRPr>
          </a:p>
        </p:txBody>
      </p:sp>
      <p:sp>
        <p:nvSpPr>
          <p:cNvPr id="178" name="Google Shape;178;p9"/>
          <p:cNvSpPr txBox="1"/>
          <p:nvPr/>
        </p:nvSpPr>
        <p:spPr>
          <a:xfrm>
            <a:off x="2155499" y="250040"/>
            <a:ext cx="15180000" cy="64613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1" i="0" lang="es-MX" sz="2999" u="none" cap="none" strike="noStrike">
                <a:solidFill>
                  <a:srgbClr val="FFDE59"/>
                </a:solidFill>
                <a:latin typeface="Arial"/>
                <a:ea typeface="Arial"/>
                <a:cs typeface="Arial"/>
                <a:sym typeface="Arial"/>
              </a:rPr>
              <a:t>DIAGRAMA DE SECUENCIA: </a:t>
            </a:r>
            <a:r>
              <a:rPr b="1" i="0" lang="es-MX" sz="2999" u="none" cap="none" strike="noStrike">
                <a:solidFill>
                  <a:schemeClr val="lt1"/>
                </a:solidFill>
                <a:latin typeface="Arial"/>
                <a:ea typeface="Arial"/>
                <a:cs typeface="Arial"/>
                <a:sym typeface="Arial"/>
              </a:rPr>
              <a:t>Consultando Detalles del Proyecto en un Mapa</a:t>
            </a:r>
            <a:endParaRPr b="0" i="0" sz="1400" u="none" cap="none" strike="noStrike">
              <a:solidFill>
                <a:schemeClr val="lt1"/>
              </a:solidFill>
              <a:latin typeface="Arial"/>
              <a:ea typeface="Arial"/>
              <a:cs typeface="Arial"/>
              <a:sym typeface="Arial"/>
            </a:endParaRPr>
          </a:p>
        </p:txBody>
      </p:sp>
      <p:pic>
        <p:nvPicPr>
          <p:cNvPr id="179" name="Google Shape;179;p9"/>
          <p:cNvPicPr preferRelativeResize="0"/>
          <p:nvPr/>
        </p:nvPicPr>
        <p:blipFill rotWithShape="1">
          <a:blip r:embed="rId4">
            <a:alphaModFix/>
          </a:blip>
          <a:srcRect b="0" l="0" r="0" t="0"/>
          <a:stretch/>
        </p:blipFill>
        <p:spPr>
          <a:xfrm>
            <a:off x="3305585" y="896178"/>
            <a:ext cx="11929652" cy="9140781"/>
          </a:xfrm>
          <a:prstGeom prst="rect">
            <a:avLst/>
          </a:prstGeom>
          <a:noFill/>
          <a:ln>
            <a:noFill/>
          </a:ln>
        </p:spPr>
      </p:pic>
    </p:spTree>
  </p:cSld>
  <p:clrMapOvr>
    <a:masterClrMapping/>
  </p:clrMapOvr>
  <p:transition spd="slow">
    <p:wipe dir="l"/>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0"/>
          <p:cNvSpPr/>
          <p:nvPr/>
        </p:nvSpPr>
        <p:spPr>
          <a:xfrm rot="54000">
            <a:off x="-79663" y="-142993"/>
            <a:ext cx="18447325" cy="10572986"/>
          </a:xfrm>
          <a:custGeom>
            <a:rect b="b" l="l" r="r" t="t"/>
            <a:pathLst>
              <a:path extrusionOk="0" h="10572986" w="18447325">
                <a:moveTo>
                  <a:pt x="0" y="287255"/>
                </a:moveTo>
                <a:lnTo>
                  <a:pt x="18285744" y="0"/>
                </a:lnTo>
                <a:lnTo>
                  <a:pt x="18447326" y="10285731"/>
                </a:lnTo>
                <a:lnTo>
                  <a:pt x="161582" y="10572986"/>
                </a:lnTo>
                <a:lnTo>
                  <a:pt x="0" y="287255"/>
                </a:lnTo>
                <a:close/>
              </a:path>
            </a:pathLst>
          </a:custGeom>
          <a:blipFill rotWithShape="1">
            <a:blip r:embed="rId3">
              <a:alphaModFix/>
            </a:blip>
            <a:stretch>
              <a:fillRect b="-30507" l="-404" r="-1258" t="-468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5" name="Google Shape;185;p10"/>
          <p:cNvSpPr txBox="1"/>
          <p:nvPr/>
        </p:nvSpPr>
        <p:spPr>
          <a:xfrm>
            <a:off x="17098255" y="9210675"/>
            <a:ext cx="474490" cy="503215"/>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10</a:t>
            </a:r>
            <a:endParaRPr b="0" i="0" sz="1400" u="none" cap="none" strike="noStrike">
              <a:solidFill>
                <a:srgbClr val="000000"/>
              </a:solidFill>
              <a:latin typeface="Arial"/>
              <a:ea typeface="Arial"/>
              <a:cs typeface="Arial"/>
              <a:sym typeface="Arial"/>
            </a:endParaRPr>
          </a:p>
        </p:txBody>
      </p:sp>
      <p:sp>
        <p:nvSpPr>
          <p:cNvPr id="186" name="Google Shape;186;p10"/>
          <p:cNvSpPr txBox="1"/>
          <p:nvPr/>
        </p:nvSpPr>
        <p:spPr>
          <a:xfrm>
            <a:off x="824790" y="660399"/>
            <a:ext cx="16434600" cy="863185"/>
          </a:xfrm>
          <a:prstGeom prst="rect">
            <a:avLst/>
          </a:prstGeom>
          <a:noFill/>
          <a:ln>
            <a:noFill/>
          </a:ln>
        </p:spPr>
        <p:txBody>
          <a:bodyPr anchorCtr="0" anchor="t" bIns="0" lIns="0" spcFirstLastPara="1" rIns="0" wrap="square" tIns="0">
            <a:spAutoFit/>
          </a:bodyPr>
          <a:lstStyle/>
          <a:p>
            <a:pPr indent="0" lvl="0" marL="0" marR="0" rtl="0" algn="l">
              <a:lnSpc>
                <a:spcPct val="141746"/>
              </a:lnSpc>
              <a:spcBef>
                <a:spcPts val="0"/>
              </a:spcBef>
              <a:spcAft>
                <a:spcPts val="0"/>
              </a:spcAft>
              <a:buClr>
                <a:srgbClr val="000000"/>
              </a:buClr>
              <a:buSzPts val="3950"/>
              <a:buFont typeface="Arial"/>
              <a:buNone/>
            </a:pPr>
            <a:r>
              <a:rPr b="1" i="0" lang="es-MX" sz="3950" u="none" cap="none" strike="noStrike">
                <a:solidFill>
                  <a:srgbClr val="FFF7AD"/>
                </a:solidFill>
                <a:latin typeface="Arial"/>
                <a:ea typeface="Arial"/>
                <a:cs typeface="Arial"/>
                <a:sym typeface="Arial"/>
              </a:rPr>
              <a:t>Caso de Uso – Visualizando Productos</a:t>
            </a:r>
            <a:endParaRPr b="0" i="0" sz="1400" u="none" cap="none" strike="noStrike">
              <a:solidFill>
                <a:srgbClr val="000000"/>
              </a:solidFill>
              <a:latin typeface="Arial"/>
              <a:ea typeface="Arial"/>
              <a:cs typeface="Arial"/>
              <a:sym typeface="Arial"/>
            </a:endParaRPr>
          </a:p>
        </p:txBody>
      </p:sp>
      <p:sp>
        <p:nvSpPr>
          <p:cNvPr id="187" name="Google Shape;187;p10"/>
          <p:cNvSpPr txBox="1"/>
          <p:nvPr/>
        </p:nvSpPr>
        <p:spPr>
          <a:xfrm>
            <a:off x="670154" y="1699750"/>
            <a:ext cx="7272844" cy="5470728"/>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Permite al Visitante conocer los productos que fabrica la empresa mediante las tarjetas publicadas en la página de inicio, obtenidas desde la Base de Datos.</a:t>
            </a:r>
            <a:endParaRPr/>
          </a:p>
          <a:p>
            <a:pPr indent="0" lvl="0" marL="0" marR="0" rtl="0" algn="l">
              <a:lnSpc>
                <a:spcPct val="140013"/>
              </a:lnSpc>
              <a:spcBef>
                <a:spcPts val="0"/>
              </a:spcBef>
              <a:spcAft>
                <a:spcPts val="0"/>
              </a:spcAft>
              <a:buClr>
                <a:srgbClr val="000000"/>
              </a:buClr>
              <a:buSzPts val="2999"/>
              <a:buFont typeface="Arial"/>
              <a:buNone/>
            </a:pPr>
            <a:r>
              <a:t/>
            </a:r>
            <a:endParaRPr b="0" i="0" sz="2999" u="none" cap="none" strike="noStrike">
              <a:solidFill>
                <a:srgbClr val="FFFFFF"/>
              </a:solidFill>
              <a:latin typeface="Arial"/>
              <a:ea typeface="Arial"/>
              <a:cs typeface="Arial"/>
              <a:sym typeface="Arial"/>
            </a:endParaRPr>
          </a:p>
          <a:p>
            <a:pPr indent="-323848" lvl="1" marL="647695" marR="0" rtl="0" algn="l">
              <a:lnSpc>
                <a:spcPct val="140013"/>
              </a:lnSpc>
              <a:spcBef>
                <a:spcPts val="0"/>
              </a:spcBef>
              <a:spcAft>
                <a:spcPts val="0"/>
              </a:spcAft>
              <a:buClr>
                <a:srgbClr val="FFDE59"/>
              </a:buClr>
              <a:buSzPts val="2999"/>
              <a:buFont typeface="Arial"/>
              <a:buChar char="•"/>
            </a:pPr>
            <a:r>
              <a:rPr b="0" i="0" lang="es-MX" sz="2999" u="none" cap="none" strike="noStrike">
                <a:solidFill>
                  <a:srgbClr val="FFDE59"/>
                </a:solidFill>
                <a:latin typeface="Arial"/>
                <a:ea typeface="Arial"/>
                <a:cs typeface="Arial"/>
                <a:sym typeface="Arial"/>
              </a:rPr>
              <a:t>Objetivo principal: </a:t>
            </a:r>
            <a:r>
              <a:rPr b="0" i="0" lang="es-MX" sz="2999" u="none" cap="none" strike="noStrike">
                <a:solidFill>
                  <a:schemeClr val="lt1"/>
                </a:solidFill>
                <a:latin typeface="Arial"/>
                <a:ea typeface="Arial"/>
                <a:cs typeface="Arial"/>
                <a:sym typeface="Arial"/>
              </a:rPr>
              <a:t>Dar visibilidad al catálogo de productos fabricados por la empresa</a:t>
            </a:r>
            <a:endParaRPr b="0" i="0" sz="2999" u="none" cap="none" strike="noStrike">
              <a:solidFill>
                <a:srgbClr val="FFFFFF"/>
              </a:solidFill>
              <a:latin typeface="Arial"/>
              <a:ea typeface="Arial"/>
              <a:cs typeface="Arial"/>
              <a:sym typeface="Arial"/>
            </a:endParaRPr>
          </a:p>
        </p:txBody>
      </p:sp>
      <p:pic>
        <p:nvPicPr>
          <p:cNvPr id="188" name="Google Shape;188;p10"/>
          <p:cNvPicPr preferRelativeResize="0"/>
          <p:nvPr/>
        </p:nvPicPr>
        <p:blipFill rotWithShape="1">
          <a:blip r:embed="rId4">
            <a:alphaModFix/>
          </a:blip>
          <a:srcRect b="0" l="0" r="0" t="0"/>
          <a:stretch/>
        </p:blipFill>
        <p:spPr>
          <a:xfrm>
            <a:off x="8393291" y="2245030"/>
            <a:ext cx="9060065" cy="6244199"/>
          </a:xfrm>
          <a:prstGeom prst="rect">
            <a:avLst/>
          </a:prstGeom>
          <a:noFill/>
          <a:ln>
            <a:noFill/>
          </a:ln>
        </p:spPr>
      </p:pic>
    </p:spTree>
  </p:cSld>
  <p:clrMapOvr>
    <a:masterClrMapping/>
  </p:clrMapOvr>
  <p:transition spd="slow">
    <p:wipe dir="l"/>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1"/>
          <p:cNvSpPr/>
          <p:nvPr/>
        </p:nvSpPr>
        <p:spPr>
          <a:xfrm rot="54000">
            <a:off x="-79663" y="-142993"/>
            <a:ext cx="18447325" cy="10572986"/>
          </a:xfrm>
          <a:custGeom>
            <a:rect b="b" l="l" r="r" t="t"/>
            <a:pathLst>
              <a:path extrusionOk="0" h="10572986" w="18447325">
                <a:moveTo>
                  <a:pt x="0" y="287255"/>
                </a:moveTo>
                <a:lnTo>
                  <a:pt x="18285744" y="0"/>
                </a:lnTo>
                <a:lnTo>
                  <a:pt x="18447326" y="10285731"/>
                </a:lnTo>
                <a:lnTo>
                  <a:pt x="161582" y="10572986"/>
                </a:lnTo>
                <a:lnTo>
                  <a:pt x="0" y="287255"/>
                </a:lnTo>
                <a:close/>
              </a:path>
            </a:pathLst>
          </a:custGeom>
          <a:blipFill rotWithShape="1">
            <a:blip r:embed="rId3">
              <a:alphaModFix/>
            </a:blip>
            <a:stretch>
              <a:fillRect b="-30507" l="-404" r="-1258" t="-4687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p11"/>
          <p:cNvSpPr txBox="1"/>
          <p:nvPr/>
        </p:nvSpPr>
        <p:spPr>
          <a:xfrm>
            <a:off x="4152163" y="168248"/>
            <a:ext cx="14813100" cy="646139"/>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1" i="0" lang="es-MX" sz="2999" u="none" cap="none" strike="noStrike">
                <a:solidFill>
                  <a:srgbClr val="E6CA69"/>
                </a:solidFill>
                <a:latin typeface="Arial"/>
                <a:ea typeface="Arial"/>
                <a:cs typeface="Arial"/>
                <a:sym typeface="Arial"/>
              </a:rPr>
              <a:t>DIAGRAMA DE SECUENCIA:</a:t>
            </a:r>
            <a:r>
              <a:rPr b="1" i="0" lang="es-MX" sz="2999" u="none" cap="none" strike="noStrike">
                <a:solidFill>
                  <a:srgbClr val="FEFEFE"/>
                </a:solidFill>
                <a:latin typeface="Arial"/>
                <a:ea typeface="Arial"/>
                <a:cs typeface="Arial"/>
                <a:sym typeface="Arial"/>
              </a:rPr>
              <a:t> Visualizando Productos</a:t>
            </a:r>
            <a:endParaRPr b="0" i="0" sz="1400" u="none" cap="none" strike="noStrike">
              <a:solidFill>
                <a:srgbClr val="000000"/>
              </a:solidFill>
              <a:latin typeface="Arial"/>
              <a:ea typeface="Arial"/>
              <a:cs typeface="Arial"/>
              <a:sym typeface="Arial"/>
            </a:endParaRPr>
          </a:p>
        </p:txBody>
      </p:sp>
      <p:sp>
        <p:nvSpPr>
          <p:cNvPr id="195" name="Google Shape;195;p11"/>
          <p:cNvSpPr txBox="1"/>
          <p:nvPr/>
        </p:nvSpPr>
        <p:spPr>
          <a:xfrm>
            <a:off x="16885877" y="9210675"/>
            <a:ext cx="837174" cy="646139"/>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 11</a:t>
            </a:r>
            <a:endParaRPr b="0" i="0" sz="1400" u="none" cap="none" strike="noStrike">
              <a:solidFill>
                <a:srgbClr val="000000"/>
              </a:solidFill>
              <a:latin typeface="Arial"/>
              <a:ea typeface="Arial"/>
              <a:cs typeface="Arial"/>
              <a:sym typeface="Arial"/>
            </a:endParaRPr>
          </a:p>
        </p:txBody>
      </p:sp>
      <p:pic>
        <p:nvPicPr>
          <p:cNvPr id="196" name="Google Shape;196;p11"/>
          <p:cNvPicPr preferRelativeResize="0"/>
          <p:nvPr/>
        </p:nvPicPr>
        <p:blipFill rotWithShape="1">
          <a:blip r:embed="rId4">
            <a:alphaModFix/>
          </a:blip>
          <a:srcRect b="0" l="0" r="0" t="0"/>
          <a:stretch/>
        </p:blipFill>
        <p:spPr>
          <a:xfrm>
            <a:off x="2656977" y="814387"/>
            <a:ext cx="12956062" cy="9208022"/>
          </a:xfrm>
          <a:prstGeom prst="rect">
            <a:avLst/>
          </a:prstGeom>
          <a:noFill/>
          <a:ln>
            <a:noFill/>
          </a:ln>
        </p:spPr>
      </p:pic>
    </p:spTree>
  </p:cSld>
  <p:clrMapOvr>
    <a:masterClrMapping/>
  </p:clrMapOvr>
  <p:transition spd="slow">
    <p:wipe dir="l"/>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313" l="0" r="0" t="-931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2" name="Google Shape;202;p15"/>
          <p:cNvSpPr txBox="1"/>
          <p:nvPr/>
        </p:nvSpPr>
        <p:spPr>
          <a:xfrm>
            <a:off x="5276575" y="414925"/>
            <a:ext cx="15970800" cy="4617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1" i="0" lang="es-MX" sz="2999" u="none" cap="none" strike="noStrike">
                <a:solidFill>
                  <a:srgbClr val="E6CA69"/>
                </a:solidFill>
                <a:latin typeface="Arial"/>
                <a:ea typeface="Arial"/>
                <a:cs typeface="Arial"/>
                <a:sym typeface="Arial"/>
              </a:rPr>
              <a:t>BASES DE DATOS - </a:t>
            </a:r>
            <a:r>
              <a:rPr b="1" i="0" lang="es-MX" sz="2999" u="none" cap="none" strike="noStrike">
                <a:solidFill>
                  <a:srgbClr val="FEFEFE"/>
                </a:solidFill>
                <a:latin typeface="Arial"/>
                <a:ea typeface="Arial"/>
                <a:cs typeface="Arial"/>
                <a:sym typeface="Arial"/>
              </a:rPr>
              <a:t>DIAGRAMA DE CLASES</a:t>
            </a:r>
            <a:endParaRPr b="0" i="0" sz="1400" u="none" cap="none" strike="noStrike">
              <a:solidFill>
                <a:srgbClr val="000000"/>
              </a:solidFill>
              <a:latin typeface="Arial"/>
              <a:ea typeface="Arial"/>
              <a:cs typeface="Arial"/>
              <a:sym typeface="Arial"/>
            </a:endParaRPr>
          </a:p>
        </p:txBody>
      </p:sp>
      <p:sp>
        <p:nvSpPr>
          <p:cNvPr id="203" name="Google Shape;203;p15"/>
          <p:cNvSpPr txBox="1"/>
          <p:nvPr/>
        </p:nvSpPr>
        <p:spPr>
          <a:xfrm>
            <a:off x="17119095" y="9210675"/>
            <a:ext cx="432811" cy="646139"/>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12</a:t>
            </a:r>
            <a:endParaRPr b="0" i="0" sz="1400" u="none" cap="none" strike="noStrike">
              <a:solidFill>
                <a:srgbClr val="000000"/>
              </a:solidFill>
              <a:latin typeface="Arial"/>
              <a:ea typeface="Arial"/>
              <a:cs typeface="Arial"/>
              <a:sym typeface="Arial"/>
            </a:endParaRPr>
          </a:p>
        </p:txBody>
      </p:sp>
      <p:pic>
        <p:nvPicPr>
          <p:cNvPr id="204" name="Google Shape;204;p15"/>
          <p:cNvPicPr preferRelativeResize="0"/>
          <p:nvPr/>
        </p:nvPicPr>
        <p:blipFill rotWithShape="1">
          <a:blip r:embed="rId4">
            <a:alphaModFix/>
          </a:blip>
          <a:srcRect b="0" l="0" r="0" t="0"/>
          <a:stretch/>
        </p:blipFill>
        <p:spPr>
          <a:xfrm>
            <a:off x="3475070" y="1291550"/>
            <a:ext cx="12069730" cy="8241939"/>
          </a:xfrm>
          <a:prstGeom prst="rect">
            <a:avLst/>
          </a:prstGeom>
          <a:noFill/>
          <a:ln>
            <a:noFill/>
          </a:ln>
        </p:spPr>
      </p:pic>
    </p:spTree>
  </p:cSld>
  <p:clrMapOvr>
    <a:masterClrMapping/>
  </p:clrMapOvr>
  <p:transition spd="slow" p14:dur="1500">
    <p:split orient="ver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0" name="Google Shape;210;p14"/>
          <p:cNvSpPr txBox="1"/>
          <p:nvPr/>
        </p:nvSpPr>
        <p:spPr>
          <a:xfrm>
            <a:off x="4082767" y="687068"/>
            <a:ext cx="16678832" cy="788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900"/>
              <a:buFont typeface="Arial"/>
              <a:buNone/>
            </a:pPr>
            <a:r>
              <a:rPr b="1" i="0" lang="es-MX" sz="5900" u="none" cap="none" strike="noStrike">
                <a:solidFill>
                  <a:srgbClr val="E6CA69"/>
                </a:solidFill>
                <a:latin typeface="Alexandria"/>
                <a:ea typeface="Alexandria"/>
                <a:cs typeface="Alexandria"/>
                <a:sym typeface="Alexandria"/>
              </a:rPr>
              <a:t>ÁRBOL DE NAVEGACIÓN</a:t>
            </a:r>
            <a:endParaRPr b="0" i="0" sz="1400" u="none" cap="none" strike="noStrike">
              <a:solidFill>
                <a:srgbClr val="000000"/>
              </a:solidFill>
              <a:latin typeface="Arial"/>
              <a:ea typeface="Arial"/>
              <a:cs typeface="Arial"/>
              <a:sym typeface="Arial"/>
            </a:endParaRPr>
          </a:p>
        </p:txBody>
      </p:sp>
      <p:sp>
        <p:nvSpPr>
          <p:cNvPr id="211" name="Google Shape;211;p14"/>
          <p:cNvSpPr txBox="1"/>
          <p:nvPr/>
        </p:nvSpPr>
        <p:spPr>
          <a:xfrm>
            <a:off x="17116690" y="9210675"/>
            <a:ext cx="437620" cy="646139"/>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13</a:t>
            </a:r>
            <a:endParaRPr b="0" i="0" sz="1400" u="none" cap="none" strike="noStrike">
              <a:solidFill>
                <a:srgbClr val="000000"/>
              </a:solidFill>
              <a:latin typeface="Arial"/>
              <a:ea typeface="Arial"/>
              <a:cs typeface="Arial"/>
              <a:sym typeface="Arial"/>
            </a:endParaRPr>
          </a:p>
        </p:txBody>
      </p:sp>
      <p:pic>
        <p:nvPicPr>
          <p:cNvPr id="212" name="Google Shape;212;p14"/>
          <p:cNvPicPr preferRelativeResize="0"/>
          <p:nvPr/>
        </p:nvPicPr>
        <p:blipFill rotWithShape="1">
          <a:blip r:embed="rId4">
            <a:alphaModFix/>
          </a:blip>
          <a:srcRect b="0" l="0" r="0" t="0"/>
          <a:stretch/>
        </p:blipFill>
        <p:spPr>
          <a:xfrm>
            <a:off x="3016155" y="1808783"/>
            <a:ext cx="12889158" cy="7791149"/>
          </a:xfrm>
          <a:prstGeom prst="rect">
            <a:avLst/>
          </a:prstGeom>
          <a:noFill/>
          <a:ln>
            <a:noFill/>
          </a:ln>
        </p:spPr>
      </p:pic>
      <p:sp>
        <p:nvSpPr>
          <p:cNvPr id="213" name="Google Shape;213;p14"/>
          <p:cNvSpPr/>
          <p:nvPr/>
        </p:nvSpPr>
        <p:spPr>
          <a:xfrm>
            <a:off x="14552892" y="1261261"/>
            <a:ext cx="1437906" cy="2022630"/>
          </a:xfrm>
          <a:custGeom>
            <a:rect b="b" l="l" r="r" t="t"/>
            <a:pathLst>
              <a:path extrusionOk="0" h="2022630" w="1437906">
                <a:moveTo>
                  <a:pt x="0" y="0"/>
                </a:moveTo>
                <a:lnTo>
                  <a:pt x="1437906" y="0"/>
                </a:lnTo>
                <a:lnTo>
                  <a:pt x="1437906" y="2022630"/>
                </a:lnTo>
                <a:lnTo>
                  <a:pt x="0" y="2022630"/>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ransition spd="slow">
    <p:wipe dir="l"/>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9" l="0" r="0" t="-388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9" name="Google Shape;219;p16"/>
          <p:cNvSpPr/>
          <p:nvPr/>
        </p:nvSpPr>
        <p:spPr>
          <a:xfrm rot="3234103">
            <a:off x="-3594359" y="-597489"/>
            <a:ext cx="17460920" cy="15270192"/>
          </a:xfrm>
          <a:custGeom>
            <a:rect b="b" l="l" r="r" t="t"/>
            <a:pathLst>
              <a:path extrusionOk="0" h="15268999" w="16795899">
                <a:moveTo>
                  <a:pt x="0" y="0"/>
                </a:moveTo>
                <a:lnTo>
                  <a:pt x="16795899" y="0"/>
                </a:lnTo>
                <a:lnTo>
                  <a:pt x="16795899" y="15268999"/>
                </a:lnTo>
                <a:lnTo>
                  <a:pt x="0" y="15268999"/>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6"/>
          <p:cNvSpPr/>
          <p:nvPr/>
        </p:nvSpPr>
        <p:spPr>
          <a:xfrm>
            <a:off x="8930547" y="7057084"/>
            <a:ext cx="1989590" cy="2019888"/>
          </a:xfrm>
          <a:custGeom>
            <a:rect b="b" l="l" r="r" t="t"/>
            <a:pathLst>
              <a:path extrusionOk="0" h="2019888" w="1989590">
                <a:moveTo>
                  <a:pt x="0" y="0"/>
                </a:moveTo>
                <a:lnTo>
                  <a:pt x="1989590" y="0"/>
                </a:lnTo>
                <a:lnTo>
                  <a:pt x="1989590" y="2019888"/>
                </a:lnTo>
                <a:lnTo>
                  <a:pt x="0" y="201988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16"/>
          <p:cNvSpPr/>
          <p:nvPr/>
        </p:nvSpPr>
        <p:spPr>
          <a:xfrm>
            <a:off x="14458951" y="1028700"/>
            <a:ext cx="2652977" cy="2230666"/>
          </a:xfrm>
          <a:custGeom>
            <a:rect b="b" l="l" r="r" t="t"/>
            <a:pathLst>
              <a:path extrusionOk="0" h="2230666" w="2652977">
                <a:moveTo>
                  <a:pt x="0" y="0"/>
                </a:moveTo>
                <a:lnTo>
                  <a:pt x="2652977" y="0"/>
                </a:lnTo>
                <a:lnTo>
                  <a:pt x="2652977" y="2230666"/>
                </a:lnTo>
                <a:lnTo>
                  <a:pt x="0" y="2230666"/>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2" name="Google Shape;222;p16"/>
          <p:cNvSpPr/>
          <p:nvPr/>
        </p:nvSpPr>
        <p:spPr>
          <a:xfrm>
            <a:off x="1356329" y="4846097"/>
            <a:ext cx="16340928" cy="3223339"/>
          </a:xfrm>
          <a:custGeom>
            <a:rect b="b" l="l" r="r" t="t"/>
            <a:pathLst>
              <a:path extrusionOk="0" h="3223339" w="16340928">
                <a:moveTo>
                  <a:pt x="0" y="0"/>
                </a:moveTo>
                <a:lnTo>
                  <a:pt x="16340928" y="0"/>
                </a:lnTo>
                <a:lnTo>
                  <a:pt x="16340928" y="3223339"/>
                </a:lnTo>
                <a:lnTo>
                  <a:pt x="0" y="3223339"/>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3" name="Google Shape;223;p16"/>
          <p:cNvSpPr txBox="1"/>
          <p:nvPr/>
        </p:nvSpPr>
        <p:spPr>
          <a:xfrm>
            <a:off x="2045723" y="4023371"/>
            <a:ext cx="7481100" cy="6808800"/>
          </a:xfrm>
          <a:prstGeom prst="rect">
            <a:avLst/>
          </a:prstGeom>
          <a:noFill/>
          <a:ln>
            <a:noFill/>
          </a:ln>
        </p:spPr>
        <p:txBody>
          <a:bodyPr anchorCtr="0" anchor="t" bIns="0" lIns="0" spcFirstLastPara="1" rIns="0" wrap="square" tIns="0">
            <a:spAutoFit/>
          </a:bodyPr>
          <a:lstStyle/>
          <a:p>
            <a:pPr indent="0" lvl="0" marL="0" marR="0" rtl="0" algn="l">
              <a:lnSpc>
                <a:spcPct val="120010"/>
              </a:lnSpc>
              <a:spcBef>
                <a:spcPts val="0"/>
              </a:spcBef>
              <a:spcAft>
                <a:spcPts val="0"/>
              </a:spcAft>
              <a:buClr>
                <a:srgbClr val="000000"/>
              </a:buClr>
              <a:buSzPts val="3808"/>
              <a:buFont typeface="Arial"/>
              <a:buNone/>
            </a:pPr>
            <a:r>
              <a:rPr b="1" i="0" lang="es-MX" sz="3808" u="none" cap="none" strike="noStrike">
                <a:solidFill>
                  <a:srgbClr val="FFFFFF"/>
                </a:solidFill>
                <a:latin typeface="Cambay"/>
                <a:ea typeface="Cambay"/>
                <a:cs typeface="Cambay"/>
                <a:sym typeface="Cambay"/>
              </a:rPr>
              <a:t>Integrantes</a:t>
            </a:r>
            <a:endParaRPr b="0" i="0" sz="1400" u="none" cap="none" strike="noStrike">
              <a:solidFill>
                <a:srgbClr val="000000"/>
              </a:solidFill>
              <a:latin typeface="Arial"/>
              <a:ea typeface="Arial"/>
              <a:cs typeface="Arial"/>
              <a:sym typeface="Arial"/>
            </a:endParaRPr>
          </a:p>
          <a:p>
            <a:pPr indent="0" lvl="0" marL="0" marR="0" rtl="0" algn="l">
              <a:lnSpc>
                <a:spcPct val="120010"/>
              </a:lnSpc>
              <a:spcBef>
                <a:spcPts val="0"/>
              </a:spcBef>
              <a:spcAft>
                <a:spcPts val="0"/>
              </a:spcAft>
              <a:buClr>
                <a:srgbClr val="000000"/>
              </a:buClr>
              <a:buSzPts val="3808"/>
              <a:buFont typeface="Arial"/>
              <a:buNone/>
            </a:pPr>
            <a:r>
              <a:t/>
            </a:r>
            <a:endParaRPr b="1" i="0" sz="3808" u="none" cap="none" strike="noStrike">
              <a:solidFill>
                <a:srgbClr val="FFFFFF"/>
              </a:solidFill>
              <a:latin typeface="Cambay"/>
              <a:ea typeface="Cambay"/>
              <a:cs typeface="Cambay"/>
              <a:sym typeface="Cambay"/>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Diego Carabajal Belmar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Tomás Hurtado Silva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Vicente Ortega Nobizelli </a:t>
            </a:r>
            <a:endParaRPr b="0" i="0" sz="1400" u="none" cap="none" strike="noStrike">
              <a:solidFill>
                <a:srgbClr val="000000"/>
              </a:solidFill>
              <a:latin typeface="Arial"/>
              <a:ea typeface="Arial"/>
              <a:cs typeface="Arial"/>
              <a:sym typeface="Arial"/>
            </a:endParaRPr>
          </a:p>
          <a:p>
            <a:pPr indent="-321118"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Benjamín Parraguez Aguirre </a:t>
            </a:r>
            <a:endParaRPr b="0" i="0" sz="1400" u="none" cap="none" strike="noStrike">
              <a:solidFill>
                <a:srgbClr val="000000"/>
              </a:solidFill>
              <a:latin typeface="Arial"/>
              <a:ea typeface="Arial"/>
              <a:cs typeface="Arial"/>
              <a:sym typeface="Arial"/>
            </a:endParaRPr>
          </a:p>
          <a:p>
            <a:pPr indent="-321119" lvl="1" marL="642238" marR="0" rtl="0" algn="l">
              <a:lnSpc>
                <a:spcPct val="120006"/>
              </a:lnSpc>
              <a:spcBef>
                <a:spcPts val="0"/>
              </a:spcBef>
              <a:spcAft>
                <a:spcPts val="0"/>
              </a:spcAft>
              <a:buClr>
                <a:srgbClr val="FFFFFF"/>
              </a:buClr>
              <a:buSzPts val="2974"/>
              <a:buFont typeface="Arial"/>
              <a:buChar char="•"/>
            </a:pPr>
            <a:r>
              <a:rPr b="0" i="0" lang="es-MX" sz="2974" u="none" cap="none" strike="noStrike">
                <a:solidFill>
                  <a:srgbClr val="FFFFFF"/>
                </a:solidFill>
                <a:latin typeface="Cambay"/>
                <a:ea typeface="Cambay"/>
                <a:cs typeface="Cambay"/>
                <a:sym typeface="Cambay"/>
              </a:rPr>
              <a:t>Paulina Urrutia Moya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a:p>
            <a:pPr indent="0" lvl="0" marL="0" marR="0" rtl="0" algn="l">
              <a:lnSpc>
                <a:spcPct val="120006"/>
              </a:lnSpc>
              <a:spcBef>
                <a:spcPts val="0"/>
              </a:spcBef>
              <a:spcAft>
                <a:spcPts val="0"/>
              </a:spcAft>
              <a:buClr>
                <a:srgbClr val="000000"/>
              </a:buClr>
              <a:buSzPts val="2974"/>
              <a:buFont typeface="Arial"/>
              <a:buNone/>
            </a:pPr>
            <a:r>
              <a:t/>
            </a:r>
            <a:endParaRPr b="0" i="0" sz="2974" u="none" cap="none" strike="noStrike">
              <a:solidFill>
                <a:srgbClr val="FFFFFF"/>
              </a:solidFill>
              <a:latin typeface="Cambay"/>
              <a:ea typeface="Cambay"/>
              <a:cs typeface="Cambay"/>
              <a:sym typeface="Cambay"/>
            </a:endParaRPr>
          </a:p>
        </p:txBody>
      </p:sp>
      <p:sp>
        <p:nvSpPr>
          <p:cNvPr id="224" name="Google Shape;224;p16"/>
          <p:cNvSpPr txBox="1"/>
          <p:nvPr/>
        </p:nvSpPr>
        <p:spPr>
          <a:xfrm>
            <a:off x="-1496074" y="8615272"/>
            <a:ext cx="13496100" cy="461700"/>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1" i="0" lang="es-MX" sz="2999" u="none" cap="none" strike="noStrike">
                <a:solidFill>
                  <a:srgbClr val="FFFFFF"/>
                </a:solidFill>
                <a:latin typeface="Arial"/>
                <a:ea typeface="Arial"/>
                <a:cs typeface="Arial"/>
                <a:sym typeface="Arial"/>
              </a:rPr>
              <a:t>Profesor: </a:t>
            </a:r>
            <a:r>
              <a:rPr b="0" i="0" lang="es-MX" sz="2999" u="none" cap="none" strike="noStrike">
                <a:solidFill>
                  <a:srgbClr val="FFFFFF"/>
                </a:solidFill>
                <a:latin typeface="Arial"/>
                <a:ea typeface="Arial"/>
                <a:cs typeface="Arial"/>
                <a:sym typeface="Arial"/>
              </a:rPr>
              <a:t>Paulo Quinsacara Jofré</a:t>
            </a:r>
            <a:endParaRPr b="0" i="0" sz="1400" u="none" cap="none" strike="noStrike">
              <a:solidFill>
                <a:srgbClr val="000000"/>
              </a:solidFill>
              <a:latin typeface="Arial"/>
              <a:ea typeface="Arial"/>
              <a:cs typeface="Arial"/>
              <a:sym typeface="Arial"/>
            </a:endParaRPr>
          </a:p>
        </p:txBody>
      </p:sp>
      <p:sp>
        <p:nvSpPr>
          <p:cNvPr id="225" name="Google Shape;225;p16"/>
          <p:cNvSpPr txBox="1"/>
          <p:nvPr/>
        </p:nvSpPr>
        <p:spPr>
          <a:xfrm>
            <a:off x="16592550" y="9210675"/>
            <a:ext cx="819150" cy="646139"/>
          </a:xfrm>
          <a:prstGeom prst="rect">
            <a:avLst/>
          </a:prstGeom>
          <a:noFill/>
          <a:ln>
            <a:noFill/>
          </a:ln>
        </p:spPr>
        <p:txBody>
          <a:bodyPr anchorCtr="0" anchor="t" bIns="0" lIns="0" spcFirstLastPara="1" rIns="0" wrap="square" tIns="0">
            <a:spAutoFit/>
          </a:bodyPr>
          <a:lstStyle/>
          <a:p>
            <a:pPr indent="0" lvl="0" marL="0" marR="0" rtl="0" algn="ctr">
              <a:lnSpc>
                <a:spcPct val="140013"/>
              </a:lnSpc>
              <a:spcBef>
                <a:spcPts val="0"/>
              </a:spcBef>
              <a:spcAft>
                <a:spcPts val="0"/>
              </a:spcAft>
              <a:buClr>
                <a:srgbClr val="000000"/>
              </a:buClr>
              <a:buSzPts val="2999"/>
              <a:buFont typeface="Arial"/>
              <a:buNone/>
            </a:pPr>
            <a:r>
              <a:rPr b="0" i="0" lang="es-MX" sz="2999" u="none" cap="none" strike="noStrike">
                <a:solidFill>
                  <a:srgbClr val="FFFFFF"/>
                </a:solidFill>
                <a:latin typeface="Arial"/>
                <a:ea typeface="Arial"/>
                <a:cs typeface="Arial"/>
                <a:sym typeface="Arial"/>
              </a:rPr>
              <a:t>14</a:t>
            </a:r>
            <a:endParaRPr b="0" i="0" sz="1400" u="none" cap="none" strike="noStrike">
              <a:solidFill>
                <a:srgbClr val="000000"/>
              </a:solidFill>
              <a:latin typeface="Arial"/>
              <a:ea typeface="Arial"/>
              <a:cs typeface="Arial"/>
              <a:sym typeface="Arial"/>
            </a:endParaRPr>
          </a:p>
        </p:txBody>
      </p:sp>
      <p:sp>
        <p:nvSpPr>
          <p:cNvPr id="226" name="Google Shape;226;p16"/>
          <p:cNvSpPr txBox="1"/>
          <p:nvPr/>
        </p:nvSpPr>
        <p:spPr>
          <a:xfrm>
            <a:off x="1518683" y="1696290"/>
            <a:ext cx="12400609" cy="206057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999"/>
              <a:buFont typeface="Arial"/>
              <a:buNone/>
            </a:pPr>
            <a:r>
              <a:rPr b="1" i="0" lang="es-MX" sz="7999" u="none" cap="none" strike="noStrike">
                <a:solidFill>
                  <a:srgbClr val="CCFFAB"/>
                </a:solidFill>
                <a:latin typeface="Alexandria"/>
                <a:ea typeface="Alexandria"/>
                <a:cs typeface="Alexandria"/>
                <a:sym typeface="Alexandria"/>
              </a:rPr>
              <a:t>PROYECTO INGECON GRUPO 12</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flash/>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822"/>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Pauu</dc:creator>
</cp:coreProperties>
</file>