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lexandria" panose="020B0604020202020204" charset="-78"/>
      <p:regular r:id="rId17"/>
      <p:bold r:id="rId18"/>
    </p:embeddedFont>
    <p:embeddedFont>
      <p:font typeface="Cambay" panose="020B0604020202020204" charset="0"/>
      <p:regular r:id="rId19"/>
      <p:bold r:id="rId20"/>
      <p:italic r:id="rId21"/>
      <p:boldItalic r:id="rId22"/>
    </p:embeddedFont>
    <p:embeddedFont>
      <p:font typeface="Manjari"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qfD1JadqYaDJ2UGEphx//T5eB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225967-84F4-41DB-A9A1-D46E748321AC}">
  <a:tblStyle styleId="{2E225967-84F4-41DB-A9A1-D46E748321A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594" y="1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6" name="Google Shape;19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4" name="Google Shape;20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3" name="Google Shape;21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6"/>
          <p:cNvSpPr>
            <a:spLocks noGrp="1"/>
          </p:cNvSpPr>
          <p:nvPr>
            <p:ph type="pic" idx="2"/>
          </p:nvPr>
        </p:nvSpPr>
        <p:spPr>
          <a:xfrm>
            <a:off x="1792288" y="612775"/>
            <a:ext cx="5486400" cy="4114800"/>
          </a:xfrm>
          <a:prstGeom prst="rect">
            <a:avLst/>
          </a:prstGeom>
          <a:noFill/>
          <a:ln>
            <a:noFill/>
          </a:ln>
        </p:spPr>
      </p:sp>
      <p:sp>
        <p:nvSpPr>
          <p:cNvPr id="64" name="Google Shape;64;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85;p1"/>
          <p:cNvSpPr/>
          <p:nvPr/>
        </p:nvSpPr>
        <p:spPr>
          <a:xfrm rot="3230776">
            <a:off x="-3442537" y="-855281"/>
            <a:ext cx="16797211" cy="15270192"/>
          </a:xfrm>
          <a:custGeom>
            <a:avLst/>
            <a:gdLst/>
            <a:ahLst/>
            <a:cxnLst/>
            <a:rect l="l" t="t" r="r" b="b"/>
            <a:pathLst>
              <a:path w="16795899" h="15268999" extrusionOk="0">
                <a:moveTo>
                  <a:pt x="0" y="0"/>
                </a:moveTo>
                <a:lnTo>
                  <a:pt x="16795898" y="0"/>
                </a:lnTo>
                <a:lnTo>
                  <a:pt x="16795898" y="15268999"/>
                </a:lnTo>
                <a:lnTo>
                  <a:pt x="0" y="1526899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86;p1"/>
          <p:cNvSpPr/>
          <p:nvPr/>
        </p:nvSpPr>
        <p:spPr>
          <a:xfrm>
            <a:off x="13698426" y="1280999"/>
            <a:ext cx="3266674" cy="2477591"/>
          </a:xfrm>
          <a:custGeom>
            <a:avLst/>
            <a:gdLst/>
            <a:ahLst/>
            <a:cxnLst/>
            <a:rect l="l" t="t" r="r" b="b"/>
            <a:pathLst>
              <a:path w="2415286" h="2030812" extrusionOk="0">
                <a:moveTo>
                  <a:pt x="0" y="0"/>
                </a:moveTo>
                <a:lnTo>
                  <a:pt x="2415285" y="0"/>
                </a:lnTo>
                <a:lnTo>
                  <a:pt x="2415285" y="2030812"/>
                </a:lnTo>
                <a:lnTo>
                  <a:pt x="0" y="2030812"/>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87;p1"/>
          <p:cNvSpPr txBox="1"/>
          <p:nvPr/>
        </p:nvSpPr>
        <p:spPr>
          <a:xfrm>
            <a:off x="1883850" y="1552350"/>
            <a:ext cx="11338800" cy="1847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999"/>
              <a:buFont typeface="Arial"/>
              <a:buNone/>
            </a:pPr>
            <a:r>
              <a:rPr lang="es-MX" sz="6000" b="1" i="0" u="none" strike="noStrike" cap="none">
                <a:solidFill>
                  <a:srgbClr val="CCFFAB"/>
                </a:solidFill>
                <a:latin typeface="Alexandria"/>
                <a:ea typeface="Alexandria"/>
                <a:cs typeface="Alexandria"/>
                <a:sym typeface="Alexandria"/>
              </a:rPr>
              <a:t>PROYECTO INGECON GRUPO 12 - Incremento 2</a:t>
            </a:r>
            <a:endParaRPr sz="6000" b="0" i="0" u="none" strike="noStrike" cap="none">
              <a:solidFill>
                <a:srgbClr val="000000"/>
              </a:solidFill>
              <a:latin typeface="Arial"/>
              <a:ea typeface="Arial"/>
              <a:cs typeface="Arial"/>
              <a:sym typeface="Arial"/>
            </a:endParaRPr>
          </a:p>
        </p:txBody>
      </p:sp>
      <p:sp>
        <p:nvSpPr>
          <p:cNvPr id="88" name="Google Shape;88;p1"/>
          <p:cNvSpPr/>
          <p:nvPr/>
        </p:nvSpPr>
        <p:spPr>
          <a:xfrm>
            <a:off x="1356329" y="4846097"/>
            <a:ext cx="16340928" cy="3223339"/>
          </a:xfrm>
          <a:custGeom>
            <a:avLst/>
            <a:gdLst/>
            <a:ahLst/>
            <a:cxnLst/>
            <a:rect l="l" t="t" r="r" b="b"/>
            <a:pathLst>
              <a:path w="16340928" h="3223339" extrusionOk="0">
                <a:moveTo>
                  <a:pt x="0" y="0"/>
                </a:moveTo>
                <a:lnTo>
                  <a:pt x="16340928" y="0"/>
                </a:lnTo>
                <a:lnTo>
                  <a:pt x="16340928" y="3223339"/>
                </a:lnTo>
                <a:lnTo>
                  <a:pt x="0" y="3223339"/>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9" name="Google Shape;89;p1"/>
          <p:cNvSpPr txBox="1"/>
          <p:nvPr/>
        </p:nvSpPr>
        <p:spPr>
          <a:xfrm>
            <a:off x="2045723" y="4023371"/>
            <a:ext cx="7481100" cy="6808800"/>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Clr>
                <a:srgbClr val="000000"/>
              </a:buClr>
              <a:buSzPts val="3808"/>
              <a:buFont typeface="Arial"/>
              <a:buNone/>
            </a:pPr>
            <a:r>
              <a:rPr lang="es-MX" sz="3808" b="1" i="0" u="none" strike="noStrike" cap="none">
                <a:solidFill>
                  <a:srgbClr val="FFFFFF"/>
                </a:solidFill>
                <a:latin typeface="Cambay"/>
                <a:ea typeface="Cambay"/>
                <a:cs typeface="Cambay"/>
                <a:sym typeface="Cambay"/>
              </a:rPr>
              <a:t>Integrantes</a:t>
            </a:r>
            <a:endParaRPr sz="1400" b="0" i="0" u="none" strike="noStrike" cap="none">
              <a:solidFill>
                <a:srgbClr val="000000"/>
              </a:solidFill>
              <a:latin typeface="Arial"/>
              <a:ea typeface="Arial"/>
              <a:cs typeface="Arial"/>
              <a:sym typeface="Arial"/>
            </a:endParaRPr>
          </a:p>
          <a:p>
            <a:pPr marL="0" marR="0" lvl="0" indent="0" algn="l" rtl="0">
              <a:lnSpc>
                <a:spcPct val="120010"/>
              </a:lnSpc>
              <a:spcBef>
                <a:spcPts val="0"/>
              </a:spcBef>
              <a:spcAft>
                <a:spcPts val="0"/>
              </a:spcAft>
              <a:buClr>
                <a:srgbClr val="000000"/>
              </a:buClr>
              <a:buSzPts val="3808"/>
              <a:buFont typeface="Arial"/>
              <a:buNone/>
            </a:pPr>
            <a:endParaRPr sz="3808" b="1" i="0" u="none" strike="noStrike" cap="none">
              <a:solidFill>
                <a:srgbClr val="FFFFFF"/>
              </a:solidFill>
              <a:latin typeface="Cambay"/>
              <a:ea typeface="Cambay"/>
              <a:cs typeface="Cambay"/>
              <a:sym typeface="Cambay"/>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Diego Carabajal Belmar </a:t>
            </a:r>
            <a:endParaRPr sz="1400" b="0" i="0" u="none" strike="noStrike" cap="none">
              <a:solidFill>
                <a:srgbClr val="000000"/>
              </a:solidFill>
              <a:latin typeface="Arial"/>
              <a:ea typeface="Arial"/>
              <a:cs typeface="Arial"/>
              <a:sym typeface="Arial"/>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Tomás Hurtado Silva </a:t>
            </a:r>
            <a:endParaRPr sz="1400" b="0" i="0" u="none" strike="noStrike" cap="none">
              <a:solidFill>
                <a:srgbClr val="000000"/>
              </a:solidFill>
              <a:latin typeface="Arial"/>
              <a:ea typeface="Arial"/>
              <a:cs typeface="Arial"/>
              <a:sym typeface="Arial"/>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Vicente Ortega Nobizelli </a:t>
            </a:r>
            <a:endParaRPr sz="1400" b="0" i="0" u="none" strike="noStrike" cap="none">
              <a:solidFill>
                <a:srgbClr val="000000"/>
              </a:solidFill>
              <a:latin typeface="Arial"/>
              <a:ea typeface="Arial"/>
              <a:cs typeface="Arial"/>
              <a:sym typeface="Arial"/>
            </a:endParaRPr>
          </a:p>
          <a:p>
            <a:pPr marL="642238" marR="0" lvl="1" indent="-321118"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Benjamín Parraguez Aguirre </a:t>
            </a:r>
            <a:endParaRPr sz="1400" b="0" i="0" u="none" strike="noStrike" cap="none">
              <a:solidFill>
                <a:srgbClr val="000000"/>
              </a:solidFill>
              <a:latin typeface="Arial"/>
              <a:ea typeface="Arial"/>
              <a:cs typeface="Arial"/>
              <a:sym typeface="Arial"/>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Paulina Urrutia Moya </a:t>
            </a:r>
            <a:endParaRPr sz="1400" b="0" i="0" u="none" strike="noStrike" cap="none">
              <a:solidFill>
                <a:srgbClr val="000000"/>
              </a:solidFill>
              <a:latin typeface="Arial"/>
              <a:ea typeface="Arial"/>
              <a:cs typeface="Arial"/>
              <a:sym typeface="Arial"/>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p:txBody>
      </p:sp>
      <p:sp>
        <p:nvSpPr>
          <p:cNvPr id="90" name="Google Shape;90;p1"/>
          <p:cNvSpPr txBox="1"/>
          <p:nvPr/>
        </p:nvSpPr>
        <p:spPr>
          <a:xfrm>
            <a:off x="-2907545" y="8419315"/>
            <a:ext cx="16341000" cy="461700"/>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1" i="0" u="none" strike="noStrike" cap="none">
                <a:solidFill>
                  <a:srgbClr val="FFFFFF"/>
                </a:solidFill>
                <a:latin typeface="Arial"/>
                <a:ea typeface="Arial"/>
                <a:cs typeface="Arial"/>
                <a:sym typeface="Arial"/>
              </a:rPr>
              <a:t>Profesor: </a:t>
            </a:r>
            <a:r>
              <a:rPr lang="es-MX" sz="2999" b="0" i="0" u="none" strike="noStrike" cap="none">
                <a:solidFill>
                  <a:srgbClr val="FFFFFF"/>
                </a:solidFill>
                <a:latin typeface="Arial"/>
                <a:ea typeface="Arial"/>
                <a:cs typeface="Arial"/>
                <a:sym typeface="Arial"/>
              </a:rPr>
              <a:t>Paulo Quinsacara Jofré</a:t>
            </a:r>
            <a:endParaRPr sz="1400" b="0" i="0" u="none" strike="noStrike" cap="none">
              <a:solidFill>
                <a:srgbClr val="000000"/>
              </a:solidFill>
              <a:latin typeface="Arial"/>
              <a:ea typeface="Arial"/>
              <a:cs typeface="Arial"/>
              <a:sym typeface="Arial"/>
            </a:endParaRPr>
          </a:p>
        </p:txBody>
      </p:sp>
      <p:sp>
        <p:nvSpPr>
          <p:cNvPr id="91" name="Google Shape;91;p1"/>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a:solidFill>
                  <a:srgbClr val="FFFFFF"/>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p:nvPr/>
        </p:nvSpPr>
        <p:spPr>
          <a:xfrm>
            <a:off x="103239"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7" name="Google Shape;97;p2"/>
          <p:cNvSpPr/>
          <p:nvPr/>
        </p:nvSpPr>
        <p:spPr>
          <a:xfrm>
            <a:off x="655311" y="3572025"/>
            <a:ext cx="16340928" cy="3426834"/>
          </a:xfrm>
          <a:custGeom>
            <a:avLst/>
            <a:gdLst/>
            <a:ahLst/>
            <a:cxnLst/>
            <a:rect l="l" t="t" r="r" b="b"/>
            <a:pathLst>
              <a:path w="16340928" h="3223339" extrusionOk="0">
                <a:moveTo>
                  <a:pt x="0" y="0"/>
                </a:moveTo>
                <a:lnTo>
                  <a:pt x="16340928" y="0"/>
                </a:lnTo>
                <a:lnTo>
                  <a:pt x="16340928" y="3223339"/>
                </a:lnTo>
                <a:lnTo>
                  <a:pt x="0" y="3223339"/>
                </a:lnTo>
                <a:lnTo>
                  <a:pt x="0" y="0"/>
                </a:lnTo>
                <a:close/>
              </a:path>
            </a:pathLst>
          </a:custGeom>
          <a:noFill/>
          <a:ln>
            <a:noFill/>
          </a:ln>
        </p:spPr>
        <p:txBody>
          <a:bodyPr spcFirstLastPara="1" wrap="square" lIns="91425" tIns="45700" rIns="91425" bIns="45700" anchor="t" anchorCtr="0">
            <a:noAutofit/>
          </a:bodyPr>
          <a:lstStyle/>
          <a:p>
            <a:pPr marL="539748" marR="0" lvl="1" indent="-193674" algn="l" rtl="0">
              <a:lnSpc>
                <a:spcPct val="291583"/>
              </a:lnSpc>
              <a:spcBef>
                <a:spcPts val="0"/>
              </a:spcBef>
              <a:spcAft>
                <a:spcPts val="0"/>
              </a:spcAft>
              <a:buClr>
                <a:schemeClr val="dk1"/>
              </a:buClr>
              <a:buSzPts val="1200"/>
              <a:buFont typeface="Calibri"/>
              <a:buNone/>
            </a:pPr>
            <a:endParaRPr sz="1200" b="0" i="0" u="none" strike="noStrike" cap="none">
              <a:solidFill>
                <a:srgbClr val="FFFFFF"/>
              </a:solidFill>
              <a:latin typeface="Arial"/>
              <a:ea typeface="Arial"/>
              <a:cs typeface="Arial"/>
              <a:sym typeface="Arial"/>
            </a:endParaRPr>
          </a:p>
        </p:txBody>
      </p:sp>
      <p:sp>
        <p:nvSpPr>
          <p:cNvPr id="98" name="Google Shape;98;p2"/>
          <p:cNvSpPr/>
          <p:nvPr/>
        </p:nvSpPr>
        <p:spPr>
          <a:xfrm rot="3226633">
            <a:off x="-1894250" y="-3774095"/>
            <a:ext cx="20819845" cy="20706390"/>
          </a:xfrm>
          <a:custGeom>
            <a:avLst/>
            <a:gdLst/>
            <a:ahLst/>
            <a:cxnLst/>
            <a:rect l="l" t="t" r="r" b="b"/>
            <a:pathLst>
              <a:path w="16795899" h="15268999" extrusionOk="0">
                <a:moveTo>
                  <a:pt x="0" y="0"/>
                </a:moveTo>
                <a:lnTo>
                  <a:pt x="16795899" y="0"/>
                </a:lnTo>
                <a:lnTo>
                  <a:pt x="16795899" y="15268999"/>
                </a:lnTo>
                <a:lnTo>
                  <a:pt x="0" y="1526899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9" name="Google Shape;99;p2"/>
          <p:cNvSpPr txBox="1"/>
          <p:nvPr/>
        </p:nvSpPr>
        <p:spPr>
          <a:xfrm>
            <a:off x="2124540" y="1326697"/>
            <a:ext cx="7574100" cy="1545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37"/>
              <a:buFont typeface="Arial"/>
              <a:buNone/>
            </a:pPr>
            <a:r>
              <a:rPr lang="es-MX" sz="10037" b="1" i="0" u="none" strike="noStrike" cap="none">
                <a:solidFill>
                  <a:srgbClr val="CCFFAB"/>
                </a:solidFill>
                <a:latin typeface="Alexandria"/>
                <a:ea typeface="Alexandria"/>
                <a:cs typeface="Alexandria"/>
                <a:sym typeface="Alexandria"/>
              </a:rPr>
              <a:t>ÍNDICE</a:t>
            </a:r>
            <a:endParaRPr sz="1400" b="0" i="0" u="none" strike="noStrike" cap="none">
              <a:solidFill>
                <a:srgbClr val="000000"/>
              </a:solidFill>
              <a:latin typeface="Arial"/>
              <a:ea typeface="Arial"/>
              <a:cs typeface="Arial"/>
              <a:sym typeface="Arial"/>
            </a:endParaRPr>
          </a:p>
        </p:txBody>
      </p:sp>
      <p:sp>
        <p:nvSpPr>
          <p:cNvPr id="100" name="Google Shape;100;p2"/>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a:solidFill>
                  <a:srgbClr val="FFFFFF"/>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1" name="Google Shape;101;p2"/>
          <p:cNvSpPr txBox="1"/>
          <p:nvPr/>
        </p:nvSpPr>
        <p:spPr>
          <a:xfrm>
            <a:off x="2124550" y="3572025"/>
            <a:ext cx="7992000" cy="5287200"/>
          </a:xfrm>
          <a:prstGeom prst="rect">
            <a:avLst/>
          </a:prstGeom>
          <a:noFill/>
          <a:ln>
            <a:noFill/>
          </a:ln>
        </p:spPr>
        <p:txBody>
          <a:bodyPr spcFirstLastPara="1" wrap="square" lIns="91425" tIns="45700" rIns="91425" bIns="45700" anchor="t" anchorCtr="0">
            <a:spAutoFit/>
          </a:bodyPr>
          <a:lstStyle/>
          <a:p>
            <a:pPr marL="342900" marR="0" lvl="0" indent="-387350" algn="l" rtl="0">
              <a:lnSpc>
                <a:spcPct val="150000"/>
              </a:lnSpc>
              <a:spcBef>
                <a:spcPts val="0"/>
              </a:spcBef>
              <a:spcAft>
                <a:spcPts val="0"/>
              </a:spcAft>
              <a:buClr>
                <a:srgbClr val="FFFFFF"/>
              </a:buClr>
              <a:buSzPts val="2700"/>
              <a:buAutoNum type="arabicPeriod"/>
            </a:pPr>
            <a:r>
              <a:rPr lang="es-MX" sz="2700" b="1" i="0" u="none" strike="noStrike" cap="none">
                <a:solidFill>
                  <a:srgbClr val="FFFFFF"/>
                </a:solidFill>
              </a:rPr>
              <a:t>Introducción</a:t>
            </a:r>
            <a:endParaRPr sz="2100" b="1" i="0" u="none" strike="noStrike" cap="none">
              <a:solidFill>
                <a:srgbClr val="000000"/>
              </a:solidFill>
            </a:endParaRPr>
          </a:p>
          <a:p>
            <a:pPr marL="342900" marR="0" lvl="0" indent="-387350" algn="l" rtl="0">
              <a:lnSpc>
                <a:spcPct val="150000"/>
              </a:lnSpc>
              <a:spcBef>
                <a:spcPts val="0"/>
              </a:spcBef>
              <a:spcAft>
                <a:spcPts val="0"/>
              </a:spcAft>
              <a:buClr>
                <a:srgbClr val="FFFFFF"/>
              </a:buClr>
              <a:buSzPts val="2700"/>
              <a:buAutoNum type="arabicPeriod"/>
            </a:pPr>
            <a:r>
              <a:rPr lang="es-MX" sz="2700" b="1" i="0" u="none" strike="noStrike" cap="none">
                <a:solidFill>
                  <a:srgbClr val="FFFFFF"/>
                </a:solidFill>
              </a:rPr>
              <a:t>Resumen incremento</a:t>
            </a:r>
            <a:endParaRPr sz="2100" b="1" i="0" u="none" strike="noStrike" cap="none">
              <a:solidFill>
                <a:srgbClr val="000000"/>
              </a:solidFill>
            </a:endParaRPr>
          </a:p>
          <a:p>
            <a:pPr marL="342900" marR="0" lvl="0" indent="-387350" algn="l" rtl="0">
              <a:lnSpc>
                <a:spcPct val="150000"/>
              </a:lnSpc>
              <a:spcBef>
                <a:spcPts val="0"/>
              </a:spcBef>
              <a:spcAft>
                <a:spcPts val="0"/>
              </a:spcAft>
              <a:buClr>
                <a:srgbClr val="FFFFFF"/>
              </a:buClr>
              <a:buSzPts val="2700"/>
              <a:buAutoNum type="arabicPeriod"/>
            </a:pPr>
            <a:r>
              <a:rPr lang="es-MX" sz="2700" b="1" i="0" u="none" strike="noStrike" cap="none">
                <a:solidFill>
                  <a:srgbClr val="FFFFFF"/>
                </a:solidFill>
              </a:rPr>
              <a:t>Requerimientos funcionales importantes</a:t>
            </a:r>
            <a:endParaRPr sz="2100" b="1" i="0" u="none" strike="noStrike" cap="none">
              <a:solidFill>
                <a:srgbClr val="000000"/>
              </a:solidFill>
            </a:endParaRPr>
          </a:p>
          <a:p>
            <a:pPr marL="342900" marR="0" lvl="0" indent="-387350" algn="l" rtl="0">
              <a:lnSpc>
                <a:spcPct val="150000"/>
              </a:lnSpc>
              <a:spcBef>
                <a:spcPts val="0"/>
              </a:spcBef>
              <a:spcAft>
                <a:spcPts val="0"/>
              </a:spcAft>
              <a:buClr>
                <a:srgbClr val="FFFFFF"/>
              </a:buClr>
              <a:buSzPts val="2700"/>
              <a:buAutoNum type="arabicPeriod"/>
            </a:pPr>
            <a:r>
              <a:rPr lang="es-MX" sz="2700" b="1" i="0" u="none" strike="noStrike" cap="none">
                <a:solidFill>
                  <a:srgbClr val="FFFFFF"/>
                </a:solidFill>
              </a:rPr>
              <a:t>Diagrama de Componentes</a:t>
            </a:r>
            <a:endParaRPr sz="2100" b="1" i="0" u="none" strike="noStrike" cap="none">
              <a:solidFill>
                <a:srgbClr val="000000"/>
              </a:solidFill>
            </a:endParaRPr>
          </a:p>
          <a:p>
            <a:pPr marL="342900" marR="0" lvl="0" indent="-387350" algn="l" rtl="0">
              <a:lnSpc>
                <a:spcPct val="150000"/>
              </a:lnSpc>
              <a:spcBef>
                <a:spcPts val="0"/>
              </a:spcBef>
              <a:spcAft>
                <a:spcPts val="0"/>
              </a:spcAft>
              <a:buClr>
                <a:srgbClr val="FFFFFF"/>
              </a:buClr>
              <a:buSzPts val="2700"/>
              <a:buAutoNum type="arabicPeriod"/>
            </a:pPr>
            <a:r>
              <a:rPr lang="es-MX" sz="2700" b="1" i="0" u="none" strike="noStrike" cap="none">
                <a:solidFill>
                  <a:srgbClr val="FFFFFF"/>
                </a:solidFill>
              </a:rPr>
              <a:t>Casos de Uso y Diagramas de Secuencia</a:t>
            </a:r>
            <a:endParaRPr sz="2100" b="1" i="0" u="none" strike="noStrike" cap="none">
              <a:solidFill>
                <a:srgbClr val="000000"/>
              </a:solidFill>
            </a:endParaRPr>
          </a:p>
          <a:p>
            <a:pPr marL="342900" marR="0" lvl="0" indent="-387350" algn="l" rtl="0">
              <a:lnSpc>
                <a:spcPct val="150000"/>
              </a:lnSpc>
              <a:spcBef>
                <a:spcPts val="0"/>
              </a:spcBef>
              <a:spcAft>
                <a:spcPts val="0"/>
              </a:spcAft>
              <a:buClr>
                <a:srgbClr val="FFFFFF"/>
              </a:buClr>
              <a:buSzPts val="2700"/>
              <a:buAutoNum type="arabicPeriod"/>
            </a:pPr>
            <a:r>
              <a:rPr lang="es-MX" sz="2700" b="1" i="0" u="none" strike="noStrike" cap="none">
                <a:solidFill>
                  <a:srgbClr val="FFFFFF"/>
                </a:solidFill>
              </a:rPr>
              <a:t>Árbol de navegación</a:t>
            </a:r>
            <a:endParaRPr sz="2100" b="1" i="0" u="none" strike="noStrike" cap="none">
              <a:solidFill>
                <a:srgbClr val="000000"/>
              </a:solidFill>
            </a:endParaRPr>
          </a:p>
          <a:p>
            <a:pPr marL="342900" marR="0" lvl="0" indent="-387350" algn="l" rtl="0">
              <a:lnSpc>
                <a:spcPct val="150000"/>
              </a:lnSpc>
              <a:spcBef>
                <a:spcPts val="0"/>
              </a:spcBef>
              <a:spcAft>
                <a:spcPts val="0"/>
              </a:spcAft>
              <a:buClr>
                <a:srgbClr val="FFFFFF"/>
              </a:buClr>
              <a:buSzPts val="2700"/>
              <a:buAutoNum type="arabicPeriod"/>
            </a:pPr>
            <a:r>
              <a:rPr lang="es-MX" sz="2700" b="1" i="0" u="none" strike="noStrike" cap="none">
                <a:solidFill>
                  <a:srgbClr val="FFFFFF"/>
                </a:solidFill>
              </a:rPr>
              <a:t>Base de Datos: Diagrama de Clases</a:t>
            </a:r>
            <a:endParaRPr sz="2100" b="1" i="0" u="none" strike="noStrike" cap="none">
              <a:solidFill>
                <a:srgbClr val="000000"/>
              </a:solidFill>
            </a:endParaRPr>
          </a:p>
          <a:p>
            <a:pPr marL="342900" marR="0" lvl="0" indent="-22860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p:nvPr/>
        </p:nvSpPr>
        <p:spPr>
          <a:xfrm>
            <a:off x="-11"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7" name="Google Shape;107;p3"/>
          <p:cNvSpPr/>
          <p:nvPr/>
        </p:nvSpPr>
        <p:spPr>
          <a:xfrm>
            <a:off x="12741850" y="1586400"/>
            <a:ext cx="4734374" cy="2070321"/>
          </a:xfrm>
          <a:custGeom>
            <a:avLst/>
            <a:gdLst/>
            <a:ahLst/>
            <a:cxnLst/>
            <a:rect l="l" t="t" r="r" b="b"/>
            <a:pathLst>
              <a:path w="3928941" h="1703968" extrusionOk="0">
                <a:moveTo>
                  <a:pt x="0" y="0"/>
                </a:moveTo>
                <a:lnTo>
                  <a:pt x="3928941" y="0"/>
                </a:lnTo>
                <a:lnTo>
                  <a:pt x="3928941" y="1703969"/>
                </a:lnTo>
                <a:lnTo>
                  <a:pt x="0" y="1703969"/>
                </a:lnTo>
                <a:lnTo>
                  <a:pt x="0" y="0"/>
                </a:lnTo>
                <a:close/>
              </a:path>
            </a:pathLst>
          </a:custGeom>
          <a:blipFill rotWithShape="1">
            <a:blip r:embed="rId4">
              <a:alphaModFix/>
            </a:blip>
            <a:stretch>
              <a:fillRect t="-13432" b="-1343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8" name="Google Shape;108;p3"/>
          <p:cNvSpPr/>
          <p:nvPr/>
        </p:nvSpPr>
        <p:spPr>
          <a:xfrm>
            <a:off x="16574517" y="2782877"/>
            <a:ext cx="1262987" cy="828979"/>
          </a:xfrm>
          <a:custGeom>
            <a:avLst/>
            <a:gdLst/>
            <a:ahLst/>
            <a:cxnLst/>
            <a:rect l="l" t="t" r="r" b="b"/>
            <a:pathLst>
              <a:path w="1262987" h="828979" extrusionOk="0">
                <a:moveTo>
                  <a:pt x="0" y="0"/>
                </a:moveTo>
                <a:lnTo>
                  <a:pt x="1262987" y="0"/>
                </a:lnTo>
                <a:lnTo>
                  <a:pt x="1262987" y="828978"/>
                </a:lnTo>
                <a:lnTo>
                  <a:pt x="0" y="828978"/>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9" name="Google Shape;109;p3"/>
          <p:cNvSpPr/>
          <p:nvPr/>
        </p:nvSpPr>
        <p:spPr>
          <a:xfrm>
            <a:off x="-1134735" y="5127725"/>
            <a:ext cx="15926559" cy="3141602"/>
          </a:xfrm>
          <a:custGeom>
            <a:avLst/>
            <a:gdLst/>
            <a:ahLst/>
            <a:cxnLst/>
            <a:rect l="l" t="t" r="r" b="b"/>
            <a:pathLst>
              <a:path w="15926559" h="3141602" extrusionOk="0">
                <a:moveTo>
                  <a:pt x="0" y="0"/>
                </a:moveTo>
                <a:lnTo>
                  <a:pt x="15926559" y="0"/>
                </a:lnTo>
                <a:lnTo>
                  <a:pt x="15926559" y="3141603"/>
                </a:lnTo>
                <a:lnTo>
                  <a:pt x="0" y="3141603"/>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0" name="Google Shape;110;p3"/>
          <p:cNvSpPr txBox="1"/>
          <p:nvPr/>
        </p:nvSpPr>
        <p:spPr>
          <a:xfrm>
            <a:off x="1399234" y="1209675"/>
            <a:ext cx="11845324" cy="123667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9313"/>
              <a:buFont typeface="Arial"/>
              <a:buNone/>
            </a:pPr>
            <a:r>
              <a:rPr lang="es-MX" sz="9313" b="1" i="0" u="none" strike="noStrike" cap="none">
                <a:solidFill>
                  <a:srgbClr val="CCFFAB"/>
                </a:solidFill>
                <a:latin typeface="Alexandria"/>
                <a:ea typeface="Alexandria"/>
                <a:cs typeface="Alexandria"/>
                <a:sym typeface="Alexandria"/>
              </a:rPr>
              <a:t>INTRODUCCIÓN</a:t>
            </a:r>
            <a:endParaRPr sz="1400" b="0" i="0" u="none" strike="noStrike" cap="none">
              <a:solidFill>
                <a:srgbClr val="000000"/>
              </a:solidFill>
              <a:latin typeface="Arial"/>
              <a:ea typeface="Arial"/>
              <a:cs typeface="Arial"/>
              <a:sym typeface="Arial"/>
            </a:endParaRPr>
          </a:p>
        </p:txBody>
      </p:sp>
      <p:sp>
        <p:nvSpPr>
          <p:cNvPr id="111" name="Google Shape;111;p3"/>
          <p:cNvSpPr/>
          <p:nvPr/>
        </p:nvSpPr>
        <p:spPr>
          <a:xfrm>
            <a:off x="1052075" y="4313225"/>
            <a:ext cx="14678400" cy="4149900"/>
          </a:xfrm>
          <a:prstGeom prst="roundRect">
            <a:avLst>
              <a:gd name="adj" fmla="val 16667"/>
            </a:avLst>
          </a:prstGeom>
          <a:solidFill>
            <a:srgbClr val="53290A"/>
          </a:solidFill>
          <a:ln w="9525" cap="flat" cmpd="sng">
            <a:solidFill>
              <a:srgbClr val="AC784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12" name="Google Shape;112;p3"/>
          <p:cNvSpPr txBox="1"/>
          <p:nvPr/>
        </p:nvSpPr>
        <p:spPr>
          <a:xfrm>
            <a:off x="1550515" y="5463817"/>
            <a:ext cx="3512961" cy="2120773"/>
          </a:xfrm>
          <a:prstGeom prst="rect">
            <a:avLst/>
          </a:prstGeom>
          <a:noFill/>
          <a:ln>
            <a:noFill/>
          </a:ln>
        </p:spPr>
        <p:txBody>
          <a:bodyPr spcFirstLastPara="1" wrap="square" lIns="0" tIns="0" rIns="0" bIns="0" anchor="t" anchorCtr="0">
            <a:spAutoFit/>
          </a:bodyPr>
          <a:lstStyle/>
          <a:p>
            <a:pPr marL="0" marR="0" lvl="0" indent="0" algn="l" rtl="0">
              <a:lnSpc>
                <a:spcPct val="128011"/>
              </a:lnSpc>
              <a:spcBef>
                <a:spcPts val="0"/>
              </a:spcBef>
              <a:spcAft>
                <a:spcPts val="0"/>
              </a:spcAft>
              <a:buClr>
                <a:srgbClr val="000000"/>
              </a:buClr>
              <a:buSzPts val="2199"/>
              <a:buFont typeface="Arial"/>
              <a:buNone/>
            </a:pPr>
            <a:r>
              <a:rPr lang="es-MX" sz="2199" b="0" i="0" u="none" strike="noStrike" cap="none">
                <a:solidFill>
                  <a:srgbClr val="FFFFFF"/>
                </a:solidFill>
                <a:latin typeface="Manjari"/>
                <a:ea typeface="Manjari"/>
                <a:cs typeface="Manjari"/>
                <a:sym typeface="Manjari"/>
              </a:rPr>
              <a:t>Evolución desde la ingeniería manual de conectores hacia la industrialización y automatización de estructuras prefabricadas.</a:t>
            </a:r>
            <a:endParaRPr sz="1400" b="0" i="0" u="none" strike="noStrike" cap="none">
              <a:solidFill>
                <a:srgbClr val="000000"/>
              </a:solidFill>
              <a:latin typeface="Arial"/>
              <a:ea typeface="Arial"/>
              <a:cs typeface="Arial"/>
              <a:sym typeface="Arial"/>
            </a:endParaRPr>
          </a:p>
        </p:txBody>
      </p:sp>
      <p:sp>
        <p:nvSpPr>
          <p:cNvPr id="113" name="Google Shape;113;p3"/>
          <p:cNvSpPr txBox="1"/>
          <p:nvPr/>
        </p:nvSpPr>
        <p:spPr>
          <a:xfrm>
            <a:off x="6435887" y="5504012"/>
            <a:ext cx="3694499" cy="1768348"/>
          </a:xfrm>
          <a:prstGeom prst="rect">
            <a:avLst/>
          </a:prstGeom>
          <a:noFill/>
          <a:ln>
            <a:noFill/>
          </a:ln>
        </p:spPr>
        <p:txBody>
          <a:bodyPr spcFirstLastPara="1" wrap="square" lIns="0" tIns="0" rIns="0" bIns="0" anchor="t" anchorCtr="0">
            <a:spAutoFit/>
          </a:bodyPr>
          <a:lstStyle/>
          <a:p>
            <a:pPr marL="0" marR="0" lvl="0" indent="0" algn="l" rtl="0">
              <a:lnSpc>
                <a:spcPct val="128011"/>
              </a:lnSpc>
              <a:spcBef>
                <a:spcPts val="0"/>
              </a:spcBef>
              <a:spcAft>
                <a:spcPts val="0"/>
              </a:spcAft>
              <a:buClr>
                <a:srgbClr val="000000"/>
              </a:buClr>
              <a:buSzPts val="2199"/>
              <a:buFont typeface="Arial"/>
              <a:buNone/>
            </a:pPr>
            <a:r>
              <a:rPr lang="es-MX" sz="2199" b="0" i="0" u="none" strike="noStrike" cap="none">
                <a:solidFill>
                  <a:srgbClr val="FFFFFF"/>
                </a:solidFill>
                <a:latin typeface="Manjari"/>
                <a:ea typeface="Manjari"/>
                <a:cs typeface="Manjari"/>
                <a:sym typeface="Manjari"/>
              </a:rPr>
              <a:t>Carencia de una presencia digital robusta y de un canal formalizado para la gestión de cotizaciones y visualización de certificados.</a:t>
            </a:r>
            <a:endParaRPr sz="1400" b="0" i="0" u="none" strike="noStrike" cap="none">
              <a:solidFill>
                <a:srgbClr val="000000"/>
              </a:solidFill>
              <a:latin typeface="Arial"/>
              <a:ea typeface="Arial"/>
              <a:cs typeface="Arial"/>
              <a:sym typeface="Arial"/>
            </a:endParaRPr>
          </a:p>
        </p:txBody>
      </p:sp>
      <p:sp>
        <p:nvSpPr>
          <p:cNvPr id="114" name="Google Shape;114;p3"/>
          <p:cNvSpPr txBox="1"/>
          <p:nvPr/>
        </p:nvSpPr>
        <p:spPr>
          <a:xfrm>
            <a:off x="11324942" y="5504012"/>
            <a:ext cx="4405500" cy="2071800"/>
          </a:xfrm>
          <a:prstGeom prst="rect">
            <a:avLst/>
          </a:prstGeom>
          <a:noFill/>
          <a:ln>
            <a:noFill/>
          </a:ln>
        </p:spPr>
        <p:txBody>
          <a:bodyPr spcFirstLastPara="1" wrap="square" lIns="0" tIns="0" rIns="0" bIns="0" anchor="t" anchorCtr="0">
            <a:spAutoFit/>
          </a:bodyPr>
          <a:lstStyle/>
          <a:p>
            <a:pPr marL="0" marR="0" lvl="0" indent="0" algn="l" rtl="0">
              <a:lnSpc>
                <a:spcPct val="128011"/>
              </a:lnSpc>
              <a:spcBef>
                <a:spcPts val="0"/>
              </a:spcBef>
              <a:spcAft>
                <a:spcPts val="0"/>
              </a:spcAft>
              <a:buClr>
                <a:srgbClr val="000000"/>
              </a:buClr>
              <a:buSzPts val="2199"/>
              <a:buFont typeface="Arial"/>
              <a:buNone/>
            </a:pPr>
            <a:r>
              <a:rPr lang="es-MX" sz="2199" b="0" i="0" u="none" strike="noStrike" cap="none">
                <a:solidFill>
                  <a:srgbClr val="FFFFFF"/>
                </a:solidFill>
                <a:latin typeface="Manjari"/>
                <a:ea typeface="Manjari"/>
                <a:cs typeface="Manjari"/>
                <a:sym typeface="Manjari"/>
              </a:rPr>
              <a:t>Desarrollo de una plataforma web que funciona como vista técnica </a:t>
            </a:r>
            <a:r>
              <a:rPr lang="es-MX" sz="2199">
                <a:solidFill>
                  <a:srgbClr val="FFFFFF"/>
                </a:solidFill>
                <a:latin typeface="Manjari"/>
                <a:ea typeface="Manjari"/>
                <a:cs typeface="Manjari"/>
                <a:sym typeface="Manjari"/>
              </a:rPr>
              <a:t>pública</a:t>
            </a:r>
            <a:r>
              <a:rPr lang="es-MX" sz="2199" b="0" i="0" u="none" strike="noStrike" cap="none">
                <a:solidFill>
                  <a:srgbClr val="FFFFFF"/>
                </a:solidFill>
                <a:latin typeface="Manjari"/>
                <a:ea typeface="Manjari"/>
                <a:cs typeface="Manjari"/>
                <a:sym typeface="Manjari"/>
              </a:rPr>
              <a:t> y un panel de gestión interno seguro para el control administrativo.</a:t>
            </a:r>
            <a:endParaRPr sz="1400" b="0" i="0" u="none" strike="noStrike" cap="none">
              <a:solidFill>
                <a:srgbClr val="000000"/>
              </a:solidFill>
              <a:latin typeface="Arial"/>
              <a:ea typeface="Arial"/>
              <a:cs typeface="Arial"/>
              <a:sym typeface="Arial"/>
            </a:endParaRPr>
          </a:p>
        </p:txBody>
      </p:sp>
      <p:sp>
        <p:nvSpPr>
          <p:cNvPr id="115" name="Google Shape;115;p3"/>
          <p:cNvSpPr txBox="1"/>
          <p:nvPr/>
        </p:nvSpPr>
        <p:spPr>
          <a:xfrm>
            <a:off x="1558930" y="4750595"/>
            <a:ext cx="2279216" cy="562737"/>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3800"/>
              <a:buFont typeface="Arial"/>
              <a:buNone/>
            </a:pPr>
            <a:r>
              <a:rPr lang="es-MX" sz="3800" b="1" i="0" u="none" strike="noStrike" cap="none">
                <a:solidFill>
                  <a:srgbClr val="FFFFFF"/>
                </a:solidFill>
                <a:latin typeface="Manjari"/>
                <a:ea typeface="Manjari"/>
                <a:cs typeface="Manjari"/>
                <a:sym typeface="Manjari"/>
              </a:rPr>
              <a:t>Historia</a:t>
            </a: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6435887" y="4729631"/>
            <a:ext cx="2082208" cy="562737"/>
          </a:xfrm>
          <a:prstGeom prst="rect">
            <a:avLst/>
          </a:prstGeom>
          <a:noFill/>
          <a:ln>
            <a:noFill/>
          </a:ln>
        </p:spPr>
        <p:txBody>
          <a:bodyPr spcFirstLastPara="1" wrap="square" lIns="0" tIns="0" rIns="0" bIns="0" anchor="t" anchorCtr="0">
            <a:spAutoFit/>
          </a:bodyPr>
          <a:lstStyle/>
          <a:p>
            <a:pPr marL="0" marR="0" lvl="0" indent="0" algn="l" rtl="0">
              <a:lnSpc>
                <a:spcPct val="108002"/>
              </a:lnSpc>
              <a:spcBef>
                <a:spcPts val="0"/>
              </a:spcBef>
              <a:spcAft>
                <a:spcPts val="0"/>
              </a:spcAft>
              <a:buClr>
                <a:srgbClr val="000000"/>
              </a:buClr>
              <a:buSzPts val="3799"/>
              <a:buFont typeface="Arial"/>
              <a:buNone/>
            </a:pPr>
            <a:r>
              <a:rPr lang="es-MX" sz="3799" b="1" i="0" u="none" strike="noStrike" cap="none">
                <a:solidFill>
                  <a:srgbClr val="FFFFFF"/>
                </a:solidFill>
                <a:latin typeface="Manjari"/>
                <a:ea typeface="Manjari"/>
                <a:cs typeface="Manjari"/>
                <a:sym typeface="Manjari"/>
              </a:rPr>
              <a:t>Desafío</a:t>
            </a:r>
            <a:endParaRPr sz="1400" b="0" i="0" u="none" strike="noStrike" cap="none">
              <a:solidFill>
                <a:srgbClr val="000000"/>
              </a:solidFill>
              <a:latin typeface="Arial"/>
              <a:ea typeface="Arial"/>
              <a:cs typeface="Arial"/>
              <a:sym typeface="Arial"/>
            </a:endParaRPr>
          </a:p>
        </p:txBody>
      </p:sp>
      <p:sp>
        <p:nvSpPr>
          <p:cNvPr id="117" name="Google Shape;117;p3"/>
          <p:cNvSpPr txBox="1"/>
          <p:nvPr/>
        </p:nvSpPr>
        <p:spPr>
          <a:xfrm>
            <a:off x="11324942" y="4729631"/>
            <a:ext cx="3865355" cy="562737"/>
          </a:xfrm>
          <a:prstGeom prst="rect">
            <a:avLst/>
          </a:prstGeom>
          <a:noFill/>
          <a:ln>
            <a:noFill/>
          </a:ln>
        </p:spPr>
        <p:txBody>
          <a:bodyPr spcFirstLastPara="1" wrap="square" lIns="0" tIns="0" rIns="0" bIns="0" anchor="t" anchorCtr="0">
            <a:spAutoFit/>
          </a:bodyPr>
          <a:lstStyle/>
          <a:p>
            <a:pPr marL="0" marR="0" lvl="0" indent="0" algn="l" rtl="0">
              <a:lnSpc>
                <a:spcPct val="108002"/>
              </a:lnSpc>
              <a:spcBef>
                <a:spcPts val="0"/>
              </a:spcBef>
              <a:spcAft>
                <a:spcPts val="0"/>
              </a:spcAft>
              <a:buClr>
                <a:srgbClr val="000000"/>
              </a:buClr>
              <a:buSzPts val="3799"/>
              <a:buFont typeface="Arial"/>
              <a:buNone/>
            </a:pPr>
            <a:r>
              <a:rPr lang="es-MX" sz="3799" b="1" i="0" u="none" strike="noStrike" cap="none">
                <a:solidFill>
                  <a:srgbClr val="FFFFFF"/>
                </a:solidFill>
                <a:latin typeface="Manjari"/>
                <a:ea typeface="Manjari"/>
                <a:cs typeface="Manjari"/>
                <a:sym typeface="Manjari"/>
              </a:rPr>
              <a:t>Solución</a:t>
            </a:r>
            <a:endParaRPr sz="1400" b="0" i="0" u="none" strike="noStrike" cap="none">
              <a:solidFill>
                <a:srgbClr val="000000"/>
              </a:solidFill>
              <a:latin typeface="Arial"/>
              <a:ea typeface="Arial"/>
              <a:cs typeface="Arial"/>
              <a:sym typeface="Arial"/>
            </a:endParaRPr>
          </a:p>
        </p:txBody>
      </p:sp>
      <p:sp>
        <p:nvSpPr>
          <p:cNvPr id="118" name="Google Shape;118;p3"/>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a:solidFill>
                  <a:srgbClr val="FFFFFF"/>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p:nvPr/>
        </p:nvSpPr>
        <p:spPr>
          <a:xfrm>
            <a:off x="0" y="-12"/>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4" name="Google Shape;124;p4"/>
          <p:cNvSpPr/>
          <p:nvPr/>
        </p:nvSpPr>
        <p:spPr>
          <a:xfrm>
            <a:off x="9820447" y="4890910"/>
            <a:ext cx="7815719" cy="1541694"/>
          </a:xfrm>
          <a:custGeom>
            <a:avLst/>
            <a:gdLst/>
            <a:ahLst/>
            <a:cxnLst/>
            <a:rect l="l" t="t" r="r" b="b"/>
            <a:pathLst>
              <a:path w="7815719" h="1541694" extrusionOk="0">
                <a:moveTo>
                  <a:pt x="0" y="0"/>
                </a:moveTo>
                <a:lnTo>
                  <a:pt x="7815719" y="0"/>
                </a:lnTo>
                <a:lnTo>
                  <a:pt x="7815719" y="1541694"/>
                </a:lnTo>
                <a:lnTo>
                  <a:pt x="0" y="1541694"/>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aphicFrame>
        <p:nvGraphicFramePr>
          <p:cNvPr id="125" name="Google Shape;125;p4"/>
          <p:cNvGraphicFramePr/>
          <p:nvPr/>
        </p:nvGraphicFramePr>
        <p:xfrm>
          <a:off x="9901479" y="2454118"/>
          <a:ext cx="7994925" cy="5039250"/>
        </p:xfrm>
        <a:graphic>
          <a:graphicData uri="http://schemas.openxmlformats.org/drawingml/2006/table">
            <a:tbl>
              <a:tblPr>
                <a:noFill/>
                <a:tableStyleId>{2E225967-84F4-41DB-A9A1-D46E748321AC}</a:tableStyleId>
              </a:tblPr>
              <a:tblGrid>
                <a:gridCol w="2744775">
                  <a:extLst>
                    <a:ext uri="{9D8B030D-6E8A-4147-A177-3AD203B41FA5}">
                      <a16:colId xmlns:a16="http://schemas.microsoft.com/office/drawing/2014/main" val="20000"/>
                    </a:ext>
                  </a:extLst>
                </a:gridCol>
                <a:gridCol w="2284100">
                  <a:extLst>
                    <a:ext uri="{9D8B030D-6E8A-4147-A177-3AD203B41FA5}">
                      <a16:colId xmlns:a16="http://schemas.microsoft.com/office/drawing/2014/main" val="20001"/>
                    </a:ext>
                  </a:extLst>
                </a:gridCol>
                <a:gridCol w="2966050">
                  <a:extLst>
                    <a:ext uri="{9D8B030D-6E8A-4147-A177-3AD203B41FA5}">
                      <a16:colId xmlns:a16="http://schemas.microsoft.com/office/drawing/2014/main" val="20002"/>
                    </a:ext>
                  </a:extLst>
                </a:gridCol>
              </a:tblGrid>
              <a:tr h="1335400">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Incremento</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Porcentaje%</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Porcentaje Acumulado%</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extLst>
                  <a:ext uri="{0D108BD9-81ED-4DB2-BD59-A6C34878D82A}">
                    <a16:rowId xmlns:a16="http://schemas.microsoft.com/office/drawing/2014/main" val="10000"/>
                  </a:ext>
                </a:extLst>
              </a:tr>
              <a:tr h="935575">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1</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b="1" u="none" strike="noStrike" cap="none">
                          <a:solidFill>
                            <a:srgbClr val="000000"/>
                          </a:solidFill>
                          <a:latin typeface="Arial"/>
                          <a:ea typeface="Arial"/>
                          <a:cs typeface="Arial"/>
                          <a:sym typeface="Arial"/>
                        </a:rPr>
                        <a:t>30</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E59"/>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b="1" u="none" strike="noStrike" cap="none">
                          <a:solidFill>
                            <a:srgbClr val="000000"/>
                          </a:solidFill>
                          <a:latin typeface="Arial"/>
                          <a:ea typeface="Arial"/>
                          <a:cs typeface="Arial"/>
                          <a:sym typeface="Arial"/>
                        </a:rPr>
                        <a:t>30</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E59"/>
                    </a:solidFill>
                  </a:tcPr>
                </a:tc>
                <a:extLst>
                  <a:ext uri="{0D108BD9-81ED-4DB2-BD59-A6C34878D82A}">
                    <a16:rowId xmlns:a16="http://schemas.microsoft.com/office/drawing/2014/main" val="10001"/>
                  </a:ext>
                </a:extLst>
              </a:tr>
              <a:tr h="920200">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2</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b="1" u="none" strike="noStrike" cap="none">
                          <a:solidFill>
                            <a:srgbClr val="000000"/>
                          </a:solidFill>
                        </a:rPr>
                        <a:t>40</a:t>
                      </a:r>
                      <a:endParaRPr sz="1100" b="1"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E59"/>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b="1" u="none" strike="noStrike" cap="none">
                          <a:solidFill>
                            <a:srgbClr val="000000"/>
                          </a:solidFill>
                        </a:rPr>
                        <a:t>70</a:t>
                      </a:r>
                      <a:endParaRPr sz="1100" b="1"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E59"/>
                    </a:solidFill>
                  </a:tcPr>
                </a:tc>
                <a:extLst>
                  <a:ext uri="{0D108BD9-81ED-4DB2-BD59-A6C34878D82A}">
                    <a16:rowId xmlns:a16="http://schemas.microsoft.com/office/drawing/2014/main" val="10002"/>
                  </a:ext>
                </a:extLst>
              </a:tr>
              <a:tr h="920200">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3</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25</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95</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extLst>
                  <a:ext uri="{0D108BD9-81ED-4DB2-BD59-A6C34878D82A}">
                    <a16:rowId xmlns:a16="http://schemas.microsoft.com/office/drawing/2014/main" val="10003"/>
                  </a:ext>
                </a:extLst>
              </a:tr>
              <a:tr h="927875">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4</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D699"/>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5</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tc>
                  <a:txBody>
                    <a:bodyPr/>
                    <a:lstStyle/>
                    <a:p>
                      <a:pPr marL="0" marR="0" lvl="0" indent="0" algn="ctr" rtl="0">
                        <a:lnSpc>
                          <a:spcPct val="140020"/>
                        </a:lnSpc>
                        <a:spcBef>
                          <a:spcPts val="0"/>
                        </a:spcBef>
                        <a:spcAft>
                          <a:spcPts val="0"/>
                        </a:spcAft>
                        <a:buClr>
                          <a:srgbClr val="000000"/>
                        </a:buClr>
                        <a:buSzPts val="1999"/>
                        <a:buFont typeface="Arial"/>
                        <a:buNone/>
                      </a:pPr>
                      <a:r>
                        <a:rPr lang="es-MX" sz="1999" u="none" strike="noStrike" cap="none">
                          <a:solidFill>
                            <a:srgbClr val="000000"/>
                          </a:solidFill>
                          <a:latin typeface="Arial"/>
                          <a:ea typeface="Arial"/>
                          <a:cs typeface="Arial"/>
                          <a:sym typeface="Arial"/>
                        </a:rPr>
                        <a:t>100</a:t>
                      </a:r>
                      <a:endParaRPr sz="1100" u="none" strike="noStrike" cap="none"/>
                    </a:p>
                  </a:txBody>
                  <a:tcPr marL="190500" marR="190500" marT="190500" marB="1905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FF4E3"/>
                    </a:solidFill>
                  </a:tcPr>
                </a:tc>
                <a:extLst>
                  <a:ext uri="{0D108BD9-81ED-4DB2-BD59-A6C34878D82A}">
                    <a16:rowId xmlns:a16="http://schemas.microsoft.com/office/drawing/2014/main" val="10004"/>
                  </a:ext>
                </a:extLst>
              </a:tr>
            </a:tbl>
          </a:graphicData>
        </a:graphic>
      </p:graphicFrame>
      <p:sp>
        <p:nvSpPr>
          <p:cNvPr id="126" name="Google Shape;126;p4"/>
          <p:cNvSpPr/>
          <p:nvPr/>
        </p:nvSpPr>
        <p:spPr>
          <a:xfrm>
            <a:off x="16971153" y="4372228"/>
            <a:ext cx="518682" cy="518682"/>
          </a:xfrm>
          <a:custGeom>
            <a:avLst/>
            <a:gdLst/>
            <a:ahLst/>
            <a:cxnLst/>
            <a:rect l="l" t="t" r="r" b="b"/>
            <a:pathLst>
              <a:path w="518682" h="518682" extrusionOk="0">
                <a:moveTo>
                  <a:pt x="0" y="0"/>
                </a:moveTo>
                <a:lnTo>
                  <a:pt x="518682" y="0"/>
                </a:lnTo>
                <a:lnTo>
                  <a:pt x="518682" y="518682"/>
                </a:lnTo>
                <a:lnTo>
                  <a:pt x="0" y="518682"/>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7" name="Google Shape;127;p4"/>
          <p:cNvSpPr txBox="1"/>
          <p:nvPr/>
        </p:nvSpPr>
        <p:spPr>
          <a:xfrm>
            <a:off x="427475" y="470325"/>
            <a:ext cx="9474000" cy="8468700"/>
          </a:xfrm>
          <a:prstGeom prst="rect">
            <a:avLst/>
          </a:prstGeom>
          <a:noFill/>
          <a:ln>
            <a:noFill/>
          </a:ln>
        </p:spPr>
        <p:txBody>
          <a:bodyPr spcFirstLastPara="1" wrap="square" lIns="0" tIns="0" rIns="0" bIns="0" anchor="t" anchorCtr="0">
            <a:spAutoFit/>
          </a:bodyPr>
          <a:lstStyle/>
          <a:p>
            <a:pPr marL="0" marR="0" lvl="0" indent="0" algn="ctr" rtl="0">
              <a:lnSpc>
                <a:spcPct val="2051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ctr" rtl="0">
              <a:lnSpc>
                <a:spcPct val="2051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39988"/>
              </a:lnSpc>
              <a:spcBef>
                <a:spcPts val="0"/>
              </a:spcBef>
              <a:spcAft>
                <a:spcPts val="0"/>
              </a:spcAft>
              <a:buClr>
                <a:srgbClr val="000000"/>
              </a:buClr>
              <a:buSzPts val="3531"/>
              <a:buFont typeface="Arial"/>
              <a:buNone/>
            </a:pPr>
            <a:r>
              <a:rPr lang="es-MX" sz="3531" b="0" i="0" u="none" strike="noStrike" cap="none">
                <a:solidFill>
                  <a:srgbClr val="FFFFFF"/>
                </a:solidFill>
                <a:latin typeface="Alexandria"/>
                <a:ea typeface="Alexandria"/>
                <a:cs typeface="Alexandria"/>
                <a:sym typeface="Alexandria"/>
              </a:rPr>
              <a:t>Sistema web para apoyar la gestión pública y administrativa de la empresa.</a:t>
            </a:r>
            <a:endParaRPr sz="3531" b="0" i="0" u="none" strike="noStrike" cap="none">
              <a:solidFill>
                <a:srgbClr val="FFFFFF"/>
              </a:solidFill>
              <a:latin typeface="Alexandria"/>
              <a:ea typeface="Alexandria"/>
              <a:cs typeface="Alexandria"/>
              <a:sym typeface="Alexandria"/>
            </a:endParaRPr>
          </a:p>
          <a:p>
            <a:pPr marL="0" marR="0" lvl="0" indent="0" algn="l" rtl="0">
              <a:lnSpc>
                <a:spcPct val="139988"/>
              </a:lnSpc>
              <a:spcBef>
                <a:spcPts val="0"/>
              </a:spcBef>
              <a:spcAft>
                <a:spcPts val="0"/>
              </a:spcAft>
              <a:buClr>
                <a:srgbClr val="000000"/>
              </a:buClr>
              <a:buSzPts val="3531"/>
              <a:buFont typeface="Arial"/>
              <a:buNone/>
            </a:pPr>
            <a:r>
              <a:rPr lang="es-MX" sz="3531" b="0" i="0" u="none" strike="noStrike" cap="none">
                <a:solidFill>
                  <a:srgbClr val="E6CA69"/>
                </a:solidFill>
                <a:latin typeface="Alexandria"/>
                <a:ea typeface="Alexandria"/>
                <a:cs typeface="Alexandria"/>
                <a:sym typeface="Alexandria"/>
              </a:rPr>
              <a:t>Qué se presenta en el incremento </a:t>
            </a:r>
            <a:r>
              <a:rPr lang="es-MX" sz="3531">
                <a:solidFill>
                  <a:srgbClr val="E6CA69"/>
                </a:solidFill>
                <a:latin typeface="Alexandria"/>
                <a:ea typeface="Alexandria"/>
                <a:cs typeface="Alexandria"/>
                <a:sym typeface="Alexandria"/>
              </a:rPr>
              <a:t>2</a:t>
            </a:r>
            <a:r>
              <a:rPr lang="es-MX" sz="3531" b="0" i="0" u="none" strike="noStrike" cap="none">
                <a:solidFill>
                  <a:srgbClr val="E6CA69"/>
                </a:solidFill>
                <a:latin typeface="Alexandria"/>
                <a:ea typeface="Alexandria"/>
                <a:cs typeface="Alexandria"/>
                <a:sym typeface="Alexandria"/>
              </a:rPr>
              <a:t>?</a:t>
            </a:r>
            <a:endParaRPr sz="1400" b="0" i="0" u="none" strike="noStrike" cap="none">
              <a:solidFill>
                <a:srgbClr val="000000"/>
              </a:solidFill>
              <a:latin typeface="Arial"/>
              <a:ea typeface="Arial"/>
              <a:cs typeface="Arial"/>
              <a:sym typeface="Arial"/>
            </a:endParaRPr>
          </a:p>
          <a:p>
            <a:pPr marL="0" marR="0" lvl="0" indent="0" algn="l" rtl="0">
              <a:lnSpc>
                <a:spcPct val="122486"/>
              </a:lnSpc>
              <a:spcBef>
                <a:spcPts val="0"/>
              </a:spcBef>
              <a:spcAft>
                <a:spcPts val="0"/>
              </a:spcAft>
              <a:buClr>
                <a:srgbClr val="000000"/>
              </a:buClr>
              <a:buSzPts val="3531"/>
              <a:buFont typeface="Arial"/>
              <a:buNone/>
            </a:pPr>
            <a:endParaRPr sz="3531" b="0" i="0" u="none" strike="noStrike" cap="none">
              <a:solidFill>
                <a:srgbClr val="E6CA69"/>
              </a:solidFill>
              <a:latin typeface="Alexandria"/>
              <a:ea typeface="Alexandria"/>
              <a:cs typeface="Alexandria"/>
              <a:sym typeface="Alexandria"/>
            </a:endParaRPr>
          </a:p>
          <a:p>
            <a:pPr marL="569427" marR="0" lvl="1" indent="-284715" algn="l" rtl="0">
              <a:lnSpc>
                <a:spcPct val="140007"/>
              </a:lnSpc>
              <a:spcBef>
                <a:spcPts val="0"/>
              </a:spcBef>
              <a:spcAft>
                <a:spcPts val="0"/>
              </a:spcAft>
              <a:buClr>
                <a:srgbClr val="FFFFFF"/>
              </a:buClr>
              <a:buSzPts val="2637"/>
              <a:buFont typeface="Arial"/>
              <a:buChar char="•"/>
            </a:pPr>
            <a:r>
              <a:rPr lang="es-MX" sz="2637">
                <a:solidFill>
                  <a:srgbClr val="FFFFFF"/>
                </a:solidFill>
                <a:latin typeface="Alexandria"/>
                <a:ea typeface="Alexandria"/>
                <a:cs typeface="Alexandria"/>
                <a:sym typeface="Alexandria"/>
              </a:rPr>
              <a:t>Gestión de contenido multimedia del sitio: FAQ, Opiniones, Banner, Fases Industriales desde el Panel de Gestión.</a:t>
            </a:r>
            <a:endParaRPr sz="2637">
              <a:solidFill>
                <a:srgbClr val="FFFFFF"/>
              </a:solidFill>
              <a:latin typeface="Alexandria"/>
              <a:ea typeface="Alexandria"/>
              <a:cs typeface="Alexandria"/>
              <a:sym typeface="Alexandria"/>
            </a:endParaRPr>
          </a:p>
          <a:p>
            <a:pPr marL="569427" marR="0" lvl="1" indent="-284715" algn="l" rtl="0">
              <a:lnSpc>
                <a:spcPct val="140007"/>
              </a:lnSpc>
              <a:spcBef>
                <a:spcPts val="0"/>
              </a:spcBef>
              <a:spcAft>
                <a:spcPts val="0"/>
              </a:spcAft>
              <a:buClr>
                <a:srgbClr val="FFFFFF"/>
              </a:buClr>
              <a:buSzPts val="2637"/>
              <a:buFont typeface="Arial"/>
              <a:buChar char="•"/>
            </a:pPr>
            <a:r>
              <a:rPr lang="es-MX" sz="2637">
                <a:solidFill>
                  <a:srgbClr val="FFFFFF"/>
                </a:solidFill>
                <a:latin typeface="Alexandria"/>
                <a:ea typeface="Alexandria"/>
                <a:cs typeface="Alexandria"/>
                <a:sym typeface="Alexandria"/>
              </a:rPr>
              <a:t>Cambio de contraseña para el Personal de Administración.</a:t>
            </a:r>
            <a:endParaRPr sz="2637">
              <a:solidFill>
                <a:srgbClr val="FFFFFF"/>
              </a:solidFill>
              <a:latin typeface="Alexandria"/>
              <a:ea typeface="Alexandria"/>
              <a:cs typeface="Alexandria"/>
              <a:sym typeface="Alexandria"/>
            </a:endParaRPr>
          </a:p>
          <a:p>
            <a:pPr marL="569427" marR="0" lvl="1" indent="-284715" algn="l" rtl="0">
              <a:lnSpc>
                <a:spcPct val="140007"/>
              </a:lnSpc>
              <a:spcBef>
                <a:spcPts val="0"/>
              </a:spcBef>
              <a:spcAft>
                <a:spcPts val="0"/>
              </a:spcAft>
              <a:buClr>
                <a:srgbClr val="FFFFFF"/>
              </a:buClr>
              <a:buSzPts val="2637"/>
              <a:buFont typeface="Arial"/>
              <a:buChar char="•"/>
            </a:pPr>
            <a:r>
              <a:rPr lang="es-MX" sz="2637">
                <a:solidFill>
                  <a:srgbClr val="FFFFFF"/>
                </a:solidFill>
                <a:latin typeface="Alexandria"/>
                <a:ea typeface="Alexandria"/>
                <a:cs typeface="Alexandria"/>
                <a:sym typeface="Alexandria"/>
              </a:rPr>
              <a:t>Filtros de búsqueda en la galería de proyectos y registro de certificaciones.</a:t>
            </a:r>
            <a:endParaRPr sz="2637">
              <a:solidFill>
                <a:srgbClr val="FFFFFF"/>
              </a:solidFill>
              <a:latin typeface="Alexandria"/>
              <a:ea typeface="Alexandria"/>
              <a:cs typeface="Alexandria"/>
              <a:sym typeface="Alexandria"/>
            </a:endParaRPr>
          </a:p>
          <a:p>
            <a:pPr marL="0" marR="0" lvl="0" indent="0" algn="l" rtl="0">
              <a:lnSpc>
                <a:spcPct val="140007"/>
              </a:lnSpc>
              <a:spcBef>
                <a:spcPts val="0"/>
              </a:spcBef>
              <a:spcAft>
                <a:spcPts val="0"/>
              </a:spcAft>
              <a:buClr>
                <a:srgbClr val="000000"/>
              </a:buClr>
              <a:buSzPts val="2637"/>
              <a:buFont typeface="Arial"/>
              <a:buNone/>
            </a:pPr>
            <a:endParaRPr sz="2637" b="0" i="0" u="none" strike="noStrike" cap="none">
              <a:solidFill>
                <a:srgbClr val="FFFFFF"/>
              </a:solidFill>
              <a:latin typeface="Alexandria"/>
              <a:ea typeface="Alexandria"/>
              <a:cs typeface="Alexandria"/>
              <a:sym typeface="Alexandria"/>
            </a:endParaRPr>
          </a:p>
        </p:txBody>
      </p:sp>
      <p:sp>
        <p:nvSpPr>
          <p:cNvPr id="128" name="Google Shape;128;p4"/>
          <p:cNvSpPr txBox="1"/>
          <p:nvPr/>
        </p:nvSpPr>
        <p:spPr>
          <a:xfrm>
            <a:off x="1032155" y="112050"/>
            <a:ext cx="16223700" cy="1231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0"/>
              <a:buFont typeface="Arial"/>
              <a:buNone/>
            </a:pPr>
            <a:r>
              <a:rPr lang="es-MX" sz="8000" b="1" i="0" u="none" strike="noStrike" cap="none">
                <a:solidFill>
                  <a:srgbClr val="E6CA69"/>
                </a:solidFill>
                <a:latin typeface="Alexandria"/>
                <a:ea typeface="Alexandria"/>
                <a:cs typeface="Alexandria"/>
                <a:sym typeface="Alexandria"/>
              </a:rPr>
              <a:t>PROYECTO WEB INGECON</a:t>
            </a:r>
            <a:endParaRPr sz="1400" b="0" i="0" u="none" strike="noStrike" cap="none">
              <a:solidFill>
                <a:srgbClr val="000000"/>
              </a:solidFill>
              <a:latin typeface="Arial"/>
              <a:ea typeface="Arial"/>
              <a:cs typeface="Arial"/>
              <a:sym typeface="Arial"/>
            </a:endParaRPr>
          </a:p>
        </p:txBody>
      </p:sp>
      <p:sp>
        <p:nvSpPr>
          <p:cNvPr id="129" name="Google Shape;129;p4"/>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dirty="0">
                <a:solidFill>
                  <a:srgbClr val="FFFFFF"/>
                </a:solidFill>
                <a:latin typeface="Arial"/>
                <a:ea typeface="Arial"/>
                <a:cs typeface="Arial"/>
                <a:sym typeface="Arial"/>
              </a:rPr>
              <a:t>4</a:t>
            </a:r>
            <a:endParaRPr sz="1400" b="0" i="0" u="none" strike="noStrike" cap="none" dirty="0">
              <a:solidFill>
                <a:srgbClr val="000000"/>
              </a:solidFill>
              <a:latin typeface="Arial"/>
              <a:ea typeface="Arial"/>
              <a:cs typeface="Arial"/>
              <a:sym typeface="Arial"/>
            </a:endParaRPr>
          </a:p>
        </p:txBody>
      </p:sp>
      <p:sp>
        <p:nvSpPr>
          <p:cNvPr id="130" name="Google Shape;130;p4"/>
          <p:cNvSpPr/>
          <p:nvPr/>
        </p:nvSpPr>
        <p:spPr>
          <a:xfrm>
            <a:off x="13992033" y="4372228"/>
            <a:ext cx="518682" cy="518682"/>
          </a:xfrm>
          <a:custGeom>
            <a:avLst/>
            <a:gdLst/>
            <a:ahLst/>
            <a:cxnLst/>
            <a:rect l="l" t="t" r="r" b="b"/>
            <a:pathLst>
              <a:path w="518682" h="518682" extrusionOk="0">
                <a:moveTo>
                  <a:pt x="0" y="0"/>
                </a:moveTo>
                <a:lnTo>
                  <a:pt x="518682" y="0"/>
                </a:lnTo>
                <a:lnTo>
                  <a:pt x="518682" y="518682"/>
                </a:lnTo>
                <a:lnTo>
                  <a:pt x="0" y="518682"/>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6" name="Google Shape;136;p5"/>
          <p:cNvSpPr txBox="1"/>
          <p:nvPr/>
        </p:nvSpPr>
        <p:spPr>
          <a:xfrm>
            <a:off x="1028700" y="576499"/>
            <a:ext cx="17093100" cy="7284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4733"/>
              <a:buFont typeface="Arial"/>
              <a:buNone/>
            </a:pPr>
            <a:r>
              <a:rPr lang="es-MX" sz="4733" b="1" i="0" u="none" strike="noStrike" cap="none">
                <a:solidFill>
                  <a:srgbClr val="FFF7AD"/>
                </a:solidFill>
                <a:latin typeface="Arial"/>
                <a:ea typeface="Arial"/>
                <a:cs typeface="Arial"/>
                <a:sym typeface="Arial"/>
              </a:rPr>
              <a:t>Requerimientos funcionales: </a:t>
            </a:r>
            <a:r>
              <a:rPr lang="es-MX" sz="4733" b="1">
                <a:solidFill>
                  <a:srgbClr val="FFF7AD"/>
                </a:solidFill>
              </a:rPr>
              <a:t>Detalle de Consulta</a:t>
            </a:r>
            <a:endParaRPr sz="1400" b="0" i="0" u="none" strike="noStrike" cap="none">
              <a:solidFill>
                <a:srgbClr val="000000"/>
              </a:solidFill>
              <a:latin typeface="Arial"/>
              <a:ea typeface="Arial"/>
              <a:cs typeface="Arial"/>
              <a:sym typeface="Arial"/>
            </a:endParaRPr>
          </a:p>
        </p:txBody>
      </p:sp>
      <p:sp>
        <p:nvSpPr>
          <p:cNvPr id="137" name="Google Shape;137;p5"/>
          <p:cNvSpPr txBox="1"/>
          <p:nvPr/>
        </p:nvSpPr>
        <p:spPr>
          <a:xfrm>
            <a:off x="1028700" y="2222925"/>
            <a:ext cx="15595500" cy="19203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399"/>
              <a:buFont typeface="Arial"/>
              <a:buNone/>
            </a:pPr>
            <a:r>
              <a:rPr lang="es-MX" sz="2399" b="0" i="0" u="none" strike="noStrike" cap="none">
                <a:solidFill>
                  <a:srgbClr val="E6CA69"/>
                </a:solidFill>
                <a:latin typeface="Alexandria"/>
                <a:ea typeface="Alexandria"/>
                <a:cs typeface="Alexandria"/>
                <a:sym typeface="Alexandria"/>
              </a:rPr>
              <a:t>RF</a:t>
            </a:r>
            <a:r>
              <a:rPr lang="es-MX" sz="2399">
                <a:solidFill>
                  <a:srgbClr val="E6CA69"/>
                </a:solidFill>
                <a:latin typeface="Alexandria"/>
                <a:ea typeface="Alexandria"/>
                <a:cs typeface="Alexandria"/>
                <a:sym typeface="Alexandria"/>
              </a:rPr>
              <a:t>39: </a:t>
            </a:r>
            <a:r>
              <a:rPr lang="es-MX" sz="2399">
                <a:solidFill>
                  <a:schemeClr val="lt1"/>
                </a:solidFill>
                <a:latin typeface="Alexandria"/>
                <a:ea typeface="Alexandria"/>
                <a:cs typeface="Alexandria"/>
                <a:sym typeface="Alexandria"/>
              </a:rPr>
              <a:t>El sistema debe permitir al Personal de Administración leer el contenido de una Consulta específica desplegándose en una Ventana Modal.</a:t>
            </a:r>
            <a:endParaRPr sz="1400" b="0" i="0" u="none" strike="noStrike" cap="none">
              <a:solidFill>
                <a:schemeClr val="lt1"/>
              </a:solidFill>
              <a:latin typeface="Arial"/>
              <a:ea typeface="Arial"/>
              <a:cs typeface="Arial"/>
              <a:sym typeface="Arial"/>
            </a:endParaRPr>
          </a:p>
          <a:p>
            <a:pPr marL="0" marR="0" lvl="0" indent="0" algn="l" rtl="0">
              <a:lnSpc>
                <a:spcPct val="140016"/>
              </a:lnSpc>
              <a:spcBef>
                <a:spcPts val="0"/>
              </a:spcBef>
              <a:spcAft>
                <a:spcPts val="0"/>
              </a:spcAft>
              <a:buClr>
                <a:srgbClr val="000000"/>
              </a:buClr>
              <a:buSzPts val="2399"/>
              <a:buFont typeface="Arial"/>
              <a:buNone/>
            </a:pPr>
            <a:endParaRPr sz="2399" b="0" i="0" u="none" strike="noStrike" cap="none">
              <a:solidFill>
                <a:srgbClr val="FFFFFF"/>
              </a:solidFill>
              <a:latin typeface="Alexandria"/>
              <a:ea typeface="Alexandria"/>
              <a:cs typeface="Alexandria"/>
              <a:sym typeface="Alexandria"/>
            </a:endParaRPr>
          </a:p>
          <a:p>
            <a:pPr marL="0" marR="0" lvl="0" indent="0" algn="l" rtl="0">
              <a:lnSpc>
                <a:spcPct val="140016"/>
              </a:lnSpc>
              <a:spcBef>
                <a:spcPts val="0"/>
              </a:spcBef>
              <a:spcAft>
                <a:spcPts val="0"/>
              </a:spcAft>
              <a:buClr>
                <a:srgbClr val="000000"/>
              </a:buClr>
              <a:buSzPts val="2399"/>
              <a:buFont typeface="Arial"/>
              <a:buNone/>
            </a:pPr>
            <a:endParaRPr sz="2399" b="0" i="0" u="none" strike="noStrike" cap="none">
              <a:solidFill>
                <a:srgbClr val="FFFFFF"/>
              </a:solidFill>
              <a:latin typeface="Alexandria"/>
              <a:ea typeface="Alexandria"/>
              <a:cs typeface="Alexandria"/>
              <a:sym typeface="Alexandria"/>
            </a:endParaRPr>
          </a:p>
        </p:txBody>
      </p:sp>
      <p:sp>
        <p:nvSpPr>
          <p:cNvPr id="138" name="Google Shape;138;p5"/>
          <p:cNvSpPr txBox="1"/>
          <p:nvPr/>
        </p:nvSpPr>
        <p:spPr>
          <a:xfrm>
            <a:off x="1028700" y="3093350"/>
            <a:ext cx="14796600" cy="1920300"/>
          </a:xfrm>
          <a:prstGeom prst="rect">
            <a:avLst/>
          </a:prstGeom>
          <a:noFill/>
          <a:ln>
            <a:noFill/>
          </a:ln>
        </p:spPr>
        <p:txBody>
          <a:bodyPr spcFirstLastPara="1" wrap="square" lIns="0" tIns="0" rIns="0" bIns="0" anchor="t" anchorCtr="0">
            <a:spAutoFit/>
          </a:bodyPr>
          <a:lstStyle/>
          <a:p>
            <a:pPr marL="0" marR="0" lvl="0" indent="0" algn="l" rtl="0">
              <a:lnSpc>
                <a:spcPct val="186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40016"/>
              </a:lnSpc>
              <a:spcBef>
                <a:spcPts val="0"/>
              </a:spcBef>
              <a:spcAft>
                <a:spcPts val="0"/>
              </a:spcAft>
              <a:buClr>
                <a:srgbClr val="000000"/>
              </a:buClr>
              <a:buSzPts val="2399"/>
              <a:buFont typeface="Arial"/>
              <a:buNone/>
            </a:pPr>
            <a:r>
              <a:rPr lang="es-MX" sz="2399">
                <a:solidFill>
                  <a:srgbClr val="FEFEFE"/>
                </a:solidFill>
                <a:latin typeface="Alexandria"/>
                <a:ea typeface="Alexandria"/>
                <a:cs typeface="Alexandria"/>
                <a:sym typeface="Alexandria"/>
              </a:rPr>
              <a:t>Con esta funcionalidad, se mejora la trazabilidad de las consultas recibidas, permitiendo al Personal de Administración acceder rápidamente a la información completa de cada solicitud para dar una respuesta oportuna.</a:t>
            </a:r>
            <a:endParaRPr sz="1400" b="0" i="0" u="none" strike="noStrike" cap="none">
              <a:solidFill>
                <a:srgbClr val="000000"/>
              </a:solidFill>
              <a:latin typeface="Arial"/>
              <a:ea typeface="Arial"/>
              <a:cs typeface="Arial"/>
              <a:sym typeface="Arial"/>
            </a:endParaRPr>
          </a:p>
        </p:txBody>
      </p:sp>
      <p:pic>
        <p:nvPicPr>
          <p:cNvPr id="139" name="Google Shape;139;p5"/>
          <p:cNvPicPr preferRelativeResize="0"/>
          <p:nvPr/>
        </p:nvPicPr>
        <p:blipFill>
          <a:blip r:embed="rId4">
            <a:alphaModFix/>
          </a:blip>
          <a:stretch>
            <a:fillRect/>
          </a:stretch>
        </p:blipFill>
        <p:spPr>
          <a:xfrm>
            <a:off x="1481451" y="5435600"/>
            <a:ext cx="13891101" cy="3073250"/>
          </a:xfrm>
          <a:prstGeom prst="rect">
            <a:avLst/>
          </a:prstGeom>
          <a:noFill/>
          <a:ln>
            <a:noFill/>
          </a:ln>
        </p:spPr>
      </p:pic>
      <p:sp>
        <p:nvSpPr>
          <p:cNvPr id="5" name="CuadroTexto 4">
            <a:extLst>
              <a:ext uri="{FF2B5EF4-FFF2-40B4-BE49-F238E27FC236}">
                <a16:creationId xmlns:a16="http://schemas.microsoft.com/office/drawing/2014/main" id="{A6B9DF89-79EC-A62A-E8B3-02E597AAD7D8}"/>
              </a:ext>
            </a:extLst>
          </p:cNvPr>
          <p:cNvSpPr txBox="1"/>
          <p:nvPr/>
        </p:nvSpPr>
        <p:spPr>
          <a:xfrm>
            <a:off x="12747525" y="9264104"/>
            <a:ext cx="9144000" cy="702821"/>
          </a:xfrm>
          <a:prstGeom prst="rect">
            <a:avLst/>
          </a:prstGeom>
          <a:noFill/>
        </p:spPr>
        <p:txBody>
          <a:bodyPr wrap="square">
            <a:spAutoFit/>
          </a:bodyPr>
          <a:lstStyle/>
          <a:p>
            <a:pPr marL="0" marR="0" lvl="0" indent="0" algn="ctr" rtl="0">
              <a:lnSpc>
                <a:spcPct val="140013"/>
              </a:lnSpc>
              <a:spcBef>
                <a:spcPts val="0"/>
              </a:spcBef>
              <a:spcAft>
                <a:spcPts val="0"/>
              </a:spcAft>
              <a:buClr>
                <a:srgbClr val="000000"/>
              </a:buClr>
              <a:buSzPts val="2999"/>
              <a:buFont typeface="Arial"/>
              <a:buNone/>
            </a:pPr>
            <a:r>
              <a:rPr lang="es-MX" sz="3200" b="0" i="0" u="none" strike="noStrike" cap="none" dirty="0">
                <a:solidFill>
                  <a:srgbClr val="FFFFFF"/>
                </a:solidFill>
                <a:latin typeface="Arial"/>
                <a:ea typeface="Arial"/>
                <a:cs typeface="Arial"/>
                <a:sym typeface="Arial"/>
              </a:rPr>
              <a:t>5</a:t>
            </a:r>
            <a:endParaRPr lang="es-MX"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p:nvPr/>
        </p:nvSpPr>
        <p:spPr>
          <a:xfrm rot="54000">
            <a:off x="-79663" y="-142993"/>
            <a:ext cx="18447325" cy="10572986"/>
          </a:xfrm>
          <a:custGeom>
            <a:avLst/>
            <a:gdLst/>
            <a:ahLst/>
            <a:cxnLst/>
            <a:rect l="l" t="t" r="r" b="b"/>
            <a:pathLst>
              <a:path w="18447325" h="10572986" extrusionOk="0">
                <a:moveTo>
                  <a:pt x="0" y="287255"/>
                </a:moveTo>
                <a:lnTo>
                  <a:pt x="18285744" y="0"/>
                </a:lnTo>
                <a:lnTo>
                  <a:pt x="18447326" y="10285731"/>
                </a:lnTo>
                <a:lnTo>
                  <a:pt x="161582" y="10572986"/>
                </a:lnTo>
                <a:lnTo>
                  <a:pt x="0" y="287255"/>
                </a:lnTo>
                <a:close/>
              </a:path>
            </a:pathLst>
          </a:custGeom>
          <a:blipFill rotWithShape="1">
            <a:blip r:embed="rId3">
              <a:alphaModFix/>
            </a:blip>
            <a:stretch>
              <a:fillRect l="-404" t="-46870" r="-1258" b="-3050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5" name="Google Shape;145;p6"/>
          <p:cNvSpPr txBox="1"/>
          <p:nvPr/>
        </p:nvSpPr>
        <p:spPr>
          <a:xfrm>
            <a:off x="1112273" y="1549125"/>
            <a:ext cx="8840700" cy="4505700"/>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Clr>
                <a:srgbClr val="000000"/>
              </a:buClr>
              <a:buSzPts val="2400"/>
              <a:buFont typeface="Arial"/>
              <a:buNone/>
            </a:pPr>
            <a:r>
              <a:rPr lang="es-MX" sz="2400" b="0" i="0" u="none" strike="noStrike" cap="none">
                <a:solidFill>
                  <a:srgbClr val="E6CA69"/>
                </a:solidFill>
                <a:latin typeface="Alexandria"/>
                <a:ea typeface="Alexandria"/>
                <a:cs typeface="Alexandria"/>
                <a:sym typeface="Alexandria"/>
              </a:rPr>
              <a:t>RF</a:t>
            </a:r>
            <a:r>
              <a:rPr lang="es-MX" sz="2400">
                <a:solidFill>
                  <a:srgbClr val="E6CA69"/>
                </a:solidFill>
                <a:latin typeface="Alexandria"/>
                <a:ea typeface="Alexandria"/>
                <a:cs typeface="Alexandria"/>
                <a:sym typeface="Alexandria"/>
              </a:rPr>
              <a:t>2</a:t>
            </a:r>
            <a:r>
              <a:rPr lang="es-MX" sz="2400" b="0" i="0" u="none" strike="noStrike" cap="none">
                <a:solidFill>
                  <a:srgbClr val="E6CA69"/>
                </a:solidFill>
                <a:latin typeface="Alexandria"/>
                <a:ea typeface="Alexandria"/>
                <a:cs typeface="Alexandria"/>
                <a:sym typeface="Alexandria"/>
              </a:rPr>
              <a:t>8: </a:t>
            </a:r>
            <a:r>
              <a:rPr lang="es-MX" sz="2400">
                <a:solidFill>
                  <a:srgbClr val="FEFEFE"/>
                </a:solidFill>
                <a:latin typeface="Alexandria"/>
                <a:ea typeface="Alexandria"/>
                <a:cs typeface="Alexandria"/>
                <a:sym typeface="Alexandria"/>
              </a:rPr>
              <a:t>El sistema debe permitir al Personal de Administración, estando autenticado en el Panel de Gestión, cambiar su contraseña. Al seleccionar la opción "Cambiar Contraseña", el sistema despliega el Formulario solicitando la Contraseña Actual, la Nueva Contraseña y su Confirmación, validando que cumplan las reglas de seguridad establecidas.</a:t>
            </a:r>
            <a:endParaRPr sz="2400" b="0" i="0" u="none" strike="noStrike" cap="none">
              <a:solidFill>
                <a:srgbClr val="FEFEFE"/>
              </a:solidFill>
              <a:latin typeface="Alexandria"/>
              <a:ea typeface="Alexandria"/>
              <a:cs typeface="Alexandria"/>
              <a:sym typeface="Alexandria"/>
            </a:endParaRPr>
          </a:p>
          <a:p>
            <a:pPr marL="0" marR="0" lvl="0" indent="0" algn="l" rtl="0">
              <a:lnSpc>
                <a:spcPct val="139958"/>
              </a:lnSpc>
              <a:spcBef>
                <a:spcPts val="0"/>
              </a:spcBef>
              <a:spcAft>
                <a:spcPts val="0"/>
              </a:spcAft>
              <a:buClr>
                <a:srgbClr val="000000"/>
              </a:buClr>
              <a:buSzPts val="2400"/>
              <a:buFont typeface="Arial"/>
              <a:buNone/>
            </a:pPr>
            <a:endParaRPr sz="2400" b="0" i="0" u="none" strike="noStrike" cap="none">
              <a:solidFill>
                <a:srgbClr val="FEFEFE"/>
              </a:solidFill>
              <a:latin typeface="Alexandria"/>
              <a:ea typeface="Alexandria"/>
              <a:cs typeface="Alexandria"/>
              <a:sym typeface="Alexandria"/>
            </a:endParaRPr>
          </a:p>
          <a:p>
            <a:pPr marL="0" marR="0" lvl="0" indent="0" algn="l" rtl="0">
              <a:lnSpc>
                <a:spcPct val="139958"/>
              </a:lnSpc>
              <a:spcBef>
                <a:spcPts val="0"/>
              </a:spcBef>
              <a:spcAft>
                <a:spcPts val="0"/>
              </a:spcAft>
              <a:buClr>
                <a:srgbClr val="000000"/>
              </a:buClr>
              <a:buSzPts val="2400"/>
              <a:buFont typeface="Arial"/>
              <a:buNone/>
            </a:pPr>
            <a:endParaRPr sz="2400" b="0" i="0" u="none" strike="noStrike" cap="none">
              <a:solidFill>
                <a:srgbClr val="FEFEFE"/>
              </a:solidFill>
              <a:latin typeface="Alexandria"/>
              <a:ea typeface="Alexandria"/>
              <a:cs typeface="Alexandria"/>
              <a:sym typeface="Alexandria"/>
            </a:endParaRPr>
          </a:p>
        </p:txBody>
      </p:sp>
      <p:sp>
        <p:nvSpPr>
          <p:cNvPr id="146" name="Google Shape;146;p6"/>
          <p:cNvSpPr txBox="1"/>
          <p:nvPr/>
        </p:nvSpPr>
        <p:spPr>
          <a:xfrm>
            <a:off x="17259300" y="9210675"/>
            <a:ext cx="152400" cy="20002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a:solidFill>
                  <a:srgbClr val="FFFFFF"/>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147" name="Google Shape;147;p6"/>
          <p:cNvSpPr txBox="1"/>
          <p:nvPr/>
        </p:nvSpPr>
        <p:spPr>
          <a:xfrm>
            <a:off x="1112273" y="5625725"/>
            <a:ext cx="8624100" cy="14034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399"/>
              <a:buFont typeface="Arial"/>
              <a:buNone/>
            </a:pPr>
            <a:r>
              <a:rPr lang="es-MX" sz="2399">
                <a:solidFill>
                  <a:srgbClr val="FEFEFE"/>
                </a:solidFill>
              </a:rPr>
              <a:t>Con esta funcionalidad, se refuerza la seguridad del Panel de Gestión, permitiendo al Personal de Administración proteger su cuenta.</a:t>
            </a:r>
            <a:endParaRPr sz="1400" b="0" i="0" u="none" strike="noStrike" cap="none">
              <a:solidFill>
                <a:srgbClr val="000000"/>
              </a:solidFill>
              <a:latin typeface="Arial"/>
              <a:ea typeface="Arial"/>
              <a:cs typeface="Arial"/>
              <a:sym typeface="Arial"/>
            </a:endParaRPr>
          </a:p>
        </p:txBody>
      </p:sp>
      <p:sp>
        <p:nvSpPr>
          <p:cNvPr id="148" name="Google Shape;148;p6"/>
          <p:cNvSpPr txBox="1"/>
          <p:nvPr/>
        </p:nvSpPr>
        <p:spPr>
          <a:xfrm>
            <a:off x="889527" y="219549"/>
            <a:ext cx="17093100" cy="7284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4733"/>
              <a:buFont typeface="Arial"/>
              <a:buNone/>
            </a:pPr>
            <a:r>
              <a:rPr lang="es-MX" sz="4733" b="1" i="0" u="none" strike="noStrike" cap="none">
                <a:solidFill>
                  <a:srgbClr val="FFF7AD"/>
                </a:solidFill>
                <a:latin typeface="Arial"/>
                <a:ea typeface="Arial"/>
                <a:cs typeface="Arial"/>
                <a:sym typeface="Arial"/>
              </a:rPr>
              <a:t>Requerimientos funcionales: </a:t>
            </a:r>
            <a:r>
              <a:rPr lang="es-MX" sz="4733" b="1">
                <a:solidFill>
                  <a:srgbClr val="FFF7AD"/>
                </a:solidFill>
              </a:rPr>
              <a:t>Cambio de Contraseña</a:t>
            </a:r>
            <a:endParaRPr sz="1400" b="0" i="0" u="none" strike="noStrike" cap="none">
              <a:solidFill>
                <a:srgbClr val="000000"/>
              </a:solidFill>
              <a:latin typeface="Arial"/>
              <a:ea typeface="Arial"/>
              <a:cs typeface="Arial"/>
              <a:sym typeface="Arial"/>
            </a:endParaRPr>
          </a:p>
        </p:txBody>
      </p:sp>
      <p:pic>
        <p:nvPicPr>
          <p:cNvPr id="149" name="Google Shape;149;p6"/>
          <p:cNvPicPr preferRelativeResize="0"/>
          <p:nvPr/>
        </p:nvPicPr>
        <p:blipFill>
          <a:blip r:embed="rId4">
            <a:alphaModFix/>
          </a:blip>
          <a:stretch>
            <a:fillRect/>
          </a:stretch>
        </p:blipFill>
        <p:spPr>
          <a:xfrm>
            <a:off x="10218550" y="1680700"/>
            <a:ext cx="7443549" cy="58353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5" name="Google Shape;155;p7"/>
          <p:cNvSpPr txBox="1"/>
          <p:nvPr/>
        </p:nvSpPr>
        <p:spPr>
          <a:xfrm>
            <a:off x="4691185" y="183936"/>
            <a:ext cx="14423992" cy="669926"/>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Clr>
                <a:srgbClr val="000000"/>
              </a:buClr>
              <a:buSzPts val="3999"/>
              <a:buFont typeface="Arial"/>
              <a:buNone/>
            </a:pPr>
            <a:r>
              <a:rPr lang="es-MX" sz="3999" b="1" i="0" u="none" strike="noStrike" cap="none">
                <a:solidFill>
                  <a:srgbClr val="FFF7AD"/>
                </a:solidFill>
                <a:latin typeface="Arial"/>
                <a:ea typeface="Arial"/>
                <a:cs typeface="Arial"/>
                <a:sym typeface="Arial"/>
              </a:rPr>
              <a:t>DIAGRAMA DE COMPONENTES</a:t>
            </a:r>
            <a:endParaRPr sz="1400" b="0" i="0" u="none" strike="noStrike" cap="none">
              <a:solidFill>
                <a:srgbClr val="000000"/>
              </a:solidFill>
              <a:latin typeface="Arial"/>
              <a:ea typeface="Arial"/>
              <a:cs typeface="Arial"/>
              <a:sym typeface="Arial"/>
            </a:endParaRPr>
          </a:p>
        </p:txBody>
      </p:sp>
      <p:sp>
        <p:nvSpPr>
          <p:cNvPr id="156" name="Google Shape;156;p7"/>
          <p:cNvSpPr txBox="1"/>
          <p:nvPr/>
        </p:nvSpPr>
        <p:spPr>
          <a:xfrm>
            <a:off x="17240922" y="9210675"/>
            <a:ext cx="189155"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a:solidFill>
                  <a:srgbClr val="FFFFFF"/>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p:txBody>
      </p:sp>
      <p:pic>
        <p:nvPicPr>
          <p:cNvPr id="157" name="Google Shape;157;p7"/>
          <p:cNvPicPr preferRelativeResize="0"/>
          <p:nvPr/>
        </p:nvPicPr>
        <p:blipFill>
          <a:blip r:embed="rId4">
            <a:alphaModFix/>
          </a:blip>
          <a:stretch>
            <a:fillRect/>
          </a:stretch>
        </p:blipFill>
        <p:spPr>
          <a:xfrm>
            <a:off x="0" y="971282"/>
            <a:ext cx="18288000" cy="72598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txBody>
          <a:bodyPr spcFirstLastPara="1" wrap="square" lIns="91425" tIns="45700" rIns="91425" bIns="45700" anchor="t" anchorCtr="0">
            <a:noAutofit/>
          </a:bodyPr>
          <a:lstStyle/>
          <a:p>
            <a:pPr marL="914400" lvl="0" indent="0" algn="l" rtl="0">
              <a:lnSpc>
                <a:spcPct val="14001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8"/>
          <p:cNvSpPr txBox="1"/>
          <p:nvPr/>
        </p:nvSpPr>
        <p:spPr>
          <a:xfrm>
            <a:off x="1234900" y="549625"/>
            <a:ext cx="16216800" cy="615600"/>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Clr>
                <a:srgbClr val="000000"/>
              </a:buClr>
              <a:buSzPts val="3999"/>
              <a:buFont typeface="Arial"/>
              <a:buNone/>
            </a:pPr>
            <a:r>
              <a:rPr lang="es-MX" sz="3999" b="1" i="0" u="none" strike="noStrike" cap="none">
                <a:solidFill>
                  <a:srgbClr val="FFF7AD"/>
                </a:solidFill>
                <a:latin typeface="Arial"/>
                <a:ea typeface="Arial"/>
                <a:cs typeface="Arial"/>
                <a:sym typeface="Arial"/>
              </a:rPr>
              <a:t>Casos de Uso - </a:t>
            </a:r>
            <a:r>
              <a:rPr lang="es-MX" sz="3999" b="1">
                <a:solidFill>
                  <a:srgbClr val="FFF7AD"/>
                </a:solidFill>
              </a:rPr>
              <a:t>Consultando Detalle de una Consulta</a:t>
            </a:r>
            <a:endParaRPr sz="1400" b="0" i="0" u="none" strike="noStrike" cap="none">
              <a:solidFill>
                <a:srgbClr val="000000"/>
              </a:solidFill>
              <a:latin typeface="Arial"/>
              <a:ea typeface="Arial"/>
              <a:cs typeface="Arial"/>
              <a:sym typeface="Arial"/>
            </a:endParaRPr>
          </a:p>
        </p:txBody>
      </p:sp>
      <p:sp>
        <p:nvSpPr>
          <p:cNvPr id="164" name="Google Shape;164;p8"/>
          <p:cNvSpPr txBox="1"/>
          <p:nvPr/>
        </p:nvSpPr>
        <p:spPr>
          <a:xfrm>
            <a:off x="17219282" y="9210675"/>
            <a:ext cx="232436"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a:solidFill>
                  <a:srgbClr val="FFFFFF"/>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
        <p:nvSpPr>
          <p:cNvPr id="165" name="Google Shape;165;p8"/>
          <p:cNvSpPr txBox="1"/>
          <p:nvPr/>
        </p:nvSpPr>
        <p:spPr>
          <a:xfrm>
            <a:off x="971150" y="1641600"/>
            <a:ext cx="8295900" cy="5934000"/>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Clr>
                <a:srgbClr val="000000"/>
              </a:buClr>
              <a:buSzPts val="2999"/>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40013"/>
              </a:lnSpc>
              <a:spcBef>
                <a:spcPts val="0"/>
              </a:spcBef>
              <a:spcAft>
                <a:spcPts val="0"/>
              </a:spcAft>
              <a:buClr>
                <a:srgbClr val="000000"/>
              </a:buClr>
              <a:buSzPts val="2999"/>
              <a:buFont typeface="Arial"/>
              <a:buNone/>
            </a:pPr>
            <a:r>
              <a:rPr lang="es-MX" sz="2999">
                <a:solidFill>
                  <a:srgbClr val="FFFFFF"/>
                </a:solidFill>
              </a:rPr>
              <a:t>Permite al Personal de Administración leer el contenido de una Consulta específica desplegándose en una Ventana Modal.</a:t>
            </a:r>
            <a:endParaRPr sz="2999">
              <a:solidFill>
                <a:srgbClr val="FFFFFF"/>
              </a:solidFill>
            </a:endParaRPr>
          </a:p>
          <a:p>
            <a:pPr marL="0" marR="0" lvl="0" indent="0" algn="l" rtl="0">
              <a:lnSpc>
                <a:spcPct val="140013"/>
              </a:lnSpc>
              <a:spcBef>
                <a:spcPts val="0"/>
              </a:spcBef>
              <a:spcAft>
                <a:spcPts val="0"/>
              </a:spcAft>
              <a:buClr>
                <a:srgbClr val="000000"/>
              </a:buClr>
              <a:buSzPts val="2999"/>
              <a:buFont typeface="Arial"/>
              <a:buNone/>
            </a:pPr>
            <a:endParaRPr sz="2999">
              <a:solidFill>
                <a:srgbClr val="FFFFFF"/>
              </a:solidFill>
            </a:endParaRPr>
          </a:p>
          <a:p>
            <a:pPr marL="647695" marR="0" lvl="1" indent="-323848" algn="l" rtl="0">
              <a:lnSpc>
                <a:spcPct val="140013"/>
              </a:lnSpc>
              <a:spcBef>
                <a:spcPts val="0"/>
              </a:spcBef>
              <a:spcAft>
                <a:spcPts val="0"/>
              </a:spcAft>
              <a:buClr>
                <a:srgbClr val="FFDE59"/>
              </a:buClr>
              <a:buSzPts val="2999"/>
              <a:buFont typeface="Arial"/>
              <a:buChar char="•"/>
            </a:pPr>
            <a:r>
              <a:rPr lang="es-MX" sz="2999" b="0" i="0" u="none" strike="noStrike" cap="none">
                <a:solidFill>
                  <a:srgbClr val="FFDE59"/>
                </a:solidFill>
                <a:latin typeface="Arial"/>
                <a:ea typeface="Arial"/>
                <a:cs typeface="Arial"/>
                <a:sym typeface="Arial"/>
              </a:rPr>
              <a:t>Objetivo principal: </a:t>
            </a:r>
            <a:r>
              <a:rPr lang="es-MX" sz="2999">
                <a:solidFill>
                  <a:srgbClr val="FEFEFE"/>
                </a:solidFill>
              </a:rPr>
              <a:t>Permitir al Personal de Administración revisar el detalle de cada consulta de forma rápida y sin salir del panel.</a:t>
            </a:r>
            <a:endParaRPr sz="1400" b="0" i="0" u="none" strike="noStrike" cap="none">
              <a:solidFill>
                <a:srgbClr val="000000"/>
              </a:solidFill>
              <a:latin typeface="Arial"/>
              <a:ea typeface="Arial"/>
              <a:cs typeface="Arial"/>
              <a:sym typeface="Arial"/>
            </a:endParaRPr>
          </a:p>
          <a:p>
            <a:pPr marL="0" marR="0" lvl="0" indent="0" algn="l" rtl="0">
              <a:lnSpc>
                <a:spcPct val="140013"/>
              </a:lnSpc>
              <a:spcBef>
                <a:spcPts val="0"/>
              </a:spcBef>
              <a:spcAft>
                <a:spcPts val="0"/>
              </a:spcAft>
              <a:buClr>
                <a:srgbClr val="000000"/>
              </a:buClr>
              <a:buSzPts val="2999"/>
              <a:buFont typeface="Arial"/>
              <a:buNone/>
            </a:pPr>
            <a:endParaRPr sz="2999" b="0" i="0" u="none" strike="noStrike" cap="none">
              <a:solidFill>
                <a:srgbClr val="FEFEFE"/>
              </a:solidFill>
              <a:latin typeface="Arial"/>
              <a:ea typeface="Arial"/>
              <a:cs typeface="Arial"/>
              <a:sym typeface="Arial"/>
            </a:endParaRPr>
          </a:p>
          <a:p>
            <a:pPr marL="0" marR="0" lvl="0" indent="0" algn="l" rtl="0">
              <a:lnSpc>
                <a:spcPct val="140013"/>
              </a:lnSpc>
              <a:spcBef>
                <a:spcPts val="0"/>
              </a:spcBef>
              <a:spcAft>
                <a:spcPts val="0"/>
              </a:spcAft>
              <a:buClr>
                <a:srgbClr val="000000"/>
              </a:buClr>
              <a:buSzPts val="2999"/>
              <a:buFont typeface="Arial"/>
              <a:buNone/>
            </a:pPr>
            <a:endParaRPr sz="2999" b="0" i="0" u="none" strike="noStrike" cap="none">
              <a:solidFill>
                <a:srgbClr val="FEFEFE"/>
              </a:solidFill>
              <a:latin typeface="Arial"/>
              <a:ea typeface="Arial"/>
              <a:cs typeface="Arial"/>
              <a:sym typeface="Arial"/>
            </a:endParaRPr>
          </a:p>
        </p:txBody>
      </p:sp>
      <p:sp>
        <p:nvSpPr>
          <p:cNvPr id="166" name="Google Shape;166;p8"/>
          <p:cNvSpPr txBox="1"/>
          <p:nvPr/>
        </p:nvSpPr>
        <p:spPr>
          <a:xfrm>
            <a:off x="10613338" y="2144675"/>
            <a:ext cx="7129800" cy="50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3200">
              <a:solidFill>
                <a:srgbClr val="FFDE59"/>
              </a:solidFill>
              <a:latin typeface="Calibri"/>
              <a:ea typeface="Calibri"/>
              <a:cs typeface="Calibri"/>
              <a:sym typeface="Calibri"/>
            </a:endParaRPr>
          </a:p>
        </p:txBody>
      </p:sp>
      <p:pic>
        <p:nvPicPr>
          <p:cNvPr id="167" name="Google Shape;167;p8"/>
          <p:cNvPicPr preferRelativeResize="0"/>
          <p:nvPr/>
        </p:nvPicPr>
        <p:blipFill>
          <a:blip r:embed="rId4">
            <a:alphaModFix/>
          </a:blip>
          <a:stretch>
            <a:fillRect/>
          </a:stretch>
        </p:blipFill>
        <p:spPr>
          <a:xfrm>
            <a:off x="10607882" y="1574701"/>
            <a:ext cx="6689793" cy="5934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3" name="Google Shape;173;p9"/>
          <p:cNvSpPr txBox="1"/>
          <p:nvPr/>
        </p:nvSpPr>
        <p:spPr>
          <a:xfrm>
            <a:off x="17212068" y="9210675"/>
            <a:ext cx="246863"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a:solidFill>
                  <a:srgbClr val="FFFFFF"/>
                </a:solidFill>
                <a:latin typeface="Arial"/>
                <a:ea typeface="Arial"/>
                <a:cs typeface="Arial"/>
                <a:sym typeface="Arial"/>
              </a:rPr>
              <a:t>9</a:t>
            </a:r>
            <a:endParaRPr sz="1400" b="0" i="0" u="none" strike="noStrike" cap="none">
              <a:solidFill>
                <a:srgbClr val="000000"/>
              </a:solidFill>
              <a:latin typeface="Arial"/>
              <a:ea typeface="Arial"/>
              <a:cs typeface="Arial"/>
              <a:sym typeface="Arial"/>
            </a:endParaRPr>
          </a:p>
        </p:txBody>
      </p:sp>
      <p:sp>
        <p:nvSpPr>
          <p:cNvPr id="174" name="Google Shape;174;p9"/>
          <p:cNvSpPr txBox="1"/>
          <p:nvPr/>
        </p:nvSpPr>
        <p:spPr>
          <a:xfrm>
            <a:off x="3108025" y="293576"/>
            <a:ext cx="15180000" cy="461700"/>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Clr>
                <a:srgbClr val="000000"/>
              </a:buClr>
              <a:buSzPts val="2999"/>
              <a:buFont typeface="Arial"/>
              <a:buNone/>
            </a:pPr>
            <a:r>
              <a:rPr lang="es-MX" sz="2999" b="1" i="0" u="none" strike="noStrike" cap="none">
                <a:solidFill>
                  <a:srgbClr val="FFDE59"/>
                </a:solidFill>
                <a:latin typeface="Arial"/>
                <a:ea typeface="Arial"/>
                <a:cs typeface="Arial"/>
                <a:sym typeface="Arial"/>
              </a:rPr>
              <a:t>DIAGRAMA DE SECUENCIA: </a:t>
            </a:r>
            <a:r>
              <a:rPr lang="es-MX" sz="2999" b="1">
                <a:solidFill>
                  <a:srgbClr val="FEFEFE"/>
                </a:solidFill>
              </a:rPr>
              <a:t>Consultando Detalle de una Consulta</a:t>
            </a:r>
            <a:endParaRPr sz="1400" b="0" i="0" u="none" strike="noStrike" cap="none">
              <a:solidFill>
                <a:srgbClr val="000000"/>
              </a:solidFill>
              <a:latin typeface="Arial"/>
              <a:ea typeface="Arial"/>
              <a:cs typeface="Arial"/>
              <a:sym typeface="Arial"/>
            </a:endParaRPr>
          </a:p>
        </p:txBody>
      </p:sp>
      <p:pic>
        <p:nvPicPr>
          <p:cNvPr id="175" name="Google Shape;175;p9" title="CU 39.1 Consultando Detalle de una Consulta - Flujo Principal.png"/>
          <p:cNvPicPr preferRelativeResize="0"/>
          <p:nvPr/>
        </p:nvPicPr>
        <p:blipFill>
          <a:blip r:embed="rId4">
            <a:alphaModFix/>
          </a:blip>
          <a:stretch>
            <a:fillRect/>
          </a:stretch>
        </p:blipFill>
        <p:spPr>
          <a:xfrm>
            <a:off x="2447550" y="950025"/>
            <a:ext cx="13015572" cy="87638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p:nvPr/>
        </p:nvSpPr>
        <p:spPr>
          <a:xfrm rot="54000">
            <a:off x="-79663" y="-142993"/>
            <a:ext cx="18447325" cy="10572986"/>
          </a:xfrm>
          <a:custGeom>
            <a:avLst/>
            <a:gdLst/>
            <a:ahLst/>
            <a:cxnLst/>
            <a:rect l="l" t="t" r="r" b="b"/>
            <a:pathLst>
              <a:path w="18447325" h="10572986" extrusionOk="0">
                <a:moveTo>
                  <a:pt x="0" y="287255"/>
                </a:moveTo>
                <a:lnTo>
                  <a:pt x="18285744" y="0"/>
                </a:lnTo>
                <a:lnTo>
                  <a:pt x="18447326" y="10285731"/>
                </a:lnTo>
                <a:lnTo>
                  <a:pt x="161582" y="10572986"/>
                </a:lnTo>
                <a:lnTo>
                  <a:pt x="0" y="287255"/>
                </a:lnTo>
                <a:close/>
              </a:path>
            </a:pathLst>
          </a:custGeom>
          <a:blipFill rotWithShape="1">
            <a:blip r:embed="rId3">
              <a:alphaModFix/>
            </a:blip>
            <a:stretch>
              <a:fillRect l="-404" t="-46870" r="-1258" b="-3050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1" name="Google Shape;181;p10"/>
          <p:cNvSpPr txBox="1"/>
          <p:nvPr/>
        </p:nvSpPr>
        <p:spPr>
          <a:xfrm>
            <a:off x="17098255" y="9210675"/>
            <a:ext cx="474490" cy="503215"/>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a:solidFill>
                  <a:srgbClr val="FFFFFF"/>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
        <p:nvSpPr>
          <p:cNvPr id="182" name="Google Shape;182;p10"/>
          <p:cNvSpPr txBox="1"/>
          <p:nvPr/>
        </p:nvSpPr>
        <p:spPr>
          <a:xfrm>
            <a:off x="824790" y="660399"/>
            <a:ext cx="16434600" cy="608100"/>
          </a:xfrm>
          <a:prstGeom prst="rect">
            <a:avLst/>
          </a:prstGeom>
          <a:noFill/>
          <a:ln>
            <a:noFill/>
          </a:ln>
        </p:spPr>
        <p:txBody>
          <a:bodyPr spcFirstLastPara="1" wrap="square" lIns="0" tIns="0" rIns="0" bIns="0" anchor="t" anchorCtr="0">
            <a:spAutoFit/>
          </a:bodyPr>
          <a:lstStyle/>
          <a:p>
            <a:pPr marL="0" marR="0" lvl="0" indent="0" algn="l" rtl="0">
              <a:lnSpc>
                <a:spcPct val="141746"/>
              </a:lnSpc>
              <a:spcBef>
                <a:spcPts val="0"/>
              </a:spcBef>
              <a:spcAft>
                <a:spcPts val="0"/>
              </a:spcAft>
              <a:buClr>
                <a:srgbClr val="000000"/>
              </a:buClr>
              <a:buSzPts val="3950"/>
              <a:buFont typeface="Arial"/>
              <a:buNone/>
            </a:pPr>
            <a:r>
              <a:rPr lang="es-MX" sz="3950" b="1" i="0" u="none" strike="noStrike" cap="none">
                <a:solidFill>
                  <a:srgbClr val="FFF7AD"/>
                </a:solidFill>
                <a:latin typeface="Arial"/>
                <a:ea typeface="Arial"/>
                <a:cs typeface="Arial"/>
                <a:sym typeface="Arial"/>
              </a:rPr>
              <a:t>Caso de Uso - </a:t>
            </a:r>
            <a:r>
              <a:rPr lang="es-MX" sz="3950" b="1">
                <a:solidFill>
                  <a:srgbClr val="FFF7AD"/>
                </a:solidFill>
              </a:rPr>
              <a:t>Confirmando cambio de contraseña</a:t>
            </a:r>
            <a:endParaRPr sz="1400" b="0" i="0" u="none" strike="noStrike" cap="none">
              <a:solidFill>
                <a:srgbClr val="000000"/>
              </a:solidFill>
              <a:latin typeface="Arial"/>
              <a:ea typeface="Arial"/>
              <a:cs typeface="Arial"/>
              <a:sym typeface="Arial"/>
            </a:endParaRPr>
          </a:p>
        </p:txBody>
      </p:sp>
      <p:sp>
        <p:nvSpPr>
          <p:cNvPr id="183" name="Google Shape;183;p10"/>
          <p:cNvSpPr txBox="1"/>
          <p:nvPr/>
        </p:nvSpPr>
        <p:spPr>
          <a:xfrm>
            <a:off x="670153" y="1699750"/>
            <a:ext cx="8755200" cy="5287500"/>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Clr>
                <a:srgbClr val="000000"/>
              </a:buClr>
              <a:buSzPts val="2999"/>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40013"/>
              </a:lnSpc>
              <a:spcBef>
                <a:spcPts val="0"/>
              </a:spcBef>
              <a:spcAft>
                <a:spcPts val="0"/>
              </a:spcAft>
              <a:buClr>
                <a:srgbClr val="000000"/>
              </a:buClr>
              <a:buSzPts val="2999"/>
              <a:buFont typeface="Arial"/>
              <a:buNone/>
            </a:pPr>
            <a:r>
              <a:rPr lang="es-MX" sz="2999">
                <a:solidFill>
                  <a:srgbClr val="FFFFFF"/>
                </a:solidFill>
              </a:rPr>
              <a:t>Permite al Personal de Administración confirmar el cambio de su contraseña validando la Contraseña Actual y las reglas de seguridad establecidas para la Nueva Contraseña.</a:t>
            </a:r>
            <a:endParaRPr sz="2999">
              <a:solidFill>
                <a:srgbClr val="FFFFFF"/>
              </a:solidFill>
            </a:endParaRPr>
          </a:p>
          <a:p>
            <a:pPr marL="0" marR="0" lvl="0" indent="0" algn="l" rtl="0">
              <a:lnSpc>
                <a:spcPct val="140013"/>
              </a:lnSpc>
              <a:spcBef>
                <a:spcPts val="0"/>
              </a:spcBef>
              <a:spcAft>
                <a:spcPts val="0"/>
              </a:spcAft>
              <a:buClr>
                <a:srgbClr val="000000"/>
              </a:buClr>
              <a:buSzPts val="2999"/>
              <a:buFont typeface="Arial"/>
              <a:buNone/>
            </a:pPr>
            <a:endParaRPr sz="2999">
              <a:solidFill>
                <a:srgbClr val="FFFFFF"/>
              </a:solidFill>
            </a:endParaRPr>
          </a:p>
          <a:p>
            <a:pPr marL="647695" marR="0" lvl="1" indent="-323848" algn="l" rtl="0">
              <a:lnSpc>
                <a:spcPct val="140013"/>
              </a:lnSpc>
              <a:spcBef>
                <a:spcPts val="0"/>
              </a:spcBef>
              <a:spcAft>
                <a:spcPts val="0"/>
              </a:spcAft>
              <a:buClr>
                <a:srgbClr val="FFDE59"/>
              </a:buClr>
              <a:buSzPts val="2999"/>
              <a:buFont typeface="Arial"/>
              <a:buChar char="•"/>
            </a:pPr>
            <a:r>
              <a:rPr lang="es-MX" sz="2999" b="0" i="0" u="none" strike="noStrike" cap="none">
                <a:solidFill>
                  <a:srgbClr val="FFDE59"/>
                </a:solidFill>
                <a:latin typeface="Arial"/>
                <a:ea typeface="Arial"/>
                <a:cs typeface="Arial"/>
                <a:sym typeface="Arial"/>
              </a:rPr>
              <a:t>Objetivo principal: </a:t>
            </a:r>
            <a:r>
              <a:rPr lang="es-MX" sz="2999">
                <a:solidFill>
                  <a:srgbClr val="FFFFFF"/>
                </a:solidFill>
              </a:rPr>
              <a:t>Hacer una actualización segura de las credenciales de acceso. </a:t>
            </a:r>
            <a:endParaRPr sz="1400" b="0" i="0" u="none" strike="noStrike" cap="none">
              <a:solidFill>
                <a:srgbClr val="000000"/>
              </a:solidFill>
              <a:latin typeface="Arial"/>
              <a:ea typeface="Arial"/>
              <a:cs typeface="Arial"/>
              <a:sym typeface="Arial"/>
            </a:endParaRPr>
          </a:p>
          <a:p>
            <a:pPr marL="0" marR="0" lvl="0" indent="0" algn="l" rtl="0">
              <a:lnSpc>
                <a:spcPct val="140013"/>
              </a:lnSpc>
              <a:spcBef>
                <a:spcPts val="0"/>
              </a:spcBef>
              <a:spcAft>
                <a:spcPts val="0"/>
              </a:spcAft>
              <a:buClr>
                <a:srgbClr val="000000"/>
              </a:buClr>
              <a:buSzPts val="2999"/>
              <a:buFont typeface="Arial"/>
              <a:buNone/>
            </a:pPr>
            <a:endParaRPr sz="2999" b="0" i="0" u="none" strike="noStrike" cap="none">
              <a:solidFill>
                <a:srgbClr val="FFFFFF"/>
              </a:solidFill>
              <a:latin typeface="Arial"/>
              <a:ea typeface="Arial"/>
              <a:cs typeface="Arial"/>
              <a:sym typeface="Arial"/>
            </a:endParaRPr>
          </a:p>
        </p:txBody>
      </p:sp>
      <p:pic>
        <p:nvPicPr>
          <p:cNvPr id="184" name="Google Shape;184;p10"/>
          <p:cNvPicPr preferRelativeResize="0"/>
          <p:nvPr/>
        </p:nvPicPr>
        <p:blipFill>
          <a:blip r:embed="rId4">
            <a:alphaModFix/>
          </a:blip>
          <a:stretch>
            <a:fillRect/>
          </a:stretch>
        </p:blipFill>
        <p:spPr>
          <a:xfrm>
            <a:off x="9628223" y="2182150"/>
            <a:ext cx="4061524" cy="4512826"/>
          </a:xfrm>
          <a:prstGeom prst="rect">
            <a:avLst/>
          </a:prstGeom>
          <a:noFill/>
          <a:ln>
            <a:noFill/>
          </a:ln>
        </p:spPr>
      </p:pic>
      <p:pic>
        <p:nvPicPr>
          <p:cNvPr id="185" name="Google Shape;185;p10"/>
          <p:cNvPicPr preferRelativeResize="0"/>
          <p:nvPr/>
        </p:nvPicPr>
        <p:blipFill>
          <a:blip r:embed="rId5">
            <a:alphaModFix/>
          </a:blip>
          <a:stretch>
            <a:fillRect/>
          </a:stretch>
        </p:blipFill>
        <p:spPr>
          <a:xfrm>
            <a:off x="13751191" y="2148900"/>
            <a:ext cx="4230983" cy="4579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p:nvPr/>
        </p:nvSpPr>
        <p:spPr>
          <a:xfrm rot="54000">
            <a:off x="-79663" y="-142993"/>
            <a:ext cx="18447325" cy="10572986"/>
          </a:xfrm>
          <a:custGeom>
            <a:avLst/>
            <a:gdLst/>
            <a:ahLst/>
            <a:cxnLst/>
            <a:rect l="l" t="t" r="r" b="b"/>
            <a:pathLst>
              <a:path w="18447325" h="10572986" extrusionOk="0">
                <a:moveTo>
                  <a:pt x="0" y="287255"/>
                </a:moveTo>
                <a:lnTo>
                  <a:pt x="18285744" y="0"/>
                </a:lnTo>
                <a:lnTo>
                  <a:pt x="18447326" y="10285731"/>
                </a:lnTo>
                <a:lnTo>
                  <a:pt x="161582" y="10572986"/>
                </a:lnTo>
                <a:lnTo>
                  <a:pt x="0" y="287255"/>
                </a:lnTo>
                <a:close/>
              </a:path>
            </a:pathLst>
          </a:custGeom>
          <a:blipFill rotWithShape="1">
            <a:blip r:embed="rId3">
              <a:alphaModFix/>
            </a:blip>
            <a:stretch>
              <a:fillRect l="-404" t="-46870" r="-1258" b="-3050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1" name="Google Shape;191;p11"/>
          <p:cNvSpPr txBox="1"/>
          <p:nvPr/>
        </p:nvSpPr>
        <p:spPr>
          <a:xfrm>
            <a:off x="2446193" y="140068"/>
            <a:ext cx="14813100" cy="461700"/>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Clr>
                <a:srgbClr val="000000"/>
              </a:buClr>
              <a:buSzPts val="2999"/>
              <a:buFont typeface="Arial"/>
              <a:buNone/>
            </a:pPr>
            <a:r>
              <a:rPr lang="es-MX" sz="2999" b="1" i="0" u="none" strike="noStrike" cap="none">
                <a:solidFill>
                  <a:srgbClr val="E6CA69"/>
                </a:solidFill>
                <a:latin typeface="Arial"/>
                <a:ea typeface="Arial"/>
                <a:cs typeface="Arial"/>
                <a:sym typeface="Arial"/>
              </a:rPr>
              <a:t>DIAGRAMA DE SECUENCIA:</a:t>
            </a:r>
            <a:r>
              <a:rPr lang="es-MX" sz="2999" b="1" i="0" u="none" strike="noStrike" cap="none">
                <a:solidFill>
                  <a:srgbClr val="FEFEFE"/>
                </a:solidFill>
                <a:latin typeface="Arial"/>
                <a:ea typeface="Arial"/>
                <a:cs typeface="Arial"/>
                <a:sym typeface="Arial"/>
              </a:rPr>
              <a:t> </a:t>
            </a:r>
            <a:r>
              <a:rPr lang="es-MX" sz="2999" b="1">
                <a:solidFill>
                  <a:srgbClr val="FEFEFE"/>
                </a:solidFill>
              </a:rPr>
              <a:t>Confirmando cambio de contraseña</a:t>
            </a:r>
            <a:endParaRPr sz="1400" b="0" i="0" u="none" strike="noStrike" cap="none">
              <a:solidFill>
                <a:srgbClr val="000000"/>
              </a:solidFill>
              <a:latin typeface="Arial"/>
              <a:ea typeface="Arial"/>
              <a:cs typeface="Arial"/>
              <a:sym typeface="Arial"/>
            </a:endParaRPr>
          </a:p>
        </p:txBody>
      </p:sp>
      <p:sp>
        <p:nvSpPr>
          <p:cNvPr id="192" name="Google Shape;192;p11"/>
          <p:cNvSpPr txBox="1"/>
          <p:nvPr/>
        </p:nvSpPr>
        <p:spPr>
          <a:xfrm>
            <a:off x="16885877" y="9210675"/>
            <a:ext cx="837174" cy="646139"/>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dirty="0">
                <a:solidFill>
                  <a:srgbClr val="FFFFFF"/>
                </a:solidFill>
              </a:rPr>
              <a:t> 1</a:t>
            </a:r>
            <a:r>
              <a:rPr lang="es-MX" sz="2999" b="0" i="0" u="none" strike="noStrike" cap="none" dirty="0">
                <a:solidFill>
                  <a:srgbClr val="FFFFFF"/>
                </a:solidFill>
                <a:latin typeface="Arial"/>
                <a:ea typeface="Arial"/>
                <a:cs typeface="Arial"/>
                <a:sym typeface="Arial"/>
              </a:rPr>
              <a:t>1</a:t>
            </a:r>
            <a:endParaRPr sz="1400" b="0" i="0" u="none" strike="noStrike" cap="none" dirty="0">
              <a:solidFill>
                <a:srgbClr val="000000"/>
              </a:solidFill>
              <a:latin typeface="Arial"/>
              <a:ea typeface="Arial"/>
              <a:cs typeface="Arial"/>
              <a:sym typeface="Arial"/>
            </a:endParaRPr>
          </a:p>
        </p:txBody>
      </p:sp>
      <p:pic>
        <p:nvPicPr>
          <p:cNvPr id="193" name="Google Shape;193;p11" title="CU 28.2 Confirmando el cambio de contraseña - Flujo Principal.png"/>
          <p:cNvPicPr preferRelativeResize="0"/>
          <p:nvPr/>
        </p:nvPicPr>
        <p:blipFill>
          <a:blip r:embed="rId4">
            <a:alphaModFix/>
          </a:blip>
          <a:stretch>
            <a:fillRect/>
          </a:stretch>
        </p:blipFill>
        <p:spPr>
          <a:xfrm>
            <a:off x="3002850" y="673400"/>
            <a:ext cx="11137202" cy="9381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313" b="-931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9" name="Google Shape;199;p15"/>
          <p:cNvSpPr txBox="1"/>
          <p:nvPr/>
        </p:nvSpPr>
        <p:spPr>
          <a:xfrm>
            <a:off x="5276575" y="414925"/>
            <a:ext cx="15970800" cy="461700"/>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Clr>
                <a:srgbClr val="000000"/>
              </a:buClr>
              <a:buSzPts val="2999"/>
              <a:buFont typeface="Arial"/>
              <a:buNone/>
            </a:pPr>
            <a:r>
              <a:rPr lang="es-MX" sz="2999" b="1" i="0" u="none" strike="noStrike" cap="none">
                <a:solidFill>
                  <a:srgbClr val="E6CA69"/>
                </a:solidFill>
                <a:latin typeface="Arial"/>
                <a:ea typeface="Arial"/>
                <a:cs typeface="Arial"/>
                <a:sym typeface="Arial"/>
              </a:rPr>
              <a:t>BASES DE DATOS - </a:t>
            </a:r>
            <a:r>
              <a:rPr lang="es-MX" sz="2999" b="1" i="0" u="none" strike="noStrike" cap="none">
                <a:solidFill>
                  <a:srgbClr val="FEFEFE"/>
                </a:solidFill>
                <a:latin typeface="Arial"/>
                <a:ea typeface="Arial"/>
                <a:cs typeface="Arial"/>
                <a:sym typeface="Arial"/>
              </a:rPr>
              <a:t>DIAGRAMA DE CLASES</a:t>
            </a:r>
            <a:endParaRPr sz="1400" b="0" i="0" u="none" strike="noStrike" cap="none">
              <a:solidFill>
                <a:srgbClr val="000000"/>
              </a:solidFill>
              <a:latin typeface="Arial"/>
              <a:ea typeface="Arial"/>
              <a:cs typeface="Arial"/>
              <a:sym typeface="Arial"/>
            </a:endParaRPr>
          </a:p>
        </p:txBody>
      </p:sp>
      <p:sp>
        <p:nvSpPr>
          <p:cNvPr id="200" name="Google Shape;200;p15"/>
          <p:cNvSpPr txBox="1"/>
          <p:nvPr/>
        </p:nvSpPr>
        <p:spPr>
          <a:xfrm>
            <a:off x="17119095" y="9210675"/>
            <a:ext cx="432811" cy="646139"/>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dirty="0">
                <a:solidFill>
                  <a:srgbClr val="FFFFFF"/>
                </a:solidFill>
                <a:latin typeface="Arial"/>
                <a:ea typeface="Arial"/>
                <a:cs typeface="Arial"/>
                <a:sym typeface="Arial"/>
              </a:rPr>
              <a:t>12</a:t>
            </a:r>
            <a:endParaRPr sz="1400" b="0" i="0" u="none" strike="noStrike" cap="none" dirty="0">
              <a:solidFill>
                <a:srgbClr val="000000"/>
              </a:solidFill>
              <a:latin typeface="Arial"/>
              <a:ea typeface="Arial"/>
              <a:cs typeface="Arial"/>
              <a:sym typeface="Arial"/>
            </a:endParaRPr>
          </a:p>
        </p:txBody>
      </p:sp>
      <p:pic>
        <p:nvPicPr>
          <p:cNvPr id="201" name="Google Shape;201;p15" title="Diagrama_Despliegue-Vista logica BD - Proyecto completo.jpg"/>
          <p:cNvPicPr preferRelativeResize="0"/>
          <p:nvPr/>
        </p:nvPicPr>
        <p:blipFill>
          <a:blip r:embed="rId4">
            <a:alphaModFix/>
          </a:blip>
          <a:stretch>
            <a:fillRect/>
          </a:stretch>
        </p:blipFill>
        <p:spPr>
          <a:xfrm>
            <a:off x="4154550" y="1173275"/>
            <a:ext cx="10792302" cy="85406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7" name="Google Shape;207;p14"/>
          <p:cNvSpPr txBox="1"/>
          <p:nvPr/>
        </p:nvSpPr>
        <p:spPr>
          <a:xfrm>
            <a:off x="4082767" y="687068"/>
            <a:ext cx="16678832" cy="7880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900"/>
              <a:buFont typeface="Arial"/>
              <a:buNone/>
            </a:pPr>
            <a:r>
              <a:rPr lang="es-MX" sz="5900" b="1" i="0" u="none" strike="noStrike" cap="none">
                <a:solidFill>
                  <a:srgbClr val="E6CA69"/>
                </a:solidFill>
                <a:latin typeface="Alexandria"/>
                <a:ea typeface="Alexandria"/>
                <a:cs typeface="Alexandria"/>
                <a:sym typeface="Alexandria"/>
              </a:rPr>
              <a:t>ÁRBOL DE NAVEGACIÓN</a:t>
            </a:r>
            <a:endParaRPr sz="1400" b="0" i="0" u="none" strike="noStrike" cap="none">
              <a:solidFill>
                <a:srgbClr val="000000"/>
              </a:solidFill>
              <a:latin typeface="Arial"/>
              <a:ea typeface="Arial"/>
              <a:cs typeface="Arial"/>
              <a:sym typeface="Arial"/>
            </a:endParaRPr>
          </a:p>
        </p:txBody>
      </p:sp>
      <p:sp>
        <p:nvSpPr>
          <p:cNvPr id="208" name="Google Shape;208;p14"/>
          <p:cNvSpPr txBox="1"/>
          <p:nvPr/>
        </p:nvSpPr>
        <p:spPr>
          <a:xfrm>
            <a:off x="17116690" y="9210675"/>
            <a:ext cx="437620" cy="646139"/>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dirty="0">
                <a:solidFill>
                  <a:srgbClr val="FFFFFF"/>
                </a:solidFill>
                <a:latin typeface="Arial"/>
                <a:ea typeface="Arial"/>
                <a:cs typeface="Arial"/>
                <a:sym typeface="Arial"/>
              </a:rPr>
              <a:t>13</a:t>
            </a:r>
            <a:endParaRPr sz="1400" b="0" i="0" u="none" strike="noStrike" cap="none" dirty="0">
              <a:solidFill>
                <a:srgbClr val="000000"/>
              </a:solidFill>
              <a:latin typeface="Arial"/>
              <a:ea typeface="Arial"/>
              <a:cs typeface="Arial"/>
              <a:sym typeface="Arial"/>
            </a:endParaRPr>
          </a:p>
        </p:txBody>
      </p:sp>
      <p:pic>
        <p:nvPicPr>
          <p:cNvPr id="209" name="Google Shape;209;p14"/>
          <p:cNvPicPr preferRelativeResize="0"/>
          <p:nvPr/>
        </p:nvPicPr>
        <p:blipFill rotWithShape="1">
          <a:blip r:embed="rId4">
            <a:alphaModFix/>
          </a:blip>
          <a:srcRect t="14596" b="14169"/>
          <a:stretch/>
        </p:blipFill>
        <p:spPr>
          <a:xfrm>
            <a:off x="642950" y="2049825"/>
            <a:ext cx="16835674" cy="6746101"/>
          </a:xfrm>
          <a:prstGeom prst="rect">
            <a:avLst/>
          </a:prstGeom>
          <a:noFill/>
          <a:ln>
            <a:noFill/>
          </a:ln>
        </p:spPr>
      </p:pic>
      <p:sp>
        <p:nvSpPr>
          <p:cNvPr id="210" name="Google Shape;210;p14"/>
          <p:cNvSpPr/>
          <p:nvPr/>
        </p:nvSpPr>
        <p:spPr>
          <a:xfrm>
            <a:off x="16116389" y="1859514"/>
            <a:ext cx="1437906" cy="2022630"/>
          </a:xfrm>
          <a:custGeom>
            <a:avLst/>
            <a:gdLst/>
            <a:ahLst/>
            <a:cxnLst/>
            <a:rect l="l" t="t" r="r" b="b"/>
            <a:pathLst>
              <a:path w="1437906" h="2022630" extrusionOk="0">
                <a:moveTo>
                  <a:pt x="0" y="0"/>
                </a:moveTo>
                <a:lnTo>
                  <a:pt x="1437906" y="0"/>
                </a:lnTo>
                <a:lnTo>
                  <a:pt x="1437906" y="2022630"/>
                </a:lnTo>
                <a:lnTo>
                  <a:pt x="0" y="202263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9" b="-388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6" name="Google Shape;216;p16"/>
          <p:cNvSpPr/>
          <p:nvPr/>
        </p:nvSpPr>
        <p:spPr>
          <a:xfrm rot="3234103">
            <a:off x="-3594359" y="-597489"/>
            <a:ext cx="17460920" cy="15270192"/>
          </a:xfrm>
          <a:custGeom>
            <a:avLst/>
            <a:gdLst/>
            <a:ahLst/>
            <a:cxnLst/>
            <a:rect l="l" t="t" r="r" b="b"/>
            <a:pathLst>
              <a:path w="16795899" h="15268999" extrusionOk="0">
                <a:moveTo>
                  <a:pt x="0" y="0"/>
                </a:moveTo>
                <a:lnTo>
                  <a:pt x="16795899" y="0"/>
                </a:lnTo>
                <a:lnTo>
                  <a:pt x="16795899" y="15268999"/>
                </a:lnTo>
                <a:lnTo>
                  <a:pt x="0" y="15268999"/>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7" name="Google Shape;217;p16"/>
          <p:cNvSpPr/>
          <p:nvPr/>
        </p:nvSpPr>
        <p:spPr>
          <a:xfrm>
            <a:off x="8930547" y="7057084"/>
            <a:ext cx="1989590" cy="2019888"/>
          </a:xfrm>
          <a:custGeom>
            <a:avLst/>
            <a:gdLst/>
            <a:ahLst/>
            <a:cxnLst/>
            <a:rect l="l" t="t" r="r" b="b"/>
            <a:pathLst>
              <a:path w="1989590" h="2019888" extrusionOk="0">
                <a:moveTo>
                  <a:pt x="0" y="0"/>
                </a:moveTo>
                <a:lnTo>
                  <a:pt x="1989590" y="0"/>
                </a:lnTo>
                <a:lnTo>
                  <a:pt x="1989590" y="2019888"/>
                </a:lnTo>
                <a:lnTo>
                  <a:pt x="0" y="2019888"/>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8" name="Google Shape;218;p16"/>
          <p:cNvSpPr/>
          <p:nvPr/>
        </p:nvSpPr>
        <p:spPr>
          <a:xfrm>
            <a:off x="14458951" y="1028700"/>
            <a:ext cx="2652977" cy="2230666"/>
          </a:xfrm>
          <a:custGeom>
            <a:avLst/>
            <a:gdLst/>
            <a:ahLst/>
            <a:cxnLst/>
            <a:rect l="l" t="t" r="r" b="b"/>
            <a:pathLst>
              <a:path w="2652977" h="2230666" extrusionOk="0">
                <a:moveTo>
                  <a:pt x="0" y="0"/>
                </a:moveTo>
                <a:lnTo>
                  <a:pt x="2652977" y="0"/>
                </a:lnTo>
                <a:lnTo>
                  <a:pt x="2652977" y="2230666"/>
                </a:lnTo>
                <a:lnTo>
                  <a:pt x="0" y="2230666"/>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9" name="Google Shape;219;p16"/>
          <p:cNvSpPr/>
          <p:nvPr/>
        </p:nvSpPr>
        <p:spPr>
          <a:xfrm>
            <a:off x="1356329" y="4846097"/>
            <a:ext cx="16340928" cy="3223339"/>
          </a:xfrm>
          <a:custGeom>
            <a:avLst/>
            <a:gdLst/>
            <a:ahLst/>
            <a:cxnLst/>
            <a:rect l="l" t="t" r="r" b="b"/>
            <a:pathLst>
              <a:path w="16340928" h="3223339" extrusionOk="0">
                <a:moveTo>
                  <a:pt x="0" y="0"/>
                </a:moveTo>
                <a:lnTo>
                  <a:pt x="16340928" y="0"/>
                </a:lnTo>
                <a:lnTo>
                  <a:pt x="16340928" y="3223339"/>
                </a:lnTo>
                <a:lnTo>
                  <a:pt x="0" y="3223339"/>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0" name="Google Shape;220;p16"/>
          <p:cNvSpPr txBox="1"/>
          <p:nvPr/>
        </p:nvSpPr>
        <p:spPr>
          <a:xfrm>
            <a:off x="2045723" y="4023371"/>
            <a:ext cx="7481100" cy="6808800"/>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Clr>
                <a:srgbClr val="000000"/>
              </a:buClr>
              <a:buSzPts val="3808"/>
              <a:buFont typeface="Arial"/>
              <a:buNone/>
            </a:pPr>
            <a:r>
              <a:rPr lang="es-MX" sz="3808" b="1" i="0" u="none" strike="noStrike" cap="none">
                <a:solidFill>
                  <a:srgbClr val="FFFFFF"/>
                </a:solidFill>
                <a:latin typeface="Cambay"/>
                <a:ea typeface="Cambay"/>
                <a:cs typeface="Cambay"/>
                <a:sym typeface="Cambay"/>
              </a:rPr>
              <a:t>Integrantes</a:t>
            </a:r>
            <a:endParaRPr sz="1400" b="0" i="0" u="none" strike="noStrike" cap="none">
              <a:solidFill>
                <a:srgbClr val="000000"/>
              </a:solidFill>
              <a:latin typeface="Arial"/>
              <a:ea typeface="Arial"/>
              <a:cs typeface="Arial"/>
              <a:sym typeface="Arial"/>
            </a:endParaRPr>
          </a:p>
          <a:p>
            <a:pPr marL="0" marR="0" lvl="0" indent="0" algn="l" rtl="0">
              <a:lnSpc>
                <a:spcPct val="120010"/>
              </a:lnSpc>
              <a:spcBef>
                <a:spcPts val="0"/>
              </a:spcBef>
              <a:spcAft>
                <a:spcPts val="0"/>
              </a:spcAft>
              <a:buClr>
                <a:srgbClr val="000000"/>
              </a:buClr>
              <a:buSzPts val="3808"/>
              <a:buFont typeface="Arial"/>
              <a:buNone/>
            </a:pPr>
            <a:endParaRPr sz="3808" b="1" i="0" u="none" strike="noStrike" cap="none">
              <a:solidFill>
                <a:srgbClr val="FFFFFF"/>
              </a:solidFill>
              <a:latin typeface="Cambay"/>
              <a:ea typeface="Cambay"/>
              <a:cs typeface="Cambay"/>
              <a:sym typeface="Cambay"/>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Diego Carabajal Belmar </a:t>
            </a:r>
            <a:endParaRPr sz="1400" b="0" i="0" u="none" strike="noStrike" cap="none">
              <a:solidFill>
                <a:srgbClr val="000000"/>
              </a:solidFill>
              <a:latin typeface="Arial"/>
              <a:ea typeface="Arial"/>
              <a:cs typeface="Arial"/>
              <a:sym typeface="Arial"/>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Tomás Hurtado Silva </a:t>
            </a:r>
            <a:endParaRPr sz="1400" b="0" i="0" u="none" strike="noStrike" cap="none">
              <a:solidFill>
                <a:srgbClr val="000000"/>
              </a:solidFill>
              <a:latin typeface="Arial"/>
              <a:ea typeface="Arial"/>
              <a:cs typeface="Arial"/>
              <a:sym typeface="Arial"/>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Vicente Ortega Nobizelli </a:t>
            </a:r>
            <a:endParaRPr sz="1400" b="0" i="0" u="none" strike="noStrike" cap="none">
              <a:solidFill>
                <a:srgbClr val="000000"/>
              </a:solidFill>
              <a:latin typeface="Arial"/>
              <a:ea typeface="Arial"/>
              <a:cs typeface="Arial"/>
              <a:sym typeface="Arial"/>
            </a:endParaRPr>
          </a:p>
          <a:p>
            <a:pPr marL="642238" marR="0" lvl="1" indent="-321118"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Benjamín Parraguez Aguirre </a:t>
            </a:r>
            <a:endParaRPr sz="1400" b="0" i="0" u="none" strike="noStrike" cap="none">
              <a:solidFill>
                <a:srgbClr val="000000"/>
              </a:solidFill>
              <a:latin typeface="Arial"/>
              <a:ea typeface="Arial"/>
              <a:cs typeface="Arial"/>
              <a:sym typeface="Arial"/>
            </a:endParaRPr>
          </a:p>
          <a:p>
            <a:pPr marL="642238" marR="0" lvl="1" indent="-321119" algn="l" rtl="0">
              <a:lnSpc>
                <a:spcPct val="120006"/>
              </a:lnSpc>
              <a:spcBef>
                <a:spcPts val="0"/>
              </a:spcBef>
              <a:spcAft>
                <a:spcPts val="0"/>
              </a:spcAft>
              <a:buClr>
                <a:srgbClr val="FFFFFF"/>
              </a:buClr>
              <a:buSzPts val="2974"/>
              <a:buFont typeface="Arial"/>
              <a:buChar char="•"/>
            </a:pPr>
            <a:r>
              <a:rPr lang="es-MX" sz="2974" b="0" i="0" u="none" strike="noStrike" cap="none">
                <a:solidFill>
                  <a:srgbClr val="FFFFFF"/>
                </a:solidFill>
                <a:latin typeface="Cambay"/>
                <a:ea typeface="Cambay"/>
                <a:cs typeface="Cambay"/>
                <a:sym typeface="Cambay"/>
              </a:rPr>
              <a:t>Paulina Urrutia Moya </a:t>
            </a:r>
            <a:endParaRPr sz="1400" b="0" i="0" u="none" strike="noStrike" cap="none">
              <a:solidFill>
                <a:srgbClr val="000000"/>
              </a:solidFill>
              <a:latin typeface="Arial"/>
              <a:ea typeface="Arial"/>
              <a:cs typeface="Arial"/>
              <a:sym typeface="Arial"/>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a:p>
            <a:pPr marL="0" marR="0" lvl="0" indent="0" algn="l" rtl="0">
              <a:lnSpc>
                <a:spcPct val="120006"/>
              </a:lnSpc>
              <a:spcBef>
                <a:spcPts val="0"/>
              </a:spcBef>
              <a:spcAft>
                <a:spcPts val="0"/>
              </a:spcAft>
              <a:buClr>
                <a:srgbClr val="000000"/>
              </a:buClr>
              <a:buSzPts val="2974"/>
              <a:buFont typeface="Arial"/>
              <a:buNone/>
            </a:pPr>
            <a:endParaRPr sz="2974" b="0" i="0" u="none" strike="noStrike" cap="none">
              <a:solidFill>
                <a:srgbClr val="FFFFFF"/>
              </a:solidFill>
              <a:latin typeface="Cambay"/>
              <a:ea typeface="Cambay"/>
              <a:cs typeface="Cambay"/>
              <a:sym typeface="Cambay"/>
            </a:endParaRPr>
          </a:p>
        </p:txBody>
      </p:sp>
      <p:sp>
        <p:nvSpPr>
          <p:cNvPr id="221" name="Google Shape;221;p16"/>
          <p:cNvSpPr txBox="1"/>
          <p:nvPr/>
        </p:nvSpPr>
        <p:spPr>
          <a:xfrm>
            <a:off x="-1496074" y="8615272"/>
            <a:ext cx="13496100" cy="461700"/>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1" i="0" u="none" strike="noStrike" cap="none">
                <a:solidFill>
                  <a:srgbClr val="FFFFFF"/>
                </a:solidFill>
                <a:latin typeface="Arial"/>
                <a:ea typeface="Arial"/>
                <a:cs typeface="Arial"/>
                <a:sym typeface="Arial"/>
              </a:rPr>
              <a:t>Profesor: </a:t>
            </a:r>
            <a:r>
              <a:rPr lang="es-MX" sz="2999" b="0" i="0" u="none" strike="noStrike" cap="none">
                <a:solidFill>
                  <a:srgbClr val="FFFFFF"/>
                </a:solidFill>
                <a:latin typeface="Arial"/>
                <a:ea typeface="Arial"/>
                <a:cs typeface="Arial"/>
                <a:sym typeface="Arial"/>
              </a:rPr>
              <a:t>Paulo Quinsacara Jofré</a:t>
            </a:r>
            <a:endParaRPr sz="1400" b="0" i="0" u="none" strike="noStrike" cap="none">
              <a:solidFill>
                <a:srgbClr val="000000"/>
              </a:solidFill>
              <a:latin typeface="Arial"/>
              <a:ea typeface="Arial"/>
              <a:cs typeface="Arial"/>
              <a:sym typeface="Arial"/>
            </a:endParaRPr>
          </a:p>
        </p:txBody>
      </p:sp>
      <p:sp>
        <p:nvSpPr>
          <p:cNvPr id="222" name="Google Shape;222;p16"/>
          <p:cNvSpPr txBox="1"/>
          <p:nvPr/>
        </p:nvSpPr>
        <p:spPr>
          <a:xfrm>
            <a:off x="16592550" y="9210675"/>
            <a:ext cx="819150" cy="646139"/>
          </a:xfrm>
          <a:prstGeom prst="rect">
            <a:avLst/>
          </a:prstGeom>
          <a:noFill/>
          <a:ln>
            <a:noFill/>
          </a:ln>
        </p:spPr>
        <p:txBody>
          <a:bodyPr spcFirstLastPara="1" wrap="square" lIns="0" tIns="0" rIns="0" bIns="0" anchor="t" anchorCtr="0">
            <a:spAutoFit/>
          </a:bodyPr>
          <a:lstStyle/>
          <a:p>
            <a:pPr marL="0" marR="0" lvl="0" indent="0" algn="ctr" rtl="0">
              <a:lnSpc>
                <a:spcPct val="140013"/>
              </a:lnSpc>
              <a:spcBef>
                <a:spcPts val="0"/>
              </a:spcBef>
              <a:spcAft>
                <a:spcPts val="0"/>
              </a:spcAft>
              <a:buClr>
                <a:srgbClr val="000000"/>
              </a:buClr>
              <a:buSzPts val="2999"/>
              <a:buFont typeface="Arial"/>
              <a:buNone/>
            </a:pPr>
            <a:r>
              <a:rPr lang="es-MX" sz="2999" b="0" i="0" u="none" strike="noStrike" cap="none" dirty="0">
                <a:solidFill>
                  <a:srgbClr val="FFFFFF"/>
                </a:solidFill>
                <a:latin typeface="Arial"/>
                <a:ea typeface="Arial"/>
                <a:cs typeface="Arial"/>
                <a:sym typeface="Arial"/>
              </a:rPr>
              <a:t>14</a:t>
            </a:r>
            <a:endParaRPr sz="1400" b="0" i="0" u="none" strike="noStrike" cap="none" dirty="0">
              <a:solidFill>
                <a:srgbClr val="000000"/>
              </a:solidFill>
              <a:latin typeface="Arial"/>
              <a:ea typeface="Arial"/>
              <a:cs typeface="Arial"/>
              <a:sym typeface="Arial"/>
            </a:endParaRPr>
          </a:p>
        </p:txBody>
      </p:sp>
      <p:sp>
        <p:nvSpPr>
          <p:cNvPr id="223" name="Google Shape;223;p16"/>
          <p:cNvSpPr txBox="1"/>
          <p:nvPr/>
        </p:nvSpPr>
        <p:spPr>
          <a:xfrm>
            <a:off x="1518683" y="1696290"/>
            <a:ext cx="12400609" cy="20605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999"/>
              <a:buFont typeface="Arial"/>
              <a:buNone/>
            </a:pPr>
            <a:r>
              <a:rPr lang="es-MX" sz="7999" b="1" i="0" u="none" strike="noStrike" cap="none">
                <a:solidFill>
                  <a:srgbClr val="CCFFAB"/>
                </a:solidFill>
                <a:latin typeface="Alexandria"/>
                <a:ea typeface="Alexandria"/>
                <a:cs typeface="Alexandria"/>
                <a:sym typeface="Alexandria"/>
              </a:rPr>
              <a:t>PROYECTO INGECON GRUPO 12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518</Words>
  <Application>Microsoft Office PowerPoint</Application>
  <PresentationFormat>Personalizado</PresentationFormat>
  <Paragraphs>100</Paragraphs>
  <Slides>14</Slides>
  <Notes>14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Alexandria</vt:lpstr>
      <vt:lpstr>Calibri</vt:lpstr>
      <vt:lpstr>Cambay</vt:lpstr>
      <vt:lpstr>Arial</vt:lpstr>
      <vt:lpstr>Manjari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ORTEGA NOBIZELLI VICENTE I</cp:lastModifiedBy>
  <cp:revision>1</cp:revision>
  <dcterms:created xsi:type="dcterms:W3CDTF">2006-08-16T00:00:00Z</dcterms:created>
  <dcterms:modified xsi:type="dcterms:W3CDTF">2026-09-11T22:43:59Z</dcterms:modified>
</cp:coreProperties>
</file>