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Alexandria" panose="020B0604020202020204" charset="-78"/>
      <p:regular r:id="rId19"/>
      <p:bold r:id="rId20"/>
    </p:embeddedFont>
    <p:embeddedFont>
      <p:font typeface="Cambay" panose="020B0604020202020204" charset="0"/>
      <p:regular r:id="rId21"/>
      <p:bold r:id="rId22"/>
      <p:italic r:id="rId23"/>
      <p:boldItalic r:id="rId24"/>
    </p:embeddedFont>
    <p:embeddedFont>
      <p:font typeface="Manjari" panose="020B0604020202020204"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jPg6YX63K7B4kulSANf8QzU2yX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A8067F1-B444-48D7-BA44-6AC96FDE0781}">
  <a:tblStyle styleId="{3A8067F1-B444-48D7-BA44-6AC96FDE078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65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6"/>
          <p:cNvSpPr>
            <a:spLocks noGrp="1"/>
          </p:cNvSpPr>
          <p:nvPr>
            <p:ph type="pic" idx="2"/>
          </p:nvPr>
        </p:nvSpPr>
        <p:spPr>
          <a:xfrm>
            <a:off x="1792288" y="612775"/>
            <a:ext cx="5486400" cy="4114800"/>
          </a:xfrm>
          <a:prstGeom prst="rect">
            <a:avLst/>
          </a:prstGeom>
          <a:noFill/>
          <a:ln>
            <a:noFill/>
          </a:ln>
        </p:spPr>
      </p:sp>
      <p:sp>
        <p:nvSpPr>
          <p:cNvPr id="64" name="Google Shape;64;p2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gif"/><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8.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9" b="-3888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 name="Google Shape;85;p1"/>
          <p:cNvSpPr/>
          <p:nvPr/>
        </p:nvSpPr>
        <p:spPr>
          <a:xfrm rot="3228445">
            <a:off x="-4744035" y="-2617448"/>
            <a:ext cx="16795899" cy="15268999"/>
          </a:xfrm>
          <a:custGeom>
            <a:avLst/>
            <a:gdLst/>
            <a:ahLst/>
            <a:cxnLst/>
            <a:rect l="l" t="t" r="r" b="b"/>
            <a:pathLst>
              <a:path w="16795899" h="15268999" extrusionOk="0">
                <a:moveTo>
                  <a:pt x="0" y="0"/>
                </a:moveTo>
                <a:lnTo>
                  <a:pt x="16795898" y="0"/>
                </a:lnTo>
                <a:lnTo>
                  <a:pt x="16795898" y="15268999"/>
                </a:lnTo>
                <a:lnTo>
                  <a:pt x="0" y="1526899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 name="Google Shape;86;p1"/>
          <p:cNvSpPr/>
          <p:nvPr/>
        </p:nvSpPr>
        <p:spPr>
          <a:xfrm>
            <a:off x="13889036" y="1544752"/>
            <a:ext cx="2415286" cy="2030812"/>
          </a:xfrm>
          <a:custGeom>
            <a:avLst/>
            <a:gdLst/>
            <a:ahLst/>
            <a:cxnLst/>
            <a:rect l="l" t="t" r="r" b="b"/>
            <a:pathLst>
              <a:path w="2415286" h="2030812" extrusionOk="0">
                <a:moveTo>
                  <a:pt x="0" y="0"/>
                </a:moveTo>
                <a:lnTo>
                  <a:pt x="2415285" y="0"/>
                </a:lnTo>
                <a:lnTo>
                  <a:pt x="2415285" y="2030812"/>
                </a:lnTo>
                <a:lnTo>
                  <a:pt x="0" y="2030812"/>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 name="Google Shape;87;p1"/>
          <p:cNvSpPr txBox="1"/>
          <p:nvPr/>
        </p:nvSpPr>
        <p:spPr>
          <a:xfrm>
            <a:off x="1488427" y="1908084"/>
            <a:ext cx="12400609" cy="206057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s-MX" sz="7999" b="1">
                <a:solidFill>
                  <a:srgbClr val="CCFFAB"/>
                </a:solidFill>
                <a:latin typeface="Alexandria"/>
                <a:ea typeface="Alexandria"/>
                <a:cs typeface="Alexandria"/>
                <a:sym typeface="Alexandria"/>
              </a:rPr>
              <a:t>PROYECTO INGECON GRUPO 12</a:t>
            </a:r>
            <a:endParaRPr/>
          </a:p>
        </p:txBody>
      </p:sp>
      <p:sp>
        <p:nvSpPr>
          <p:cNvPr id="88" name="Google Shape;88;p1"/>
          <p:cNvSpPr/>
          <p:nvPr/>
        </p:nvSpPr>
        <p:spPr>
          <a:xfrm>
            <a:off x="1356329" y="4846097"/>
            <a:ext cx="16340928" cy="3223339"/>
          </a:xfrm>
          <a:custGeom>
            <a:avLst/>
            <a:gdLst/>
            <a:ahLst/>
            <a:cxnLst/>
            <a:rect l="l" t="t" r="r" b="b"/>
            <a:pathLst>
              <a:path w="16340928" h="3223339" extrusionOk="0">
                <a:moveTo>
                  <a:pt x="0" y="0"/>
                </a:moveTo>
                <a:lnTo>
                  <a:pt x="16340928" y="0"/>
                </a:lnTo>
                <a:lnTo>
                  <a:pt x="16340928" y="3223339"/>
                </a:lnTo>
                <a:lnTo>
                  <a:pt x="0" y="3223339"/>
                </a:lnTo>
                <a:lnTo>
                  <a:pt x="0" y="0"/>
                </a:lnTo>
                <a:close/>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 name="Google Shape;89;p1"/>
          <p:cNvSpPr txBox="1"/>
          <p:nvPr/>
        </p:nvSpPr>
        <p:spPr>
          <a:xfrm>
            <a:off x="2045723" y="4023371"/>
            <a:ext cx="7481070" cy="6898940"/>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s-MX" sz="3808" b="1" dirty="0">
                <a:solidFill>
                  <a:srgbClr val="FFFFFF"/>
                </a:solidFill>
                <a:latin typeface="Cambay"/>
                <a:ea typeface="Cambay"/>
                <a:cs typeface="Cambay"/>
                <a:sym typeface="Cambay"/>
              </a:rPr>
              <a:t>Integrantes</a:t>
            </a:r>
            <a:endParaRPr dirty="0"/>
          </a:p>
          <a:p>
            <a:pPr marL="0" marR="0" lvl="0" indent="0" algn="l" rtl="0">
              <a:lnSpc>
                <a:spcPct val="120010"/>
              </a:lnSpc>
              <a:spcBef>
                <a:spcPts val="0"/>
              </a:spcBef>
              <a:spcAft>
                <a:spcPts val="0"/>
              </a:spcAft>
              <a:buNone/>
            </a:pPr>
            <a:endParaRPr sz="3808" b="1" dirty="0">
              <a:solidFill>
                <a:srgbClr val="FFFFFF"/>
              </a:solidFill>
              <a:latin typeface="Cambay"/>
              <a:ea typeface="Cambay"/>
              <a:cs typeface="Cambay"/>
              <a:sym typeface="Cambay"/>
            </a:endParaRPr>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dirty="0">
                <a:solidFill>
                  <a:srgbClr val="FFFFFF"/>
                </a:solidFill>
                <a:latin typeface="Cambay"/>
                <a:ea typeface="Cambay"/>
                <a:cs typeface="Cambay"/>
                <a:sym typeface="Cambay"/>
              </a:rPr>
              <a:t>Diego Carabajal Belmar </a:t>
            </a:r>
            <a:endParaRPr dirty="0"/>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dirty="0">
                <a:solidFill>
                  <a:srgbClr val="FFFFFF"/>
                </a:solidFill>
                <a:latin typeface="Cambay"/>
                <a:ea typeface="Cambay"/>
                <a:cs typeface="Cambay"/>
                <a:sym typeface="Cambay"/>
              </a:rPr>
              <a:t>Tomás Hurtado Silva </a:t>
            </a:r>
            <a:endParaRPr dirty="0"/>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dirty="0">
                <a:solidFill>
                  <a:srgbClr val="FFFFFF"/>
                </a:solidFill>
                <a:latin typeface="Cambay"/>
                <a:ea typeface="Cambay"/>
                <a:cs typeface="Cambay"/>
                <a:sym typeface="Cambay"/>
              </a:rPr>
              <a:t>Vicente Ortega Nobizelli </a:t>
            </a:r>
            <a:endParaRPr dirty="0"/>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dirty="0">
                <a:solidFill>
                  <a:srgbClr val="FFFFFF"/>
                </a:solidFill>
                <a:latin typeface="Cambay"/>
                <a:ea typeface="Cambay"/>
                <a:cs typeface="Cambay"/>
                <a:sym typeface="Cambay"/>
              </a:rPr>
              <a:t>Benjamín Parraguez Aguirre </a:t>
            </a:r>
            <a:endParaRPr dirty="0"/>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dirty="0">
                <a:solidFill>
                  <a:srgbClr val="FFFFFF"/>
                </a:solidFill>
                <a:latin typeface="Cambay"/>
                <a:ea typeface="Cambay"/>
                <a:cs typeface="Cambay"/>
                <a:sym typeface="Cambay"/>
              </a:rPr>
              <a:t>Paulina Urrutia Moya </a:t>
            </a:r>
            <a:endParaRPr dirty="0"/>
          </a:p>
          <a:p>
            <a:pPr marL="0" marR="0" lvl="0" indent="0" algn="l" rtl="0">
              <a:lnSpc>
                <a:spcPct val="120006"/>
              </a:lnSpc>
              <a:spcBef>
                <a:spcPts val="0"/>
              </a:spcBef>
              <a:spcAft>
                <a:spcPts val="0"/>
              </a:spcAft>
              <a:buNone/>
            </a:pPr>
            <a:endParaRPr sz="2974" dirty="0">
              <a:solidFill>
                <a:srgbClr val="FFFFFF"/>
              </a:solidFill>
              <a:latin typeface="Cambay"/>
              <a:ea typeface="Cambay"/>
              <a:cs typeface="Cambay"/>
              <a:sym typeface="Cambay"/>
            </a:endParaRPr>
          </a:p>
          <a:p>
            <a:pPr marL="0" marR="0" lvl="0" indent="0" algn="l" rtl="0">
              <a:lnSpc>
                <a:spcPct val="120006"/>
              </a:lnSpc>
              <a:spcBef>
                <a:spcPts val="0"/>
              </a:spcBef>
              <a:spcAft>
                <a:spcPts val="0"/>
              </a:spcAft>
              <a:buNone/>
            </a:pPr>
            <a:endParaRPr sz="2974" dirty="0">
              <a:solidFill>
                <a:srgbClr val="FFFFFF"/>
              </a:solidFill>
              <a:latin typeface="Cambay"/>
              <a:ea typeface="Cambay"/>
              <a:cs typeface="Cambay"/>
              <a:sym typeface="Cambay"/>
            </a:endParaRPr>
          </a:p>
          <a:p>
            <a:pPr marL="0" marR="0" lvl="0" indent="0" algn="l" rtl="0">
              <a:lnSpc>
                <a:spcPct val="120006"/>
              </a:lnSpc>
              <a:spcBef>
                <a:spcPts val="0"/>
              </a:spcBef>
              <a:spcAft>
                <a:spcPts val="0"/>
              </a:spcAft>
              <a:buNone/>
            </a:pPr>
            <a:endParaRPr sz="2974" dirty="0">
              <a:solidFill>
                <a:srgbClr val="FFFFFF"/>
              </a:solidFill>
              <a:latin typeface="Cambay"/>
              <a:ea typeface="Cambay"/>
              <a:cs typeface="Cambay"/>
              <a:sym typeface="Cambay"/>
            </a:endParaRPr>
          </a:p>
          <a:p>
            <a:pPr marL="0" marR="0" lvl="0" indent="0" algn="l" rtl="0">
              <a:lnSpc>
                <a:spcPct val="120006"/>
              </a:lnSpc>
              <a:spcBef>
                <a:spcPts val="0"/>
              </a:spcBef>
              <a:spcAft>
                <a:spcPts val="0"/>
              </a:spcAft>
              <a:buNone/>
            </a:pPr>
            <a:endParaRPr sz="2974" dirty="0">
              <a:solidFill>
                <a:srgbClr val="FFFFFF"/>
              </a:solidFill>
              <a:latin typeface="Cambay"/>
              <a:ea typeface="Cambay"/>
              <a:cs typeface="Cambay"/>
              <a:sym typeface="Cambay"/>
            </a:endParaRPr>
          </a:p>
          <a:p>
            <a:pPr marL="0" marR="0" lvl="0" indent="0" algn="l" rtl="0">
              <a:lnSpc>
                <a:spcPct val="120006"/>
              </a:lnSpc>
              <a:spcBef>
                <a:spcPts val="0"/>
              </a:spcBef>
              <a:spcAft>
                <a:spcPts val="0"/>
              </a:spcAft>
              <a:buNone/>
            </a:pPr>
            <a:endParaRPr sz="2974" dirty="0">
              <a:solidFill>
                <a:srgbClr val="FFFFFF"/>
              </a:solidFill>
              <a:latin typeface="Cambay"/>
              <a:ea typeface="Cambay"/>
              <a:cs typeface="Cambay"/>
              <a:sym typeface="Cambay"/>
            </a:endParaRPr>
          </a:p>
        </p:txBody>
      </p:sp>
      <p:sp>
        <p:nvSpPr>
          <p:cNvPr id="90" name="Google Shape;90;p1"/>
          <p:cNvSpPr txBox="1"/>
          <p:nvPr/>
        </p:nvSpPr>
        <p:spPr>
          <a:xfrm>
            <a:off x="4513455" y="5052540"/>
            <a:ext cx="16340928" cy="495301"/>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b="1">
                <a:solidFill>
                  <a:srgbClr val="FFFFFF"/>
                </a:solidFill>
                <a:latin typeface="Arial"/>
                <a:ea typeface="Arial"/>
                <a:cs typeface="Arial"/>
                <a:sym typeface="Arial"/>
              </a:rPr>
              <a:t>Profesor: </a:t>
            </a:r>
            <a:r>
              <a:rPr lang="es-MX" sz="2999">
                <a:solidFill>
                  <a:srgbClr val="FFFFFF"/>
                </a:solidFill>
                <a:latin typeface="Arial"/>
                <a:ea typeface="Arial"/>
                <a:cs typeface="Arial"/>
                <a:sym typeface="Arial"/>
              </a:rPr>
              <a:t>Paulo Quinsacara Jofré</a:t>
            </a:r>
            <a:endParaRPr/>
          </a:p>
        </p:txBody>
      </p:sp>
      <p:sp>
        <p:nvSpPr>
          <p:cNvPr id="91" name="Google Shape;91;p1"/>
          <p:cNvSpPr txBox="1"/>
          <p:nvPr/>
        </p:nvSpPr>
        <p:spPr>
          <a:xfrm>
            <a:off x="17259300" y="9210675"/>
            <a:ext cx="152400" cy="20002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a:solidFill>
                  <a:srgbClr val="FFFFFF"/>
                </a:solidFill>
                <a:latin typeface="Arial"/>
                <a:ea typeface="Arial"/>
                <a:cs typeface="Arial"/>
                <a:sym typeface="Arial"/>
              </a:rPr>
              <a:t>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p:nvPr/>
        </p:nvSpPr>
        <p:spPr>
          <a:xfrm>
            <a:off x="103239"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9" b="-3888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 name="Google Shape;97;p2"/>
          <p:cNvSpPr/>
          <p:nvPr/>
        </p:nvSpPr>
        <p:spPr>
          <a:xfrm>
            <a:off x="655311" y="3572025"/>
            <a:ext cx="16340928" cy="3426834"/>
          </a:xfrm>
          <a:custGeom>
            <a:avLst/>
            <a:gdLst/>
            <a:ahLst/>
            <a:cxnLst/>
            <a:rect l="l" t="t" r="r" b="b"/>
            <a:pathLst>
              <a:path w="16340928" h="3223339" extrusionOk="0">
                <a:moveTo>
                  <a:pt x="0" y="0"/>
                </a:moveTo>
                <a:lnTo>
                  <a:pt x="16340928" y="0"/>
                </a:lnTo>
                <a:lnTo>
                  <a:pt x="16340928" y="3223339"/>
                </a:lnTo>
                <a:lnTo>
                  <a:pt x="0" y="3223339"/>
                </a:lnTo>
                <a:lnTo>
                  <a:pt x="0" y="0"/>
                </a:lnTo>
                <a:close/>
              </a:path>
            </a:pathLst>
          </a:custGeom>
          <a:noFill/>
          <a:ln>
            <a:noFill/>
          </a:ln>
        </p:spPr>
        <p:txBody>
          <a:bodyPr spcFirstLastPara="1" wrap="square" lIns="91425" tIns="45700" rIns="91425" bIns="45700" anchor="t" anchorCtr="0">
            <a:noAutofit/>
          </a:bodyPr>
          <a:lstStyle/>
          <a:p>
            <a:pPr marL="539748" marR="0" lvl="1" indent="-193674" algn="l" rtl="0">
              <a:lnSpc>
                <a:spcPct val="291583"/>
              </a:lnSpc>
              <a:spcBef>
                <a:spcPts val="0"/>
              </a:spcBef>
              <a:spcAft>
                <a:spcPts val="0"/>
              </a:spcAft>
              <a:buClr>
                <a:schemeClr val="dk1"/>
              </a:buClr>
              <a:buSzPts val="1200"/>
              <a:buFont typeface="Calibri"/>
              <a:buNone/>
            </a:pPr>
            <a:endParaRPr sz="1200" b="0" i="0" u="none" strike="noStrike" cap="none">
              <a:solidFill>
                <a:srgbClr val="FFFFFF"/>
              </a:solidFill>
              <a:latin typeface="Arial"/>
              <a:ea typeface="Arial"/>
              <a:cs typeface="Arial"/>
              <a:sym typeface="Arial"/>
            </a:endParaRPr>
          </a:p>
        </p:txBody>
      </p:sp>
      <p:sp>
        <p:nvSpPr>
          <p:cNvPr id="98" name="Google Shape;98;p2"/>
          <p:cNvSpPr txBox="1"/>
          <p:nvPr/>
        </p:nvSpPr>
        <p:spPr>
          <a:xfrm>
            <a:off x="2124540" y="1326697"/>
            <a:ext cx="7574218" cy="132175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s-MX" sz="10037" b="1">
                <a:solidFill>
                  <a:srgbClr val="CCFFAB"/>
                </a:solidFill>
                <a:latin typeface="Alexandria"/>
                <a:ea typeface="Alexandria"/>
                <a:cs typeface="Alexandria"/>
                <a:sym typeface="Alexandria"/>
              </a:rPr>
              <a:t>ÍNDICE</a:t>
            </a:r>
            <a:endParaRPr/>
          </a:p>
        </p:txBody>
      </p:sp>
      <p:sp>
        <p:nvSpPr>
          <p:cNvPr id="99" name="Google Shape;99;p2"/>
          <p:cNvSpPr txBox="1"/>
          <p:nvPr/>
        </p:nvSpPr>
        <p:spPr>
          <a:xfrm>
            <a:off x="17259300" y="9210675"/>
            <a:ext cx="152400" cy="20002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a:solidFill>
                  <a:srgbClr val="FFFFFF"/>
                </a:solidFill>
                <a:latin typeface="Arial"/>
                <a:ea typeface="Arial"/>
                <a:cs typeface="Arial"/>
                <a:sym typeface="Arial"/>
              </a:rPr>
              <a:t>2</a:t>
            </a:r>
            <a:endParaRPr/>
          </a:p>
        </p:txBody>
      </p:sp>
      <p:sp>
        <p:nvSpPr>
          <p:cNvPr id="100" name="Google Shape;100;p2"/>
          <p:cNvSpPr txBox="1"/>
          <p:nvPr/>
        </p:nvSpPr>
        <p:spPr>
          <a:xfrm>
            <a:off x="1833127" y="3572025"/>
            <a:ext cx="8937522" cy="4154984"/>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FFFFFF"/>
              </a:buClr>
              <a:buSzPts val="2000"/>
              <a:buFont typeface="Arial"/>
              <a:buAutoNum type="arabicPeriod"/>
            </a:pPr>
            <a:r>
              <a:rPr lang="es-MX" sz="2000">
                <a:solidFill>
                  <a:srgbClr val="FFFFFF"/>
                </a:solidFill>
                <a:latin typeface="Arial"/>
                <a:ea typeface="Arial"/>
                <a:cs typeface="Arial"/>
                <a:sym typeface="Arial"/>
              </a:rPr>
              <a:t>Introducción</a:t>
            </a:r>
            <a:endParaRPr/>
          </a:p>
          <a:p>
            <a:pPr marL="342900" marR="0" lvl="0" indent="-342900" algn="l" rtl="0">
              <a:lnSpc>
                <a:spcPct val="150000"/>
              </a:lnSpc>
              <a:spcBef>
                <a:spcPts val="0"/>
              </a:spcBef>
              <a:spcAft>
                <a:spcPts val="0"/>
              </a:spcAft>
              <a:buClr>
                <a:srgbClr val="FFFFFF"/>
              </a:buClr>
              <a:buSzPts val="2000"/>
              <a:buFont typeface="Arial"/>
              <a:buAutoNum type="arabicPeriod"/>
            </a:pPr>
            <a:r>
              <a:rPr lang="es-MX" sz="2000">
                <a:solidFill>
                  <a:srgbClr val="FFFFFF"/>
                </a:solidFill>
                <a:latin typeface="Arial"/>
                <a:ea typeface="Arial"/>
                <a:cs typeface="Arial"/>
                <a:sym typeface="Arial"/>
              </a:rPr>
              <a:t>Resumen incremento</a:t>
            </a:r>
            <a:endParaRPr/>
          </a:p>
          <a:p>
            <a:pPr marL="342900" marR="0" lvl="0" indent="-342900" algn="l" rtl="0">
              <a:lnSpc>
                <a:spcPct val="150000"/>
              </a:lnSpc>
              <a:spcBef>
                <a:spcPts val="0"/>
              </a:spcBef>
              <a:spcAft>
                <a:spcPts val="0"/>
              </a:spcAft>
              <a:buClr>
                <a:srgbClr val="FFFFFF"/>
              </a:buClr>
              <a:buSzPts val="2000"/>
              <a:buFont typeface="Arial"/>
              <a:buAutoNum type="arabicPeriod"/>
            </a:pPr>
            <a:r>
              <a:rPr lang="es-MX" sz="2000">
                <a:solidFill>
                  <a:srgbClr val="FFFFFF"/>
                </a:solidFill>
                <a:latin typeface="Arial"/>
                <a:ea typeface="Arial"/>
                <a:cs typeface="Arial"/>
                <a:sym typeface="Arial"/>
              </a:rPr>
              <a:t>Requerimientos funcionales importantes</a:t>
            </a:r>
            <a:endParaRPr/>
          </a:p>
          <a:p>
            <a:pPr marL="342900" marR="0" lvl="0" indent="-342900" algn="l" rtl="0">
              <a:lnSpc>
                <a:spcPct val="150000"/>
              </a:lnSpc>
              <a:spcBef>
                <a:spcPts val="0"/>
              </a:spcBef>
              <a:spcAft>
                <a:spcPts val="0"/>
              </a:spcAft>
              <a:buClr>
                <a:srgbClr val="FFFFFF"/>
              </a:buClr>
              <a:buSzPts val="2000"/>
              <a:buFont typeface="Arial"/>
              <a:buAutoNum type="arabicPeriod"/>
            </a:pPr>
            <a:r>
              <a:rPr lang="es-MX" sz="2000">
                <a:solidFill>
                  <a:srgbClr val="FFFFFF"/>
                </a:solidFill>
                <a:latin typeface="Arial"/>
                <a:ea typeface="Arial"/>
                <a:cs typeface="Arial"/>
                <a:sym typeface="Arial"/>
              </a:rPr>
              <a:t>Diagrama de Componentes</a:t>
            </a:r>
            <a:endParaRPr/>
          </a:p>
          <a:p>
            <a:pPr marL="342900" marR="0" lvl="0" indent="-342900" algn="l" rtl="0">
              <a:lnSpc>
                <a:spcPct val="150000"/>
              </a:lnSpc>
              <a:spcBef>
                <a:spcPts val="0"/>
              </a:spcBef>
              <a:spcAft>
                <a:spcPts val="0"/>
              </a:spcAft>
              <a:buClr>
                <a:srgbClr val="FFFFFF"/>
              </a:buClr>
              <a:buSzPts val="2000"/>
              <a:buFont typeface="Arial"/>
              <a:buAutoNum type="arabicPeriod"/>
            </a:pPr>
            <a:r>
              <a:rPr lang="es-MX" sz="2000">
                <a:solidFill>
                  <a:srgbClr val="FFFFFF"/>
                </a:solidFill>
                <a:latin typeface="Arial"/>
                <a:ea typeface="Arial"/>
                <a:cs typeface="Arial"/>
                <a:sym typeface="Arial"/>
              </a:rPr>
              <a:t>Casos de Uso y Diagramas de Secuencia</a:t>
            </a:r>
            <a:endParaRPr/>
          </a:p>
          <a:p>
            <a:pPr marL="342900" marR="0" lvl="0" indent="-342900" algn="l" rtl="0">
              <a:lnSpc>
                <a:spcPct val="150000"/>
              </a:lnSpc>
              <a:spcBef>
                <a:spcPts val="0"/>
              </a:spcBef>
              <a:spcAft>
                <a:spcPts val="0"/>
              </a:spcAft>
              <a:buClr>
                <a:srgbClr val="FFFFFF"/>
              </a:buClr>
              <a:buSzPts val="2000"/>
              <a:buFont typeface="Arial"/>
              <a:buAutoNum type="arabicPeriod"/>
            </a:pPr>
            <a:r>
              <a:rPr lang="es-MX" sz="2000">
                <a:solidFill>
                  <a:srgbClr val="FFFFFF"/>
                </a:solidFill>
                <a:latin typeface="Arial"/>
                <a:ea typeface="Arial"/>
                <a:cs typeface="Arial"/>
                <a:sym typeface="Arial"/>
              </a:rPr>
              <a:t>Árbol de navegación</a:t>
            </a:r>
            <a:endParaRPr/>
          </a:p>
          <a:p>
            <a:pPr marL="342900" marR="0" lvl="0" indent="-342900" algn="l" rtl="0">
              <a:lnSpc>
                <a:spcPct val="150000"/>
              </a:lnSpc>
              <a:spcBef>
                <a:spcPts val="0"/>
              </a:spcBef>
              <a:spcAft>
                <a:spcPts val="0"/>
              </a:spcAft>
              <a:buClr>
                <a:srgbClr val="FFFFFF"/>
              </a:buClr>
              <a:buSzPts val="2000"/>
              <a:buFont typeface="Arial"/>
              <a:buAutoNum type="arabicPeriod"/>
            </a:pPr>
            <a:r>
              <a:rPr lang="es-MX" sz="2000">
                <a:solidFill>
                  <a:srgbClr val="FFFFFF"/>
                </a:solidFill>
                <a:latin typeface="Arial"/>
                <a:ea typeface="Arial"/>
                <a:cs typeface="Arial"/>
                <a:sym typeface="Arial"/>
              </a:rPr>
              <a:t>Base de Datos: Diagrama de Clases</a:t>
            </a:r>
            <a:endParaRPr/>
          </a:p>
          <a:p>
            <a:pPr marL="342900" marR="0" lvl="0" indent="-228600" algn="l" rtl="0">
              <a:spcBef>
                <a:spcPts val="0"/>
              </a:spcBef>
              <a:spcAft>
                <a:spcPts val="0"/>
              </a:spcAft>
              <a:buClr>
                <a:schemeClr val="dk1"/>
              </a:buClr>
              <a:buSzPts val="1800"/>
              <a:buFont typeface="Calibri"/>
              <a:buNone/>
            </a:pPr>
            <a:endParaRPr sz="1800">
              <a:solidFill>
                <a:srgbClr val="FFFFFF"/>
              </a:solidFill>
              <a:latin typeface="Arial"/>
              <a:ea typeface="Arial"/>
              <a:cs typeface="Arial"/>
              <a:sym typeface="Arial"/>
            </a:endParaRPr>
          </a:p>
          <a:p>
            <a:pPr marL="342900" marR="0" lvl="0" indent="-228600" algn="l" rtl="0">
              <a:spcBef>
                <a:spcPts val="0"/>
              </a:spcBef>
              <a:spcAft>
                <a:spcPts val="0"/>
              </a:spcAft>
              <a:buClr>
                <a:schemeClr val="dk1"/>
              </a:buClr>
              <a:buSzPts val="1800"/>
              <a:buFont typeface="Calibri"/>
              <a:buNone/>
            </a:pPr>
            <a:endParaRPr sz="1800">
              <a:solidFill>
                <a:srgbClr val="FFFFFF"/>
              </a:solidFill>
              <a:latin typeface="Arial"/>
              <a:ea typeface="Arial"/>
              <a:cs typeface="Arial"/>
              <a:sym typeface="Arial"/>
            </a:endParaRPr>
          </a:p>
          <a:p>
            <a:pPr marL="342900" marR="0" lvl="0" indent="-228600" algn="l" rtl="0">
              <a:spcBef>
                <a:spcPts val="0"/>
              </a:spcBef>
              <a:spcAft>
                <a:spcPts val="0"/>
              </a:spcAft>
              <a:buClr>
                <a:schemeClr val="dk1"/>
              </a:buClr>
              <a:buSzPts val="1800"/>
              <a:buFont typeface="Calibri"/>
              <a:buNone/>
            </a:pPr>
            <a:endParaRPr sz="1800">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9" b="-3888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 name="Google Shape;106;p3"/>
          <p:cNvSpPr/>
          <p:nvPr/>
        </p:nvSpPr>
        <p:spPr>
          <a:xfrm rot="3228445">
            <a:off x="-4747761" y="-1113135"/>
            <a:ext cx="16795899" cy="15268999"/>
          </a:xfrm>
          <a:custGeom>
            <a:avLst/>
            <a:gdLst/>
            <a:ahLst/>
            <a:cxnLst/>
            <a:rect l="l" t="t" r="r" b="b"/>
            <a:pathLst>
              <a:path w="16795899" h="15268999" extrusionOk="0">
                <a:moveTo>
                  <a:pt x="0" y="0"/>
                </a:moveTo>
                <a:lnTo>
                  <a:pt x="16795899" y="0"/>
                </a:lnTo>
                <a:lnTo>
                  <a:pt x="16795899" y="15268999"/>
                </a:lnTo>
                <a:lnTo>
                  <a:pt x="0" y="1526899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 name="Google Shape;107;p3"/>
          <p:cNvSpPr/>
          <p:nvPr/>
        </p:nvSpPr>
        <p:spPr>
          <a:xfrm>
            <a:off x="13244558" y="2446351"/>
            <a:ext cx="3928941" cy="1703968"/>
          </a:xfrm>
          <a:custGeom>
            <a:avLst/>
            <a:gdLst/>
            <a:ahLst/>
            <a:cxnLst/>
            <a:rect l="l" t="t" r="r" b="b"/>
            <a:pathLst>
              <a:path w="3928941" h="1703968" extrusionOk="0">
                <a:moveTo>
                  <a:pt x="0" y="0"/>
                </a:moveTo>
                <a:lnTo>
                  <a:pt x="3928941" y="0"/>
                </a:lnTo>
                <a:lnTo>
                  <a:pt x="3928941" y="1703969"/>
                </a:lnTo>
                <a:lnTo>
                  <a:pt x="0" y="1703969"/>
                </a:lnTo>
                <a:lnTo>
                  <a:pt x="0" y="0"/>
                </a:lnTo>
                <a:close/>
              </a:path>
            </a:pathLst>
          </a:custGeom>
          <a:blipFill rotWithShape="1">
            <a:blip r:embed="rId5">
              <a:alphaModFix/>
            </a:blip>
            <a:stretch>
              <a:fillRect t="-13432" b="-1343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8" name="Google Shape;108;p3"/>
          <p:cNvSpPr/>
          <p:nvPr/>
        </p:nvSpPr>
        <p:spPr>
          <a:xfrm>
            <a:off x="16339242" y="3480602"/>
            <a:ext cx="1262987" cy="828979"/>
          </a:xfrm>
          <a:custGeom>
            <a:avLst/>
            <a:gdLst/>
            <a:ahLst/>
            <a:cxnLst/>
            <a:rect l="l" t="t" r="r" b="b"/>
            <a:pathLst>
              <a:path w="1262987" h="828979" extrusionOk="0">
                <a:moveTo>
                  <a:pt x="0" y="0"/>
                </a:moveTo>
                <a:lnTo>
                  <a:pt x="1262987" y="0"/>
                </a:lnTo>
                <a:lnTo>
                  <a:pt x="1262987" y="828978"/>
                </a:lnTo>
                <a:lnTo>
                  <a:pt x="0" y="828978"/>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 name="Google Shape;109;p3"/>
          <p:cNvSpPr/>
          <p:nvPr/>
        </p:nvSpPr>
        <p:spPr>
          <a:xfrm>
            <a:off x="554815" y="4463350"/>
            <a:ext cx="15926559" cy="3141602"/>
          </a:xfrm>
          <a:custGeom>
            <a:avLst/>
            <a:gdLst/>
            <a:ahLst/>
            <a:cxnLst/>
            <a:rect l="l" t="t" r="r" b="b"/>
            <a:pathLst>
              <a:path w="15926559" h="3141602" extrusionOk="0">
                <a:moveTo>
                  <a:pt x="0" y="0"/>
                </a:moveTo>
                <a:lnTo>
                  <a:pt x="15926559" y="0"/>
                </a:lnTo>
                <a:lnTo>
                  <a:pt x="15926559" y="3141603"/>
                </a:lnTo>
                <a:lnTo>
                  <a:pt x="0" y="3141603"/>
                </a:lnTo>
                <a:lnTo>
                  <a:pt x="0" y="0"/>
                </a:lnTo>
                <a:close/>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 name="Google Shape;110;p3"/>
          <p:cNvSpPr txBox="1"/>
          <p:nvPr/>
        </p:nvSpPr>
        <p:spPr>
          <a:xfrm>
            <a:off x="1399234" y="1209675"/>
            <a:ext cx="11845324" cy="123667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s-MX" sz="9313" b="1">
                <a:solidFill>
                  <a:srgbClr val="CCFFAB"/>
                </a:solidFill>
                <a:latin typeface="Alexandria"/>
                <a:ea typeface="Alexandria"/>
                <a:cs typeface="Alexandria"/>
                <a:sym typeface="Alexandria"/>
              </a:rPr>
              <a:t>INTRODUCCIÓN</a:t>
            </a:r>
            <a:endParaRPr/>
          </a:p>
        </p:txBody>
      </p:sp>
      <p:sp>
        <p:nvSpPr>
          <p:cNvPr id="111" name="Google Shape;111;p3"/>
          <p:cNvSpPr txBox="1"/>
          <p:nvPr/>
        </p:nvSpPr>
        <p:spPr>
          <a:xfrm>
            <a:off x="1550515" y="5463817"/>
            <a:ext cx="3512961" cy="2120773"/>
          </a:xfrm>
          <a:prstGeom prst="rect">
            <a:avLst/>
          </a:prstGeom>
          <a:noFill/>
          <a:ln>
            <a:noFill/>
          </a:ln>
        </p:spPr>
        <p:txBody>
          <a:bodyPr spcFirstLastPara="1" wrap="square" lIns="0" tIns="0" rIns="0" bIns="0" anchor="t" anchorCtr="0">
            <a:spAutoFit/>
          </a:bodyPr>
          <a:lstStyle/>
          <a:p>
            <a:pPr marL="0" marR="0" lvl="0" indent="0" algn="l" rtl="0">
              <a:lnSpc>
                <a:spcPct val="128012"/>
              </a:lnSpc>
              <a:spcBef>
                <a:spcPts val="0"/>
              </a:spcBef>
              <a:spcAft>
                <a:spcPts val="0"/>
              </a:spcAft>
              <a:buNone/>
            </a:pPr>
            <a:r>
              <a:rPr lang="es-MX" sz="2199">
                <a:solidFill>
                  <a:srgbClr val="FFFFFF"/>
                </a:solidFill>
                <a:latin typeface="Manjari"/>
                <a:ea typeface="Manjari"/>
                <a:cs typeface="Manjari"/>
                <a:sym typeface="Manjari"/>
              </a:rPr>
              <a:t>Evolución desde la ingeniería manual de conectores hacia la industrialización y automatización de estructuras prefabricadas.</a:t>
            </a:r>
            <a:endParaRPr/>
          </a:p>
        </p:txBody>
      </p:sp>
      <p:sp>
        <p:nvSpPr>
          <p:cNvPr id="112" name="Google Shape;112;p3"/>
          <p:cNvSpPr txBox="1"/>
          <p:nvPr/>
        </p:nvSpPr>
        <p:spPr>
          <a:xfrm>
            <a:off x="6435887" y="5504012"/>
            <a:ext cx="3694499" cy="1768348"/>
          </a:xfrm>
          <a:prstGeom prst="rect">
            <a:avLst/>
          </a:prstGeom>
          <a:noFill/>
          <a:ln>
            <a:noFill/>
          </a:ln>
        </p:spPr>
        <p:txBody>
          <a:bodyPr spcFirstLastPara="1" wrap="square" lIns="0" tIns="0" rIns="0" bIns="0" anchor="t" anchorCtr="0">
            <a:spAutoFit/>
          </a:bodyPr>
          <a:lstStyle/>
          <a:p>
            <a:pPr marL="0" marR="0" lvl="0" indent="0" algn="l" rtl="0">
              <a:lnSpc>
                <a:spcPct val="128012"/>
              </a:lnSpc>
              <a:spcBef>
                <a:spcPts val="0"/>
              </a:spcBef>
              <a:spcAft>
                <a:spcPts val="0"/>
              </a:spcAft>
              <a:buNone/>
            </a:pPr>
            <a:r>
              <a:rPr lang="es-MX" sz="2199">
                <a:solidFill>
                  <a:srgbClr val="FFFFFF"/>
                </a:solidFill>
                <a:latin typeface="Manjari"/>
                <a:ea typeface="Manjari"/>
                <a:cs typeface="Manjari"/>
                <a:sym typeface="Manjari"/>
              </a:rPr>
              <a:t>Carencia de una presencia digital robusta y de un canal formalizado para la gestión de cotizaciones y visualización de certificados.</a:t>
            </a:r>
            <a:endParaRPr/>
          </a:p>
        </p:txBody>
      </p:sp>
      <p:sp>
        <p:nvSpPr>
          <p:cNvPr id="113" name="Google Shape;113;p3"/>
          <p:cNvSpPr txBox="1"/>
          <p:nvPr/>
        </p:nvSpPr>
        <p:spPr>
          <a:xfrm>
            <a:off x="11324942" y="5504012"/>
            <a:ext cx="4405520" cy="1768348"/>
          </a:xfrm>
          <a:prstGeom prst="rect">
            <a:avLst/>
          </a:prstGeom>
          <a:noFill/>
          <a:ln>
            <a:noFill/>
          </a:ln>
        </p:spPr>
        <p:txBody>
          <a:bodyPr spcFirstLastPara="1" wrap="square" lIns="0" tIns="0" rIns="0" bIns="0" anchor="t" anchorCtr="0">
            <a:spAutoFit/>
          </a:bodyPr>
          <a:lstStyle/>
          <a:p>
            <a:pPr marL="0" marR="0" lvl="0" indent="0" algn="l" rtl="0">
              <a:lnSpc>
                <a:spcPct val="128012"/>
              </a:lnSpc>
              <a:spcBef>
                <a:spcPts val="0"/>
              </a:spcBef>
              <a:spcAft>
                <a:spcPts val="0"/>
              </a:spcAft>
              <a:buNone/>
            </a:pPr>
            <a:r>
              <a:rPr lang="es-MX" sz="2199">
                <a:solidFill>
                  <a:srgbClr val="FFFFFF"/>
                </a:solidFill>
                <a:latin typeface="Manjari"/>
                <a:ea typeface="Manjari"/>
                <a:cs typeface="Manjari"/>
                <a:sym typeface="Manjari"/>
              </a:rPr>
              <a:t>Desarrollo de una plataforma web que funciona como vista técnica publica y un panel de gestión interno seguro para el control administrativo.</a:t>
            </a:r>
            <a:endParaRPr/>
          </a:p>
        </p:txBody>
      </p:sp>
      <p:sp>
        <p:nvSpPr>
          <p:cNvPr id="114" name="Google Shape;114;p3"/>
          <p:cNvSpPr txBox="1"/>
          <p:nvPr/>
        </p:nvSpPr>
        <p:spPr>
          <a:xfrm>
            <a:off x="1558930" y="4750595"/>
            <a:ext cx="2279216" cy="562737"/>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s-MX" sz="3800" b="1">
                <a:solidFill>
                  <a:srgbClr val="FFFFFF"/>
                </a:solidFill>
                <a:latin typeface="Manjari"/>
                <a:ea typeface="Manjari"/>
                <a:cs typeface="Manjari"/>
                <a:sym typeface="Manjari"/>
              </a:rPr>
              <a:t>Historia</a:t>
            </a:r>
            <a:endParaRPr/>
          </a:p>
        </p:txBody>
      </p:sp>
      <p:sp>
        <p:nvSpPr>
          <p:cNvPr id="115" name="Google Shape;115;p3"/>
          <p:cNvSpPr txBox="1"/>
          <p:nvPr/>
        </p:nvSpPr>
        <p:spPr>
          <a:xfrm>
            <a:off x="6435887" y="4729631"/>
            <a:ext cx="2082208" cy="562737"/>
          </a:xfrm>
          <a:prstGeom prst="rect">
            <a:avLst/>
          </a:prstGeom>
          <a:noFill/>
          <a:ln>
            <a:noFill/>
          </a:ln>
        </p:spPr>
        <p:txBody>
          <a:bodyPr spcFirstLastPara="1" wrap="square" lIns="0" tIns="0" rIns="0" bIns="0" anchor="t" anchorCtr="0">
            <a:spAutoFit/>
          </a:bodyPr>
          <a:lstStyle/>
          <a:p>
            <a:pPr marL="0" marR="0" lvl="0" indent="0" algn="l" rtl="0">
              <a:lnSpc>
                <a:spcPct val="108002"/>
              </a:lnSpc>
              <a:spcBef>
                <a:spcPts val="0"/>
              </a:spcBef>
              <a:spcAft>
                <a:spcPts val="0"/>
              </a:spcAft>
              <a:buNone/>
            </a:pPr>
            <a:r>
              <a:rPr lang="es-MX" sz="3799" b="1">
                <a:solidFill>
                  <a:srgbClr val="FFFFFF"/>
                </a:solidFill>
                <a:latin typeface="Manjari"/>
                <a:ea typeface="Manjari"/>
                <a:cs typeface="Manjari"/>
                <a:sym typeface="Manjari"/>
              </a:rPr>
              <a:t>Desafío</a:t>
            </a:r>
            <a:endParaRPr/>
          </a:p>
        </p:txBody>
      </p:sp>
      <p:sp>
        <p:nvSpPr>
          <p:cNvPr id="116" name="Google Shape;116;p3"/>
          <p:cNvSpPr txBox="1"/>
          <p:nvPr/>
        </p:nvSpPr>
        <p:spPr>
          <a:xfrm>
            <a:off x="11324942" y="4729631"/>
            <a:ext cx="3865355" cy="562737"/>
          </a:xfrm>
          <a:prstGeom prst="rect">
            <a:avLst/>
          </a:prstGeom>
          <a:noFill/>
          <a:ln>
            <a:noFill/>
          </a:ln>
        </p:spPr>
        <p:txBody>
          <a:bodyPr spcFirstLastPara="1" wrap="square" lIns="0" tIns="0" rIns="0" bIns="0" anchor="t" anchorCtr="0">
            <a:spAutoFit/>
          </a:bodyPr>
          <a:lstStyle/>
          <a:p>
            <a:pPr marL="0" marR="0" lvl="0" indent="0" algn="l" rtl="0">
              <a:lnSpc>
                <a:spcPct val="108002"/>
              </a:lnSpc>
              <a:spcBef>
                <a:spcPts val="0"/>
              </a:spcBef>
              <a:spcAft>
                <a:spcPts val="0"/>
              </a:spcAft>
              <a:buNone/>
            </a:pPr>
            <a:r>
              <a:rPr lang="es-MX" sz="3799" b="1">
                <a:solidFill>
                  <a:srgbClr val="FFFFFF"/>
                </a:solidFill>
                <a:latin typeface="Manjari"/>
                <a:ea typeface="Manjari"/>
                <a:cs typeface="Manjari"/>
                <a:sym typeface="Manjari"/>
              </a:rPr>
              <a:t>Solución</a:t>
            </a:r>
            <a:endParaRPr/>
          </a:p>
        </p:txBody>
      </p:sp>
      <p:sp>
        <p:nvSpPr>
          <p:cNvPr id="117" name="Google Shape;117;p3"/>
          <p:cNvSpPr txBox="1"/>
          <p:nvPr/>
        </p:nvSpPr>
        <p:spPr>
          <a:xfrm>
            <a:off x="17259300" y="9210675"/>
            <a:ext cx="152400" cy="20002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a:solidFill>
                  <a:srgbClr val="FFFFFF"/>
                </a:solidFill>
                <a:latin typeface="Arial"/>
                <a:ea typeface="Arial"/>
                <a:cs typeface="Arial"/>
                <a:sym typeface="Arial"/>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22" b="-922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 name="Google Shape;123;p4"/>
          <p:cNvSpPr/>
          <p:nvPr/>
        </p:nvSpPr>
        <p:spPr>
          <a:xfrm>
            <a:off x="9820447" y="4890910"/>
            <a:ext cx="7815719" cy="1541694"/>
          </a:xfrm>
          <a:custGeom>
            <a:avLst/>
            <a:gdLst/>
            <a:ahLst/>
            <a:cxnLst/>
            <a:rect l="l" t="t" r="r" b="b"/>
            <a:pathLst>
              <a:path w="7815719" h="1541694" extrusionOk="0">
                <a:moveTo>
                  <a:pt x="0" y="0"/>
                </a:moveTo>
                <a:lnTo>
                  <a:pt x="7815719" y="0"/>
                </a:lnTo>
                <a:lnTo>
                  <a:pt x="7815719" y="1541694"/>
                </a:lnTo>
                <a:lnTo>
                  <a:pt x="0" y="1541694"/>
                </a:lnTo>
                <a:lnTo>
                  <a:pt x="0" y="0"/>
                </a:lnTo>
                <a:close/>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124" name="Google Shape;124;p4"/>
          <p:cNvGraphicFramePr/>
          <p:nvPr/>
        </p:nvGraphicFramePr>
        <p:xfrm>
          <a:off x="9641254" y="2903081"/>
          <a:ext cx="3000000" cy="3000000"/>
        </p:xfrm>
        <a:graphic>
          <a:graphicData uri="http://schemas.openxmlformats.org/drawingml/2006/table">
            <a:tbl>
              <a:tblPr>
                <a:noFill/>
                <a:tableStyleId>{3A8067F1-B444-48D7-BA44-6AC96FDE0781}</a:tableStyleId>
              </a:tblPr>
              <a:tblGrid>
                <a:gridCol w="2744775">
                  <a:extLst>
                    <a:ext uri="{9D8B030D-6E8A-4147-A177-3AD203B41FA5}">
                      <a16:colId xmlns:a16="http://schemas.microsoft.com/office/drawing/2014/main" val="20000"/>
                    </a:ext>
                  </a:extLst>
                </a:gridCol>
                <a:gridCol w="2284100">
                  <a:extLst>
                    <a:ext uri="{9D8B030D-6E8A-4147-A177-3AD203B41FA5}">
                      <a16:colId xmlns:a16="http://schemas.microsoft.com/office/drawing/2014/main" val="20001"/>
                    </a:ext>
                  </a:extLst>
                </a:gridCol>
                <a:gridCol w="2966050">
                  <a:extLst>
                    <a:ext uri="{9D8B030D-6E8A-4147-A177-3AD203B41FA5}">
                      <a16:colId xmlns:a16="http://schemas.microsoft.com/office/drawing/2014/main" val="20002"/>
                    </a:ext>
                  </a:extLst>
                </a:gridCol>
              </a:tblGrid>
              <a:tr h="1335400">
                <a:tc>
                  <a:txBody>
                    <a:bodyPr/>
                    <a:lstStyle/>
                    <a:p>
                      <a:pPr marL="0" marR="0" lvl="0" indent="0" algn="ctr" rtl="0">
                        <a:lnSpc>
                          <a:spcPct val="140020"/>
                        </a:lnSpc>
                        <a:spcBef>
                          <a:spcPts val="0"/>
                        </a:spcBef>
                        <a:spcAft>
                          <a:spcPts val="0"/>
                        </a:spcAft>
                        <a:buNone/>
                      </a:pPr>
                      <a:r>
                        <a:rPr lang="es-MX" sz="1999" u="none" strike="noStrike" cap="none">
                          <a:solidFill>
                            <a:srgbClr val="000000"/>
                          </a:solidFill>
                          <a:latin typeface="Arial"/>
                          <a:ea typeface="Arial"/>
                          <a:cs typeface="Arial"/>
                          <a:sym typeface="Arial"/>
                        </a:rPr>
                        <a:t>Incremento</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699"/>
                    </a:solidFill>
                  </a:tcPr>
                </a:tc>
                <a:tc>
                  <a:txBody>
                    <a:bodyPr/>
                    <a:lstStyle/>
                    <a:p>
                      <a:pPr marL="0" marR="0" lvl="0" indent="0" algn="ctr" rtl="0">
                        <a:lnSpc>
                          <a:spcPct val="140020"/>
                        </a:lnSpc>
                        <a:spcBef>
                          <a:spcPts val="0"/>
                        </a:spcBef>
                        <a:spcAft>
                          <a:spcPts val="0"/>
                        </a:spcAft>
                        <a:buNone/>
                      </a:pPr>
                      <a:r>
                        <a:rPr lang="es-MX" sz="1999" u="none" strike="noStrike" cap="none">
                          <a:solidFill>
                            <a:srgbClr val="000000"/>
                          </a:solidFill>
                          <a:latin typeface="Arial"/>
                          <a:ea typeface="Arial"/>
                          <a:cs typeface="Arial"/>
                          <a:sym typeface="Arial"/>
                        </a:rPr>
                        <a:t>Porcentaje%</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699"/>
                    </a:solidFill>
                  </a:tcPr>
                </a:tc>
                <a:tc>
                  <a:txBody>
                    <a:bodyPr/>
                    <a:lstStyle/>
                    <a:p>
                      <a:pPr marL="0" marR="0" lvl="0" indent="0" algn="ctr" rtl="0">
                        <a:lnSpc>
                          <a:spcPct val="140020"/>
                        </a:lnSpc>
                        <a:spcBef>
                          <a:spcPts val="0"/>
                        </a:spcBef>
                        <a:spcAft>
                          <a:spcPts val="0"/>
                        </a:spcAft>
                        <a:buNone/>
                      </a:pPr>
                      <a:r>
                        <a:rPr lang="es-MX" sz="1999" u="none" strike="noStrike" cap="none">
                          <a:solidFill>
                            <a:srgbClr val="000000"/>
                          </a:solidFill>
                          <a:latin typeface="Arial"/>
                          <a:ea typeface="Arial"/>
                          <a:cs typeface="Arial"/>
                          <a:sym typeface="Arial"/>
                        </a:rPr>
                        <a:t>Porcentaje Acumulado%</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699"/>
                    </a:solidFill>
                  </a:tcPr>
                </a:tc>
                <a:extLst>
                  <a:ext uri="{0D108BD9-81ED-4DB2-BD59-A6C34878D82A}">
                    <a16:rowId xmlns:a16="http://schemas.microsoft.com/office/drawing/2014/main" val="10000"/>
                  </a:ext>
                </a:extLst>
              </a:tr>
              <a:tr h="935575">
                <a:tc>
                  <a:txBody>
                    <a:bodyPr/>
                    <a:lstStyle/>
                    <a:p>
                      <a:pPr marL="0" marR="0" lvl="0" indent="0" algn="ctr" rtl="0">
                        <a:lnSpc>
                          <a:spcPct val="140020"/>
                        </a:lnSpc>
                        <a:spcBef>
                          <a:spcPts val="0"/>
                        </a:spcBef>
                        <a:spcAft>
                          <a:spcPts val="0"/>
                        </a:spcAft>
                        <a:buNone/>
                      </a:pPr>
                      <a:r>
                        <a:rPr lang="es-MX" sz="1999" u="none" strike="noStrike" cap="none">
                          <a:solidFill>
                            <a:srgbClr val="000000"/>
                          </a:solidFill>
                          <a:latin typeface="Arial"/>
                          <a:ea typeface="Arial"/>
                          <a:cs typeface="Arial"/>
                          <a:sym typeface="Arial"/>
                        </a:rPr>
                        <a:t>1</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699"/>
                    </a:solidFill>
                  </a:tcPr>
                </a:tc>
                <a:tc>
                  <a:txBody>
                    <a:bodyPr/>
                    <a:lstStyle/>
                    <a:p>
                      <a:pPr marL="0" marR="0" lvl="0" indent="0" algn="ctr" rtl="0">
                        <a:lnSpc>
                          <a:spcPct val="140020"/>
                        </a:lnSpc>
                        <a:spcBef>
                          <a:spcPts val="0"/>
                        </a:spcBef>
                        <a:spcAft>
                          <a:spcPts val="0"/>
                        </a:spcAft>
                        <a:buNone/>
                      </a:pPr>
                      <a:r>
                        <a:rPr lang="es-MX" sz="1999" b="1" u="none" strike="noStrike" cap="none">
                          <a:solidFill>
                            <a:srgbClr val="000000"/>
                          </a:solidFill>
                          <a:latin typeface="Arial"/>
                          <a:ea typeface="Arial"/>
                          <a:cs typeface="Arial"/>
                          <a:sym typeface="Arial"/>
                        </a:rPr>
                        <a:t>30</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E59"/>
                    </a:solidFill>
                  </a:tcPr>
                </a:tc>
                <a:tc>
                  <a:txBody>
                    <a:bodyPr/>
                    <a:lstStyle/>
                    <a:p>
                      <a:pPr marL="0" marR="0" lvl="0" indent="0" algn="ctr" rtl="0">
                        <a:lnSpc>
                          <a:spcPct val="140020"/>
                        </a:lnSpc>
                        <a:spcBef>
                          <a:spcPts val="0"/>
                        </a:spcBef>
                        <a:spcAft>
                          <a:spcPts val="0"/>
                        </a:spcAft>
                        <a:buNone/>
                      </a:pPr>
                      <a:r>
                        <a:rPr lang="es-MX" sz="1999" b="1" u="none" strike="noStrike" cap="none">
                          <a:solidFill>
                            <a:srgbClr val="000000"/>
                          </a:solidFill>
                          <a:latin typeface="Arial"/>
                          <a:ea typeface="Arial"/>
                          <a:cs typeface="Arial"/>
                          <a:sym typeface="Arial"/>
                        </a:rPr>
                        <a:t>30</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E59"/>
                    </a:solidFill>
                  </a:tcPr>
                </a:tc>
                <a:extLst>
                  <a:ext uri="{0D108BD9-81ED-4DB2-BD59-A6C34878D82A}">
                    <a16:rowId xmlns:a16="http://schemas.microsoft.com/office/drawing/2014/main" val="10001"/>
                  </a:ext>
                </a:extLst>
              </a:tr>
              <a:tr h="920200">
                <a:tc>
                  <a:txBody>
                    <a:bodyPr/>
                    <a:lstStyle/>
                    <a:p>
                      <a:pPr marL="0" marR="0" lvl="0" indent="0" algn="ctr" rtl="0">
                        <a:lnSpc>
                          <a:spcPct val="140020"/>
                        </a:lnSpc>
                        <a:spcBef>
                          <a:spcPts val="0"/>
                        </a:spcBef>
                        <a:spcAft>
                          <a:spcPts val="0"/>
                        </a:spcAft>
                        <a:buNone/>
                      </a:pPr>
                      <a:r>
                        <a:rPr lang="es-MX" sz="1999" u="none" strike="noStrike" cap="none">
                          <a:solidFill>
                            <a:srgbClr val="000000"/>
                          </a:solidFill>
                          <a:latin typeface="Arial"/>
                          <a:ea typeface="Arial"/>
                          <a:cs typeface="Arial"/>
                          <a:sym typeface="Arial"/>
                        </a:rPr>
                        <a:t>2</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699"/>
                    </a:solidFill>
                  </a:tcPr>
                </a:tc>
                <a:tc>
                  <a:txBody>
                    <a:bodyPr/>
                    <a:lstStyle/>
                    <a:p>
                      <a:pPr marL="0" marR="0" lvl="0" indent="0" algn="ctr" rtl="0">
                        <a:lnSpc>
                          <a:spcPct val="140020"/>
                        </a:lnSpc>
                        <a:spcBef>
                          <a:spcPts val="0"/>
                        </a:spcBef>
                        <a:spcAft>
                          <a:spcPts val="0"/>
                        </a:spcAft>
                        <a:buNone/>
                      </a:pPr>
                      <a:r>
                        <a:rPr lang="es-MX" sz="1999" u="none" strike="noStrike" cap="none">
                          <a:solidFill>
                            <a:srgbClr val="000000"/>
                          </a:solidFill>
                          <a:latin typeface="Arial"/>
                          <a:ea typeface="Arial"/>
                          <a:cs typeface="Arial"/>
                          <a:sym typeface="Arial"/>
                        </a:rPr>
                        <a:t>40</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F4E3"/>
                    </a:solidFill>
                  </a:tcPr>
                </a:tc>
                <a:tc>
                  <a:txBody>
                    <a:bodyPr/>
                    <a:lstStyle/>
                    <a:p>
                      <a:pPr marL="0" marR="0" lvl="0" indent="0" algn="ctr" rtl="0">
                        <a:lnSpc>
                          <a:spcPct val="140020"/>
                        </a:lnSpc>
                        <a:spcBef>
                          <a:spcPts val="0"/>
                        </a:spcBef>
                        <a:spcAft>
                          <a:spcPts val="0"/>
                        </a:spcAft>
                        <a:buNone/>
                      </a:pPr>
                      <a:r>
                        <a:rPr lang="es-MX" sz="1999" u="none" strike="noStrike" cap="none">
                          <a:solidFill>
                            <a:srgbClr val="000000"/>
                          </a:solidFill>
                          <a:latin typeface="Arial"/>
                          <a:ea typeface="Arial"/>
                          <a:cs typeface="Arial"/>
                          <a:sym typeface="Arial"/>
                        </a:rPr>
                        <a:t>70</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F4E3"/>
                    </a:solidFill>
                  </a:tcPr>
                </a:tc>
                <a:extLst>
                  <a:ext uri="{0D108BD9-81ED-4DB2-BD59-A6C34878D82A}">
                    <a16:rowId xmlns:a16="http://schemas.microsoft.com/office/drawing/2014/main" val="10002"/>
                  </a:ext>
                </a:extLst>
              </a:tr>
              <a:tr h="920200">
                <a:tc>
                  <a:txBody>
                    <a:bodyPr/>
                    <a:lstStyle/>
                    <a:p>
                      <a:pPr marL="0" marR="0" lvl="0" indent="0" algn="ctr" rtl="0">
                        <a:lnSpc>
                          <a:spcPct val="140020"/>
                        </a:lnSpc>
                        <a:spcBef>
                          <a:spcPts val="0"/>
                        </a:spcBef>
                        <a:spcAft>
                          <a:spcPts val="0"/>
                        </a:spcAft>
                        <a:buNone/>
                      </a:pPr>
                      <a:r>
                        <a:rPr lang="es-MX" sz="1999" u="none" strike="noStrike" cap="none">
                          <a:solidFill>
                            <a:srgbClr val="000000"/>
                          </a:solidFill>
                          <a:latin typeface="Arial"/>
                          <a:ea typeface="Arial"/>
                          <a:cs typeface="Arial"/>
                          <a:sym typeface="Arial"/>
                        </a:rPr>
                        <a:t>3</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699"/>
                    </a:solidFill>
                  </a:tcPr>
                </a:tc>
                <a:tc>
                  <a:txBody>
                    <a:bodyPr/>
                    <a:lstStyle/>
                    <a:p>
                      <a:pPr marL="0" marR="0" lvl="0" indent="0" algn="ctr" rtl="0">
                        <a:lnSpc>
                          <a:spcPct val="140020"/>
                        </a:lnSpc>
                        <a:spcBef>
                          <a:spcPts val="0"/>
                        </a:spcBef>
                        <a:spcAft>
                          <a:spcPts val="0"/>
                        </a:spcAft>
                        <a:buNone/>
                      </a:pPr>
                      <a:r>
                        <a:rPr lang="es-MX" sz="1999" u="none" strike="noStrike" cap="none">
                          <a:solidFill>
                            <a:srgbClr val="000000"/>
                          </a:solidFill>
                          <a:latin typeface="Arial"/>
                          <a:ea typeface="Arial"/>
                          <a:cs typeface="Arial"/>
                          <a:sym typeface="Arial"/>
                        </a:rPr>
                        <a:t>25</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F4E3"/>
                    </a:solidFill>
                  </a:tcPr>
                </a:tc>
                <a:tc>
                  <a:txBody>
                    <a:bodyPr/>
                    <a:lstStyle/>
                    <a:p>
                      <a:pPr marL="0" marR="0" lvl="0" indent="0" algn="ctr" rtl="0">
                        <a:lnSpc>
                          <a:spcPct val="140020"/>
                        </a:lnSpc>
                        <a:spcBef>
                          <a:spcPts val="0"/>
                        </a:spcBef>
                        <a:spcAft>
                          <a:spcPts val="0"/>
                        </a:spcAft>
                        <a:buNone/>
                      </a:pPr>
                      <a:r>
                        <a:rPr lang="es-MX" sz="1999" u="none" strike="noStrike" cap="none">
                          <a:solidFill>
                            <a:srgbClr val="000000"/>
                          </a:solidFill>
                          <a:latin typeface="Arial"/>
                          <a:ea typeface="Arial"/>
                          <a:cs typeface="Arial"/>
                          <a:sym typeface="Arial"/>
                        </a:rPr>
                        <a:t>95</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F4E3"/>
                    </a:solidFill>
                  </a:tcPr>
                </a:tc>
                <a:extLst>
                  <a:ext uri="{0D108BD9-81ED-4DB2-BD59-A6C34878D82A}">
                    <a16:rowId xmlns:a16="http://schemas.microsoft.com/office/drawing/2014/main" val="10003"/>
                  </a:ext>
                </a:extLst>
              </a:tr>
              <a:tr h="927875">
                <a:tc>
                  <a:txBody>
                    <a:bodyPr/>
                    <a:lstStyle/>
                    <a:p>
                      <a:pPr marL="0" marR="0" lvl="0" indent="0" algn="ctr" rtl="0">
                        <a:lnSpc>
                          <a:spcPct val="140020"/>
                        </a:lnSpc>
                        <a:spcBef>
                          <a:spcPts val="0"/>
                        </a:spcBef>
                        <a:spcAft>
                          <a:spcPts val="0"/>
                        </a:spcAft>
                        <a:buNone/>
                      </a:pPr>
                      <a:r>
                        <a:rPr lang="es-MX" sz="1999" u="none" strike="noStrike" cap="none">
                          <a:solidFill>
                            <a:srgbClr val="000000"/>
                          </a:solidFill>
                          <a:latin typeface="Arial"/>
                          <a:ea typeface="Arial"/>
                          <a:cs typeface="Arial"/>
                          <a:sym typeface="Arial"/>
                        </a:rPr>
                        <a:t>4</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699"/>
                    </a:solidFill>
                  </a:tcPr>
                </a:tc>
                <a:tc>
                  <a:txBody>
                    <a:bodyPr/>
                    <a:lstStyle/>
                    <a:p>
                      <a:pPr marL="0" marR="0" lvl="0" indent="0" algn="ctr" rtl="0">
                        <a:lnSpc>
                          <a:spcPct val="140020"/>
                        </a:lnSpc>
                        <a:spcBef>
                          <a:spcPts val="0"/>
                        </a:spcBef>
                        <a:spcAft>
                          <a:spcPts val="0"/>
                        </a:spcAft>
                        <a:buNone/>
                      </a:pPr>
                      <a:r>
                        <a:rPr lang="es-MX" sz="1999" u="none" strike="noStrike" cap="none">
                          <a:solidFill>
                            <a:srgbClr val="000000"/>
                          </a:solidFill>
                          <a:latin typeface="Arial"/>
                          <a:ea typeface="Arial"/>
                          <a:cs typeface="Arial"/>
                          <a:sym typeface="Arial"/>
                        </a:rPr>
                        <a:t>5</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F4E3"/>
                    </a:solidFill>
                  </a:tcPr>
                </a:tc>
                <a:tc>
                  <a:txBody>
                    <a:bodyPr/>
                    <a:lstStyle/>
                    <a:p>
                      <a:pPr marL="0" marR="0" lvl="0" indent="0" algn="ctr" rtl="0">
                        <a:lnSpc>
                          <a:spcPct val="140020"/>
                        </a:lnSpc>
                        <a:spcBef>
                          <a:spcPts val="0"/>
                        </a:spcBef>
                        <a:spcAft>
                          <a:spcPts val="0"/>
                        </a:spcAft>
                        <a:buNone/>
                      </a:pPr>
                      <a:r>
                        <a:rPr lang="es-MX" sz="1999" u="none" strike="noStrike" cap="none">
                          <a:solidFill>
                            <a:srgbClr val="000000"/>
                          </a:solidFill>
                          <a:latin typeface="Arial"/>
                          <a:ea typeface="Arial"/>
                          <a:cs typeface="Arial"/>
                          <a:sym typeface="Arial"/>
                        </a:rPr>
                        <a:t>100</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F4E3"/>
                    </a:solidFill>
                  </a:tcPr>
                </a:tc>
                <a:extLst>
                  <a:ext uri="{0D108BD9-81ED-4DB2-BD59-A6C34878D82A}">
                    <a16:rowId xmlns:a16="http://schemas.microsoft.com/office/drawing/2014/main" val="10004"/>
                  </a:ext>
                </a:extLst>
              </a:tr>
            </a:tbl>
          </a:graphicData>
        </a:graphic>
      </p:graphicFrame>
      <p:sp>
        <p:nvSpPr>
          <p:cNvPr id="125" name="Google Shape;125;p4"/>
          <p:cNvSpPr/>
          <p:nvPr/>
        </p:nvSpPr>
        <p:spPr>
          <a:xfrm>
            <a:off x="16971153" y="4372228"/>
            <a:ext cx="518682" cy="518682"/>
          </a:xfrm>
          <a:custGeom>
            <a:avLst/>
            <a:gdLst/>
            <a:ahLst/>
            <a:cxnLst/>
            <a:rect l="l" t="t" r="r" b="b"/>
            <a:pathLst>
              <a:path w="518682" h="518682" extrusionOk="0">
                <a:moveTo>
                  <a:pt x="0" y="0"/>
                </a:moveTo>
                <a:lnTo>
                  <a:pt x="518682" y="0"/>
                </a:lnTo>
                <a:lnTo>
                  <a:pt x="518682" y="518682"/>
                </a:lnTo>
                <a:lnTo>
                  <a:pt x="0" y="518682"/>
                </a:lnTo>
                <a:lnTo>
                  <a:pt x="0" y="0"/>
                </a:lnTo>
                <a:close/>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 name="Google Shape;126;p4"/>
          <p:cNvSpPr txBox="1"/>
          <p:nvPr/>
        </p:nvSpPr>
        <p:spPr>
          <a:xfrm>
            <a:off x="820847" y="2249030"/>
            <a:ext cx="8687725" cy="8319524"/>
          </a:xfrm>
          <a:prstGeom prst="rect">
            <a:avLst/>
          </a:prstGeom>
          <a:noFill/>
          <a:ln>
            <a:noFill/>
          </a:ln>
        </p:spPr>
        <p:txBody>
          <a:bodyPr spcFirstLastPara="1" wrap="square" lIns="0" tIns="0" rIns="0" bIns="0" anchor="t" anchorCtr="0">
            <a:spAutoFit/>
          </a:bodyPr>
          <a:lstStyle/>
          <a:p>
            <a:pPr marL="0" marR="0" lvl="0" indent="0" algn="ctr" rtl="0">
              <a:lnSpc>
                <a:spcPct val="205111"/>
              </a:lnSpc>
              <a:spcBef>
                <a:spcPts val="0"/>
              </a:spcBef>
              <a:spcAft>
                <a:spcPts val="0"/>
              </a:spcAft>
              <a:buNone/>
            </a:pPr>
            <a:endParaRPr sz="1800">
              <a:solidFill>
                <a:schemeClr val="dk1"/>
              </a:solidFill>
              <a:latin typeface="Calibri"/>
              <a:ea typeface="Calibri"/>
              <a:cs typeface="Calibri"/>
              <a:sym typeface="Calibri"/>
            </a:endParaRPr>
          </a:p>
          <a:p>
            <a:pPr marL="0" marR="0" lvl="0" indent="0" algn="ctr" rtl="0">
              <a:lnSpc>
                <a:spcPct val="205111"/>
              </a:lnSpc>
              <a:spcBef>
                <a:spcPts val="0"/>
              </a:spcBef>
              <a:spcAft>
                <a:spcPts val="0"/>
              </a:spcAft>
              <a:buNone/>
            </a:pPr>
            <a:endParaRPr sz="1800">
              <a:solidFill>
                <a:schemeClr val="dk1"/>
              </a:solidFill>
              <a:latin typeface="Calibri"/>
              <a:ea typeface="Calibri"/>
              <a:cs typeface="Calibri"/>
              <a:sym typeface="Calibri"/>
            </a:endParaRPr>
          </a:p>
          <a:p>
            <a:pPr marL="0" marR="0" lvl="0" indent="0" algn="l" rtl="0">
              <a:lnSpc>
                <a:spcPct val="139988"/>
              </a:lnSpc>
              <a:spcBef>
                <a:spcPts val="0"/>
              </a:spcBef>
              <a:spcAft>
                <a:spcPts val="0"/>
              </a:spcAft>
              <a:buNone/>
            </a:pPr>
            <a:r>
              <a:rPr lang="es-MX" sz="3531">
                <a:solidFill>
                  <a:srgbClr val="FFFFFF"/>
                </a:solidFill>
                <a:latin typeface="Alexandria"/>
                <a:ea typeface="Alexandria"/>
                <a:cs typeface="Alexandria"/>
                <a:sym typeface="Alexandria"/>
              </a:rPr>
              <a:t>Sistema web para apoyar la gestión pública y administrativa de la empresa.</a:t>
            </a:r>
            <a:endParaRPr/>
          </a:p>
          <a:p>
            <a:pPr marL="0" marR="0" lvl="0" indent="0" algn="l" rtl="0">
              <a:lnSpc>
                <a:spcPct val="139988"/>
              </a:lnSpc>
              <a:spcBef>
                <a:spcPts val="0"/>
              </a:spcBef>
              <a:spcAft>
                <a:spcPts val="0"/>
              </a:spcAft>
              <a:buNone/>
            </a:pPr>
            <a:endParaRPr sz="3531">
              <a:solidFill>
                <a:srgbClr val="FFFFFF"/>
              </a:solidFill>
              <a:latin typeface="Alexandria"/>
              <a:ea typeface="Alexandria"/>
              <a:cs typeface="Alexandria"/>
              <a:sym typeface="Alexandria"/>
            </a:endParaRPr>
          </a:p>
          <a:p>
            <a:pPr marL="0" marR="0" lvl="0" indent="0" algn="l" rtl="0">
              <a:lnSpc>
                <a:spcPct val="139988"/>
              </a:lnSpc>
              <a:spcBef>
                <a:spcPts val="0"/>
              </a:spcBef>
              <a:spcAft>
                <a:spcPts val="0"/>
              </a:spcAft>
              <a:buNone/>
            </a:pPr>
            <a:r>
              <a:rPr lang="es-MX" sz="3531">
                <a:solidFill>
                  <a:srgbClr val="E6CA69"/>
                </a:solidFill>
                <a:latin typeface="Alexandria"/>
                <a:ea typeface="Alexandria"/>
                <a:cs typeface="Alexandria"/>
                <a:sym typeface="Alexandria"/>
              </a:rPr>
              <a:t>Qué se presenta en el incremento 1?</a:t>
            </a:r>
            <a:endParaRPr/>
          </a:p>
          <a:p>
            <a:pPr marL="0" marR="0" lvl="0" indent="0" algn="l" rtl="0">
              <a:lnSpc>
                <a:spcPct val="122486"/>
              </a:lnSpc>
              <a:spcBef>
                <a:spcPts val="0"/>
              </a:spcBef>
              <a:spcAft>
                <a:spcPts val="0"/>
              </a:spcAft>
              <a:buNone/>
            </a:pPr>
            <a:endParaRPr sz="3531">
              <a:solidFill>
                <a:srgbClr val="E6CA69"/>
              </a:solidFill>
              <a:latin typeface="Alexandria"/>
              <a:ea typeface="Alexandria"/>
              <a:cs typeface="Alexandria"/>
              <a:sym typeface="Alexandria"/>
            </a:endParaRPr>
          </a:p>
          <a:p>
            <a:pPr marL="0" marR="0" lvl="0" indent="0" algn="l" rtl="0">
              <a:lnSpc>
                <a:spcPct val="122486"/>
              </a:lnSpc>
              <a:spcBef>
                <a:spcPts val="0"/>
              </a:spcBef>
              <a:spcAft>
                <a:spcPts val="0"/>
              </a:spcAft>
              <a:buNone/>
            </a:pPr>
            <a:endParaRPr sz="3531">
              <a:solidFill>
                <a:srgbClr val="E6CA69"/>
              </a:solidFill>
              <a:latin typeface="Alexandria"/>
              <a:ea typeface="Alexandria"/>
              <a:cs typeface="Alexandria"/>
              <a:sym typeface="Alexandria"/>
            </a:endParaRPr>
          </a:p>
          <a:p>
            <a:pPr marL="569427" marR="0" lvl="1" indent="-284714" algn="l" rtl="0">
              <a:lnSpc>
                <a:spcPct val="140007"/>
              </a:lnSpc>
              <a:spcBef>
                <a:spcPts val="0"/>
              </a:spcBef>
              <a:spcAft>
                <a:spcPts val="0"/>
              </a:spcAft>
              <a:buClr>
                <a:srgbClr val="FFFFFF"/>
              </a:buClr>
              <a:buSzPts val="2637"/>
              <a:buFont typeface="Arial"/>
              <a:buChar char="•"/>
            </a:pPr>
            <a:r>
              <a:rPr lang="es-MX" sz="2637" b="0" i="0" u="none" strike="noStrike" cap="none">
                <a:solidFill>
                  <a:srgbClr val="FFFFFF"/>
                </a:solidFill>
                <a:latin typeface="Alexandria"/>
                <a:ea typeface="Alexandria"/>
                <a:cs typeface="Alexandria"/>
                <a:sym typeface="Alexandria"/>
              </a:rPr>
              <a:t>Contacto de visitantes a través del formulario.</a:t>
            </a:r>
            <a:endParaRPr/>
          </a:p>
          <a:p>
            <a:pPr marL="569427" marR="0" lvl="1" indent="-284714" algn="l" rtl="0">
              <a:lnSpc>
                <a:spcPct val="140007"/>
              </a:lnSpc>
              <a:spcBef>
                <a:spcPts val="0"/>
              </a:spcBef>
              <a:spcAft>
                <a:spcPts val="0"/>
              </a:spcAft>
              <a:buClr>
                <a:srgbClr val="FFFFFF"/>
              </a:buClr>
              <a:buSzPts val="2637"/>
              <a:buFont typeface="Arial"/>
              <a:buChar char="•"/>
            </a:pPr>
            <a:r>
              <a:rPr lang="es-MX" sz="2637" b="0" i="0" u="none" strike="noStrike" cap="none">
                <a:solidFill>
                  <a:srgbClr val="FFFFFF"/>
                </a:solidFill>
                <a:latin typeface="Alexandria"/>
                <a:ea typeface="Alexandria"/>
                <a:cs typeface="Alexandria"/>
                <a:sym typeface="Alexandria"/>
              </a:rPr>
              <a:t>Autenticación administrativa para gestión de proyectos y colaboradores.</a:t>
            </a:r>
            <a:endParaRPr/>
          </a:p>
          <a:p>
            <a:pPr marL="569427" marR="0" lvl="1" indent="-284714" algn="l" rtl="0">
              <a:lnSpc>
                <a:spcPct val="140007"/>
              </a:lnSpc>
              <a:spcBef>
                <a:spcPts val="0"/>
              </a:spcBef>
              <a:spcAft>
                <a:spcPts val="0"/>
              </a:spcAft>
              <a:buClr>
                <a:srgbClr val="FFFFFF"/>
              </a:buClr>
              <a:buSzPts val="2637"/>
              <a:buFont typeface="Arial"/>
              <a:buChar char="•"/>
            </a:pPr>
            <a:r>
              <a:rPr lang="es-MX" sz="2637" b="0" i="0" u="none" strike="noStrike" cap="none">
                <a:solidFill>
                  <a:srgbClr val="FFFFFF"/>
                </a:solidFill>
                <a:latin typeface="Alexandria"/>
                <a:ea typeface="Alexandria"/>
                <a:cs typeface="Alexandria"/>
                <a:sym typeface="Alexandria"/>
              </a:rPr>
              <a:t>Vista de Proyectos,Certificaciones y Colaboradores.</a:t>
            </a:r>
            <a:endParaRPr/>
          </a:p>
          <a:p>
            <a:pPr marL="0" marR="0" lvl="0" indent="0" algn="l" rtl="0">
              <a:lnSpc>
                <a:spcPct val="140007"/>
              </a:lnSpc>
              <a:spcBef>
                <a:spcPts val="0"/>
              </a:spcBef>
              <a:spcAft>
                <a:spcPts val="0"/>
              </a:spcAft>
              <a:buNone/>
            </a:pPr>
            <a:endParaRPr sz="2637">
              <a:solidFill>
                <a:srgbClr val="FFFFFF"/>
              </a:solidFill>
              <a:latin typeface="Alexandria"/>
              <a:ea typeface="Alexandria"/>
              <a:cs typeface="Alexandria"/>
              <a:sym typeface="Alexandria"/>
            </a:endParaRPr>
          </a:p>
          <a:p>
            <a:pPr marL="0" marR="0" lvl="0" indent="0" algn="l" rtl="0">
              <a:lnSpc>
                <a:spcPct val="140007"/>
              </a:lnSpc>
              <a:spcBef>
                <a:spcPts val="0"/>
              </a:spcBef>
              <a:spcAft>
                <a:spcPts val="0"/>
              </a:spcAft>
              <a:buNone/>
            </a:pPr>
            <a:endParaRPr sz="2637">
              <a:solidFill>
                <a:srgbClr val="FFFFFF"/>
              </a:solidFill>
              <a:latin typeface="Alexandria"/>
              <a:ea typeface="Alexandria"/>
              <a:cs typeface="Alexandria"/>
              <a:sym typeface="Alexandria"/>
            </a:endParaRPr>
          </a:p>
        </p:txBody>
      </p:sp>
      <p:sp>
        <p:nvSpPr>
          <p:cNvPr id="127" name="Google Shape;127;p4"/>
          <p:cNvSpPr txBox="1"/>
          <p:nvPr/>
        </p:nvSpPr>
        <p:spPr>
          <a:xfrm>
            <a:off x="926744" y="999563"/>
            <a:ext cx="8893703" cy="207010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s-MX" sz="8000" b="1">
                <a:solidFill>
                  <a:srgbClr val="E6CA69"/>
                </a:solidFill>
                <a:latin typeface="Alexandria"/>
                <a:ea typeface="Alexandria"/>
                <a:cs typeface="Alexandria"/>
                <a:sym typeface="Alexandria"/>
              </a:rPr>
              <a:t>PROYECTO WEB INGECON</a:t>
            </a:r>
            <a:endParaRPr/>
          </a:p>
        </p:txBody>
      </p:sp>
      <p:sp>
        <p:nvSpPr>
          <p:cNvPr id="128" name="Google Shape;128;p4"/>
          <p:cNvSpPr txBox="1"/>
          <p:nvPr/>
        </p:nvSpPr>
        <p:spPr>
          <a:xfrm>
            <a:off x="17259300" y="9210675"/>
            <a:ext cx="152400" cy="20002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a:solidFill>
                  <a:srgbClr val="FFFFFF"/>
                </a:solidFill>
                <a:latin typeface="Arial"/>
                <a:ea typeface="Arial"/>
                <a:cs typeface="Arial"/>
                <a:sym typeface="Arial"/>
              </a:rPr>
              <a:t>4</a:t>
            </a:r>
            <a:endParaRPr/>
          </a:p>
        </p:txBody>
      </p:sp>
      <p:sp>
        <p:nvSpPr>
          <p:cNvPr id="129" name="Google Shape;129;p4"/>
          <p:cNvSpPr/>
          <p:nvPr/>
        </p:nvSpPr>
        <p:spPr>
          <a:xfrm>
            <a:off x="13992033" y="4372228"/>
            <a:ext cx="518682" cy="518682"/>
          </a:xfrm>
          <a:custGeom>
            <a:avLst/>
            <a:gdLst/>
            <a:ahLst/>
            <a:cxnLst/>
            <a:rect l="l" t="t" r="r" b="b"/>
            <a:pathLst>
              <a:path w="518682" h="518682" extrusionOk="0">
                <a:moveTo>
                  <a:pt x="0" y="0"/>
                </a:moveTo>
                <a:lnTo>
                  <a:pt x="518682" y="0"/>
                </a:lnTo>
                <a:lnTo>
                  <a:pt x="518682" y="518682"/>
                </a:lnTo>
                <a:lnTo>
                  <a:pt x="0" y="518682"/>
                </a:lnTo>
                <a:lnTo>
                  <a:pt x="0" y="0"/>
                </a:lnTo>
                <a:close/>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22" b="-922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5" name="Google Shape;135;p5"/>
          <p:cNvSpPr/>
          <p:nvPr/>
        </p:nvSpPr>
        <p:spPr>
          <a:xfrm>
            <a:off x="7364719" y="1738937"/>
            <a:ext cx="9347997" cy="6809126"/>
          </a:xfrm>
          <a:custGeom>
            <a:avLst/>
            <a:gdLst/>
            <a:ahLst/>
            <a:cxnLst/>
            <a:rect l="l" t="t" r="r" b="b"/>
            <a:pathLst>
              <a:path w="9347997" h="6809126" extrusionOk="0">
                <a:moveTo>
                  <a:pt x="0" y="0"/>
                </a:moveTo>
                <a:lnTo>
                  <a:pt x="9347997" y="0"/>
                </a:lnTo>
                <a:lnTo>
                  <a:pt x="9347997" y="6809126"/>
                </a:lnTo>
                <a:lnTo>
                  <a:pt x="0" y="6809126"/>
                </a:lnTo>
                <a:lnTo>
                  <a:pt x="0" y="0"/>
                </a:lnTo>
                <a:close/>
              </a:path>
            </a:pathLst>
          </a:custGeom>
          <a:blipFill rotWithShape="1">
            <a:blip r:embed="rId4">
              <a:alphaModFix/>
            </a:blip>
            <a:stretch>
              <a:fillRect r="-223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36" name="Google Shape;136;p5"/>
          <p:cNvPicPr preferRelativeResize="0"/>
          <p:nvPr/>
        </p:nvPicPr>
        <p:blipFill rotWithShape="1">
          <a:blip r:embed="rId5">
            <a:alphaModFix/>
          </a:blip>
          <a:srcRect/>
          <a:stretch/>
        </p:blipFill>
        <p:spPr>
          <a:xfrm rot="1218908">
            <a:off x="1208823" y="8090386"/>
            <a:ext cx="2142622" cy="1992638"/>
          </a:xfrm>
          <a:prstGeom prst="rect">
            <a:avLst/>
          </a:prstGeom>
          <a:noFill/>
          <a:ln>
            <a:noFill/>
          </a:ln>
        </p:spPr>
      </p:pic>
      <p:sp>
        <p:nvSpPr>
          <p:cNvPr id="137" name="Google Shape;137;p5"/>
          <p:cNvSpPr txBox="1"/>
          <p:nvPr/>
        </p:nvSpPr>
        <p:spPr>
          <a:xfrm>
            <a:off x="1028700" y="576499"/>
            <a:ext cx="17093171" cy="809151"/>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None/>
            </a:pPr>
            <a:r>
              <a:rPr lang="es-MX" sz="4733" b="1">
                <a:solidFill>
                  <a:srgbClr val="FFF7AD"/>
                </a:solidFill>
                <a:latin typeface="Arial"/>
                <a:ea typeface="Arial"/>
                <a:cs typeface="Arial"/>
                <a:sym typeface="Arial"/>
              </a:rPr>
              <a:t>Requerimientos funcionales: Formulario de contacto</a:t>
            </a:r>
            <a:endParaRPr/>
          </a:p>
        </p:txBody>
      </p:sp>
      <p:sp>
        <p:nvSpPr>
          <p:cNvPr id="138" name="Google Shape;138;p5"/>
          <p:cNvSpPr txBox="1"/>
          <p:nvPr/>
        </p:nvSpPr>
        <p:spPr>
          <a:xfrm>
            <a:off x="1028700" y="2222914"/>
            <a:ext cx="5204024" cy="2910840"/>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None/>
            </a:pPr>
            <a:r>
              <a:rPr lang="es-MX" sz="2399">
                <a:solidFill>
                  <a:srgbClr val="E6CA69"/>
                </a:solidFill>
                <a:latin typeface="Alexandria"/>
                <a:ea typeface="Alexandria"/>
                <a:cs typeface="Alexandria"/>
                <a:sym typeface="Alexandria"/>
              </a:rPr>
              <a:t>RF01:</a:t>
            </a:r>
            <a:r>
              <a:rPr lang="es-MX" sz="2399">
                <a:solidFill>
                  <a:srgbClr val="FFFFFF"/>
                </a:solidFill>
                <a:latin typeface="Alexandria"/>
                <a:ea typeface="Alexandria"/>
                <a:cs typeface="Alexandria"/>
                <a:sym typeface="Alexandria"/>
              </a:rPr>
              <a:t>  El sistema debe permitir al Visitante enviar una Consulta de contacto, asegurando que la información sea registrada en la Base de Datos para su gestión. </a:t>
            </a:r>
            <a:endParaRPr/>
          </a:p>
          <a:p>
            <a:pPr marL="0" marR="0" lvl="0" indent="0" algn="l" rtl="0">
              <a:lnSpc>
                <a:spcPct val="140016"/>
              </a:lnSpc>
              <a:spcBef>
                <a:spcPts val="0"/>
              </a:spcBef>
              <a:spcAft>
                <a:spcPts val="0"/>
              </a:spcAft>
              <a:buNone/>
            </a:pPr>
            <a:endParaRPr sz="2399">
              <a:solidFill>
                <a:srgbClr val="FFFFFF"/>
              </a:solidFill>
              <a:latin typeface="Alexandria"/>
              <a:ea typeface="Alexandria"/>
              <a:cs typeface="Alexandria"/>
              <a:sym typeface="Alexandria"/>
            </a:endParaRPr>
          </a:p>
          <a:p>
            <a:pPr marL="0" marR="0" lvl="0" indent="0" algn="l" rtl="0">
              <a:lnSpc>
                <a:spcPct val="140016"/>
              </a:lnSpc>
              <a:spcBef>
                <a:spcPts val="0"/>
              </a:spcBef>
              <a:spcAft>
                <a:spcPts val="0"/>
              </a:spcAft>
              <a:buNone/>
            </a:pPr>
            <a:endParaRPr sz="2399">
              <a:solidFill>
                <a:srgbClr val="FFFFFF"/>
              </a:solidFill>
              <a:latin typeface="Alexandria"/>
              <a:ea typeface="Alexandria"/>
              <a:cs typeface="Alexandria"/>
              <a:sym typeface="Alexandria"/>
            </a:endParaRPr>
          </a:p>
        </p:txBody>
      </p:sp>
      <p:sp>
        <p:nvSpPr>
          <p:cNvPr id="139" name="Google Shape;139;p5"/>
          <p:cNvSpPr txBox="1"/>
          <p:nvPr/>
        </p:nvSpPr>
        <p:spPr>
          <a:xfrm>
            <a:off x="1028700" y="4668303"/>
            <a:ext cx="4929094" cy="2910840"/>
          </a:xfrm>
          <a:prstGeom prst="rect">
            <a:avLst/>
          </a:prstGeom>
          <a:noFill/>
          <a:ln>
            <a:noFill/>
          </a:ln>
        </p:spPr>
        <p:txBody>
          <a:bodyPr spcFirstLastPara="1" wrap="square" lIns="0" tIns="0" rIns="0" bIns="0" anchor="t" anchorCtr="0">
            <a:spAutoFit/>
          </a:bodyPr>
          <a:lstStyle/>
          <a:p>
            <a:pPr marL="0" marR="0" lvl="0" indent="0" algn="l" rtl="0">
              <a:lnSpc>
                <a:spcPct val="186611"/>
              </a:lnSpc>
              <a:spcBef>
                <a:spcPts val="0"/>
              </a:spcBef>
              <a:spcAft>
                <a:spcPts val="0"/>
              </a:spcAft>
              <a:buNone/>
            </a:pPr>
            <a:endParaRPr sz="1800">
              <a:solidFill>
                <a:schemeClr val="dk1"/>
              </a:solidFill>
              <a:latin typeface="Calibri"/>
              <a:ea typeface="Calibri"/>
              <a:cs typeface="Calibri"/>
              <a:sym typeface="Calibri"/>
            </a:endParaRPr>
          </a:p>
          <a:p>
            <a:pPr marL="0" marR="0" lvl="0" indent="0" algn="l" rtl="0">
              <a:lnSpc>
                <a:spcPct val="140016"/>
              </a:lnSpc>
              <a:spcBef>
                <a:spcPts val="0"/>
              </a:spcBef>
              <a:spcAft>
                <a:spcPts val="0"/>
              </a:spcAft>
              <a:buNone/>
            </a:pPr>
            <a:r>
              <a:rPr lang="es-MX" sz="2399">
                <a:solidFill>
                  <a:srgbClr val="FEFEFE"/>
                </a:solidFill>
                <a:latin typeface="Alexandria"/>
                <a:ea typeface="Alexandria"/>
                <a:cs typeface="Alexandria"/>
                <a:sym typeface="Alexandria"/>
              </a:rPr>
              <a:t>Con este canal, la página web puede atraer nuevos clientes, recibir consultas en cualquier momento y apoyar el crecimiento de la empresa de forma más simple y eficiente.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6"/>
          <p:cNvSpPr/>
          <p:nvPr/>
        </p:nvSpPr>
        <p:spPr>
          <a:xfrm rot="54000">
            <a:off x="-79663" y="-142993"/>
            <a:ext cx="18447325" cy="10572986"/>
          </a:xfrm>
          <a:custGeom>
            <a:avLst/>
            <a:gdLst/>
            <a:ahLst/>
            <a:cxnLst/>
            <a:rect l="l" t="t" r="r" b="b"/>
            <a:pathLst>
              <a:path w="18447325" h="10572986" extrusionOk="0">
                <a:moveTo>
                  <a:pt x="0" y="287255"/>
                </a:moveTo>
                <a:lnTo>
                  <a:pt x="18285744" y="0"/>
                </a:lnTo>
                <a:lnTo>
                  <a:pt x="18447326" y="10285731"/>
                </a:lnTo>
                <a:lnTo>
                  <a:pt x="161582" y="10572986"/>
                </a:lnTo>
                <a:lnTo>
                  <a:pt x="0" y="287255"/>
                </a:lnTo>
                <a:close/>
              </a:path>
            </a:pathLst>
          </a:custGeom>
          <a:blipFill rotWithShape="1">
            <a:blip r:embed="rId3">
              <a:alphaModFix/>
            </a:blip>
            <a:stretch>
              <a:fillRect l="-404" t="-46870" r="-1258" b="-3050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5" name="Google Shape;145;p6"/>
          <p:cNvSpPr/>
          <p:nvPr/>
        </p:nvSpPr>
        <p:spPr>
          <a:xfrm>
            <a:off x="8655569" y="2011692"/>
            <a:ext cx="9069442" cy="5600380"/>
          </a:xfrm>
          <a:custGeom>
            <a:avLst/>
            <a:gdLst/>
            <a:ahLst/>
            <a:cxnLst/>
            <a:rect l="l" t="t" r="r" b="b"/>
            <a:pathLst>
              <a:path w="9069442" h="5600380" extrusionOk="0">
                <a:moveTo>
                  <a:pt x="0" y="0"/>
                </a:moveTo>
                <a:lnTo>
                  <a:pt x="9069442" y="0"/>
                </a:lnTo>
                <a:lnTo>
                  <a:pt x="9069442" y="5600380"/>
                </a:lnTo>
                <a:lnTo>
                  <a:pt x="0" y="560038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6" name="Google Shape;146;p6"/>
          <p:cNvSpPr/>
          <p:nvPr/>
        </p:nvSpPr>
        <p:spPr>
          <a:xfrm>
            <a:off x="5921062" y="7481479"/>
            <a:ext cx="2026314" cy="2224496"/>
          </a:xfrm>
          <a:custGeom>
            <a:avLst/>
            <a:gdLst/>
            <a:ahLst/>
            <a:cxnLst/>
            <a:rect l="l" t="t" r="r" b="b"/>
            <a:pathLst>
              <a:path w="2026314" h="2224496" extrusionOk="0">
                <a:moveTo>
                  <a:pt x="0" y="0"/>
                </a:moveTo>
                <a:lnTo>
                  <a:pt x="2026314" y="0"/>
                </a:lnTo>
                <a:lnTo>
                  <a:pt x="2026314" y="2224497"/>
                </a:lnTo>
                <a:lnTo>
                  <a:pt x="0" y="2224497"/>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7" name="Google Shape;147;p6"/>
          <p:cNvSpPr txBox="1"/>
          <p:nvPr/>
        </p:nvSpPr>
        <p:spPr>
          <a:xfrm>
            <a:off x="1112283" y="1549120"/>
            <a:ext cx="7065621" cy="4763227"/>
          </a:xfrm>
          <a:prstGeom prst="rect">
            <a:avLst/>
          </a:prstGeom>
          <a:noFill/>
          <a:ln>
            <a:noFill/>
          </a:ln>
        </p:spPr>
        <p:txBody>
          <a:bodyPr spcFirstLastPara="1" wrap="square" lIns="0" tIns="0" rIns="0" bIns="0" anchor="t" anchorCtr="0">
            <a:spAutoFit/>
          </a:bodyPr>
          <a:lstStyle/>
          <a:p>
            <a:pPr marL="0" marR="0" lvl="0" indent="0" algn="l" rtl="0">
              <a:lnSpc>
                <a:spcPct val="139958"/>
              </a:lnSpc>
              <a:spcBef>
                <a:spcPts val="0"/>
              </a:spcBef>
              <a:spcAft>
                <a:spcPts val="0"/>
              </a:spcAft>
              <a:buNone/>
            </a:pPr>
            <a:r>
              <a:rPr lang="es-MX" sz="2400">
                <a:solidFill>
                  <a:srgbClr val="E6CA69"/>
                </a:solidFill>
                <a:latin typeface="Alexandria"/>
                <a:ea typeface="Alexandria"/>
                <a:cs typeface="Alexandria"/>
                <a:sym typeface="Alexandria"/>
              </a:rPr>
              <a:t>RF48: </a:t>
            </a:r>
            <a:r>
              <a:rPr lang="es-MX" sz="2400">
                <a:solidFill>
                  <a:srgbClr val="FEFEFE"/>
                </a:solidFill>
                <a:latin typeface="Alexandria"/>
                <a:ea typeface="Alexandria"/>
                <a:cs typeface="Alexandria"/>
                <a:sym typeface="Alexandria"/>
              </a:rPr>
              <a:t>El sistema debe permitir al Personal de Administración registrar un nuevo Proyecto desde el Módulo de Proyectos, desplegando un Formulario en una Ventana Modal para ingresar Nombre, Región, Año de ejecución, Ubicación, Estado de publicación, Descripción y Fotografias para luego guardarlos en la Base de Datos.</a:t>
            </a:r>
            <a:endParaRPr/>
          </a:p>
          <a:p>
            <a:pPr marL="0" marR="0" lvl="0" indent="0" algn="l" rtl="0">
              <a:lnSpc>
                <a:spcPct val="139958"/>
              </a:lnSpc>
              <a:spcBef>
                <a:spcPts val="0"/>
              </a:spcBef>
              <a:spcAft>
                <a:spcPts val="0"/>
              </a:spcAft>
              <a:buNone/>
            </a:pPr>
            <a:endParaRPr sz="2400">
              <a:solidFill>
                <a:srgbClr val="FEFEFE"/>
              </a:solidFill>
              <a:latin typeface="Alexandria"/>
              <a:ea typeface="Alexandria"/>
              <a:cs typeface="Alexandria"/>
              <a:sym typeface="Alexandria"/>
            </a:endParaRPr>
          </a:p>
          <a:p>
            <a:pPr marL="0" marR="0" lvl="0" indent="0" algn="l" rtl="0">
              <a:lnSpc>
                <a:spcPct val="139958"/>
              </a:lnSpc>
              <a:spcBef>
                <a:spcPts val="0"/>
              </a:spcBef>
              <a:spcAft>
                <a:spcPts val="0"/>
              </a:spcAft>
              <a:buNone/>
            </a:pPr>
            <a:endParaRPr sz="2400">
              <a:solidFill>
                <a:srgbClr val="FEFEFE"/>
              </a:solidFill>
              <a:latin typeface="Alexandria"/>
              <a:ea typeface="Alexandria"/>
              <a:cs typeface="Alexandria"/>
              <a:sym typeface="Alexandria"/>
            </a:endParaRPr>
          </a:p>
          <a:p>
            <a:pPr marL="0" marR="0" lvl="0" indent="0" algn="l" rtl="0">
              <a:lnSpc>
                <a:spcPct val="139958"/>
              </a:lnSpc>
              <a:spcBef>
                <a:spcPts val="0"/>
              </a:spcBef>
              <a:spcAft>
                <a:spcPts val="0"/>
              </a:spcAft>
              <a:buNone/>
            </a:pPr>
            <a:endParaRPr sz="2400">
              <a:solidFill>
                <a:srgbClr val="FEFEFE"/>
              </a:solidFill>
              <a:latin typeface="Alexandria"/>
              <a:ea typeface="Alexandria"/>
              <a:cs typeface="Alexandria"/>
              <a:sym typeface="Alexandria"/>
            </a:endParaRPr>
          </a:p>
        </p:txBody>
      </p:sp>
      <p:sp>
        <p:nvSpPr>
          <p:cNvPr id="148" name="Google Shape;148;p6"/>
          <p:cNvSpPr txBox="1"/>
          <p:nvPr/>
        </p:nvSpPr>
        <p:spPr>
          <a:xfrm>
            <a:off x="17259300" y="9210675"/>
            <a:ext cx="152400" cy="20002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a:solidFill>
                  <a:srgbClr val="FFFFFF"/>
                </a:solidFill>
                <a:latin typeface="Arial"/>
                <a:ea typeface="Arial"/>
                <a:cs typeface="Arial"/>
                <a:sym typeface="Arial"/>
              </a:rPr>
              <a:t>6</a:t>
            </a:r>
            <a:endParaRPr/>
          </a:p>
        </p:txBody>
      </p:sp>
      <p:sp>
        <p:nvSpPr>
          <p:cNvPr id="149" name="Google Shape;149;p6"/>
          <p:cNvSpPr txBox="1"/>
          <p:nvPr/>
        </p:nvSpPr>
        <p:spPr>
          <a:xfrm>
            <a:off x="1112283" y="5414696"/>
            <a:ext cx="6676800" cy="2072700"/>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None/>
            </a:pPr>
            <a:r>
              <a:rPr lang="es-MX" sz="2399">
                <a:solidFill>
                  <a:srgbClr val="FEFEFE"/>
                </a:solidFill>
                <a:latin typeface="Arial"/>
                <a:ea typeface="Arial"/>
                <a:cs typeface="Arial"/>
                <a:sym typeface="Arial"/>
              </a:rPr>
              <a:t>Con esta funcionalidad, la empresa puede mantener actualizado su portafolio de proyectos en el sitio web, mostrando sus obras a potenciales clientes y fortaleciendo su presencia digital.</a:t>
            </a:r>
            <a:endParaRPr/>
          </a:p>
        </p:txBody>
      </p:sp>
      <p:sp>
        <p:nvSpPr>
          <p:cNvPr id="150" name="Google Shape;150;p6"/>
          <p:cNvSpPr txBox="1"/>
          <p:nvPr/>
        </p:nvSpPr>
        <p:spPr>
          <a:xfrm>
            <a:off x="889527" y="219549"/>
            <a:ext cx="17093171" cy="809151"/>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None/>
            </a:pPr>
            <a:r>
              <a:rPr lang="es-MX" sz="4733" b="1">
                <a:solidFill>
                  <a:srgbClr val="FFF7AD"/>
                </a:solidFill>
                <a:latin typeface="Arial"/>
                <a:ea typeface="Arial"/>
                <a:cs typeface="Arial"/>
                <a:sym typeface="Arial"/>
              </a:rPr>
              <a:t>Requerimientos funcionales: Edición de Proyectos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9" b="-3888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6" name="Google Shape;156;p7"/>
          <p:cNvSpPr/>
          <p:nvPr/>
        </p:nvSpPr>
        <p:spPr>
          <a:xfrm>
            <a:off x="752052" y="1437512"/>
            <a:ext cx="17140621" cy="6770770"/>
          </a:xfrm>
          <a:custGeom>
            <a:avLst/>
            <a:gdLst/>
            <a:ahLst/>
            <a:cxnLst/>
            <a:rect l="l" t="t" r="r" b="b"/>
            <a:pathLst>
              <a:path w="17140621" h="6770770" extrusionOk="0">
                <a:moveTo>
                  <a:pt x="0" y="0"/>
                </a:moveTo>
                <a:lnTo>
                  <a:pt x="17140621" y="0"/>
                </a:lnTo>
                <a:lnTo>
                  <a:pt x="17140621" y="6770770"/>
                </a:lnTo>
                <a:lnTo>
                  <a:pt x="0" y="677077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7" name="Google Shape;157;p7"/>
          <p:cNvSpPr txBox="1"/>
          <p:nvPr/>
        </p:nvSpPr>
        <p:spPr>
          <a:xfrm>
            <a:off x="4691185" y="183936"/>
            <a:ext cx="14423992" cy="669926"/>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s-MX" sz="3999" b="1">
                <a:solidFill>
                  <a:srgbClr val="FFF7AD"/>
                </a:solidFill>
                <a:latin typeface="Arial"/>
                <a:ea typeface="Arial"/>
                <a:cs typeface="Arial"/>
                <a:sym typeface="Arial"/>
              </a:rPr>
              <a:t>DIAGRAMA DE COMPONENTES</a:t>
            </a:r>
            <a:endParaRPr/>
          </a:p>
        </p:txBody>
      </p:sp>
      <p:sp>
        <p:nvSpPr>
          <p:cNvPr id="158" name="Google Shape;158;p7"/>
          <p:cNvSpPr txBox="1"/>
          <p:nvPr/>
        </p:nvSpPr>
        <p:spPr>
          <a:xfrm>
            <a:off x="17240922" y="9210675"/>
            <a:ext cx="189155" cy="50321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a:solidFill>
                  <a:srgbClr val="FFFFFF"/>
                </a:solidFill>
                <a:latin typeface="Arial"/>
                <a:ea typeface="Arial"/>
                <a:cs typeface="Arial"/>
                <a:sym typeface="Arial"/>
              </a:rPr>
              <a:t>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22" b="-922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4" name="Google Shape;164;p8"/>
          <p:cNvSpPr txBox="1"/>
          <p:nvPr/>
        </p:nvSpPr>
        <p:spPr>
          <a:xfrm>
            <a:off x="1234897" y="549630"/>
            <a:ext cx="13833996" cy="669926"/>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s-MX" sz="3999" b="1">
                <a:solidFill>
                  <a:srgbClr val="FFF7AD"/>
                </a:solidFill>
                <a:latin typeface="Arial"/>
                <a:ea typeface="Arial"/>
                <a:cs typeface="Arial"/>
                <a:sym typeface="Arial"/>
              </a:rPr>
              <a:t>Caso de Uso 1.1 - Enviando consulta</a:t>
            </a:r>
            <a:endParaRPr/>
          </a:p>
        </p:txBody>
      </p:sp>
      <p:sp>
        <p:nvSpPr>
          <p:cNvPr id="165" name="Google Shape;165;p8"/>
          <p:cNvSpPr txBox="1"/>
          <p:nvPr/>
        </p:nvSpPr>
        <p:spPr>
          <a:xfrm>
            <a:off x="17219282" y="9210675"/>
            <a:ext cx="232436" cy="50321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a:solidFill>
                  <a:srgbClr val="FFFFFF"/>
                </a:solidFill>
                <a:latin typeface="Arial"/>
                <a:ea typeface="Arial"/>
                <a:cs typeface="Arial"/>
                <a:sym typeface="Arial"/>
              </a:rPr>
              <a:t>8</a:t>
            </a:r>
            <a:endParaRPr/>
          </a:p>
        </p:txBody>
      </p:sp>
      <p:sp>
        <p:nvSpPr>
          <p:cNvPr id="166" name="Google Shape;166;p8"/>
          <p:cNvSpPr txBox="1"/>
          <p:nvPr/>
        </p:nvSpPr>
        <p:spPr>
          <a:xfrm>
            <a:off x="1234897" y="1790524"/>
            <a:ext cx="8869300" cy="5210176"/>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s-MX" sz="2999">
                <a:solidFill>
                  <a:srgbClr val="FFFFFF"/>
                </a:solidFill>
                <a:latin typeface="Arial"/>
                <a:ea typeface="Arial"/>
                <a:cs typeface="Arial"/>
                <a:sym typeface="Arial"/>
              </a:rPr>
              <a:t>Permite al Visitante enviar una consulta de contacto desde la página pública, registrando los datos del visitante, la consulta y el adjunto PDF opcional en la Base de Datos.</a:t>
            </a:r>
            <a:endParaRPr/>
          </a:p>
          <a:p>
            <a:pPr marL="0" marR="0" lvl="0" indent="0" algn="l" rtl="0">
              <a:lnSpc>
                <a:spcPct val="140013"/>
              </a:lnSpc>
              <a:spcBef>
                <a:spcPts val="0"/>
              </a:spcBef>
              <a:spcAft>
                <a:spcPts val="0"/>
              </a:spcAft>
              <a:buNone/>
            </a:pPr>
            <a:endParaRPr sz="2999">
              <a:solidFill>
                <a:srgbClr val="FFFFFF"/>
              </a:solidFill>
              <a:latin typeface="Arial"/>
              <a:ea typeface="Arial"/>
              <a:cs typeface="Arial"/>
              <a:sym typeface="Arial"/>
            </a:endParaRPr>
          </a:p>
          <a:p>
            <a:pPr marL="647695" marR="0" lvl="1" indent="-323848" algn="l" rtl="0">
              <a:lnSpc>
                <a:spcPct val="140013"/>
              </a:lnSpc>
              <a:spcBef>
                <a:spcPts val="0"/>
              </a:spcBef>
              <a:spcAft>
                <a:spcPts val="0"/>
              </a:spcAft>
              <a:buClr>
                <a:srgbClr val="FFDE59"/>
              </a:buClr>
              <a:buSzPts val="2999"/>
              <a:buFont typeface="Arial"/>
              <a:buChar char="•"/>
            </a:pPr>
            <a:r>
              <a:rPr lang="es-MX" sz="2999" b="0" i="0" u="none" strike="noStrike" cap="none">
                <a:solidFill>
                  <a:srgbClr val="FFDE59"/>
                </a:solidFill>
                <a:latin typeface="Arial"/>
                <a:ea typeface="Arial"/>
                <a:cs typeface="Arial"/>
                <a:sym typeface="Arial"/>
              </a:rPr>
              <a:t>Objetivo principal: </a:t>
            </a:r>
            <a:r>
              <a:rPr lang="es-MX" sz="2999" b="0" i="0" u="none" strike="noStrike" cap="none">
                <a:solidFill>
                  <a:srgbClr val="FEFEFE"/>
                </a:solidFill>
                <a:latin typeface="Arial"/>
                <a:ea typeface="Arial"/>
                <a:cs typeface="Arial"/>
                <a:sym typeface="Arial"/>
              </a:rPr>
              <a:t>Enviar una consulta para que el dueño de la empresa reciba la cotización.</a:t>
            </a:r>
            <a:endParaRPr/>
          </a:p>
          <a:p>
            <a:pPr marL="0" marR="0" lvl="0" indent="0" algn="l" rtl="0">
              <a:lnSpc>
                <a:spcPct val="140013"/>
              </a:lnSpc>
              <a:spcBef>
                <a:spcPts val="0"/>
              </a:spcBef>
              <a:spcAft>
                <a:spcPts val="0"/>
              </a:spcAft>
              <a:buNone/>
            </a:pPr>
            <a:endParaRPr sz="2999">
              <a:solidFill>
                <a:srgbClr val="FEFEFE"/>
              </a:solidFill>
              <a:latin typeface="Arial"/>
              <a:ea typeface="Arial"/>
              <a:cs typeface="Arial"/>
              <a:sym typeface="Arial"/>
            </a:endParaRPr>
          </a:p>
          <a:p>
            <a:pPr marL="0" marR="0" lvl="0" indent="0" algn="l" rtl="0">
              <a:lnSpc>
                <a:spcPct val="140013"/>
              </a:lnSpc>
              <a:spcBef>
                <a:spcPts val="0"/>
              </a:spcBef>
              <a:spcAft>
                <a:spcPts val="0"/>
              </a:spcAft>
              <a:buNone/>
            </a:pPr>
            <a:endParaRPr sz="2999">
              <a:solidFill>
                <a:srgbClr val="FEFEFE"/>
              </a:solidFill>
              <a:latin typeface="Arial"/>
              <a:ea typeface="Arial"/>
              <a:cs typeface="Arial"/>
              <a:sym typeface="Arial"/>
            </a:endParaRPr>
          </a:p>
        </p:txBody>
      </p:sp>
      <p:sp>
        <p:nvSpPr>
          <p:cNvPr id="167" name="Google Shape;167;p8"/>
          <p:cNvSpPr/>
          <p:nvPr/>
        </p:nvSpPr>
        <p:spPr>
          <a:xfrm>
            <a:off x="10456488" y="1838149"/>
            <a:ext cx="7047843" cy="6202102"/>
          </a:xfrm>
          <a:custGeom>
            <a:avLst/>
            <a:gdLst/>
            <a:ahLst/>
            <a:cxnLst/>
            <a:rect l="l" t="t" r="r" b="b"/>
            <a:pathLst>
              <a:path w="7047843" h="6202102" extrusionOk="0">
                <a:moveTo>
                  <a:pt x="0" y="0"/>
                </a:moveTo>
                <a:lnTo>
                  <a:pt x="7047843" y="0"/>
                </a:lnTo>
                <a:lnTo>
                  <a:pt x="7047843" y="6202102"/>
                </a:lnTo>
                <a:lnTo>
                  <a:pt x="0" y="6202102"/>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22" b="-922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3" name="Google Shape;173;p9"/>
          <p:cNvSpPr txBox="1"/>
          <p:nvPr/>
        </p:nvSpPr>
        <p:spPr>
          <a:xfrm>
            <a:off x="17212068" y="9210675"/>
            <a:ext cx="246863" cy="50321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a:solidFill>
                  <a:srgbClr val="FFFFFF"/>
                </a:solidFill>
                <a:latin typeface="Arial"/>
                <a:ea typeface="Arial"/>
                <a:cs typeface="Arial"/>
                <a:sym typeface="Arial"/>
              </a:rPr>
              <a:t>9</a:t>
            </a:r>
            <a:endParaRPr/>
          </a:p>
        </p:txBody>
      </p:sp>
      <p:sp>
        <p:nvSpPr>
          <p:cNvPr id="174" name="Google Shape;174;p9"/>
          <p:cNvSpPr txBox="1"/>
          <p:nvPr/>
        </p:nvSpPr>
        <p:spPr>
          <a:xfrm>
            <a:off x="3864008" y="293576"/>
            <a:ext cx="14423992" cy="495300"/>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s-MX" sz="2999" b="1">
                <a:solidFill>
                  <a:srgbClr val="FFDE59"/>
                </a:solidFill>
                <a:latin typeface="Arial"/>
                <a:ea typeface="Arial"/>
                <a:cs typeface="Arial"/>
                <a:sym typeface="Arial"/>
              </a:rPr>
              <a:t>DIAGRAMA DE SECUENCIA: </a:t>
            </a:r>
            <a:r>
              <a:rPr lang="es-MX" sz="2999" b="1">
                <a:solidFill>
                  <a:srgbClr val="FEFEFE"/>
                </a:solidFill>
                <a:latin typeface="Arial"/>
                <a:ea typeface="Arial"/>
                <a:cs typeface="Arial"/>
                <a:sym typeface="Arial"/>
              </a:rPr>
              <a:t>Enviando Consulta</a:t>
            </a:r>
            <a:endParaRPr/>
          </a:p>
        </p:txBody>
      </p:sp>
      <p:pic>
        <p:nvPicPr>
          <p:cNvPr id="175" name="Google Shape;175;p9"/>
          <p:cNvPicPr preferRelativeResize="0"/>
          <p:nvPr/>
        </p:nvPicPr>
        <p:blipFill rotWithShape="1">
          <a:blip r:embed="rId4">
            <a:alphaModFix/>
          </a:blip>
          <a:srcRect/>
          <a:stretch/>
        </p:blipFill>
        <p:spPr>
          <a:xfrm>
            <a:off x="1932004" y="1082452"/>
            <a:ext cx="14423992" cy="869748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0"/>
          <p:cNvSpPr/>
          <p:nvPr/>
        </p:nvSpPr>
        <p:spPr>
          <a:xfrm rot="54000">
            <a:off x="-79663" y="-142993"/>
            <a:ext cx="18447325" cy="10572986"/>
          </a:xfrm>
          <a:custGeom>
            <a:avLst/>
            <a:gdLst/>
            <a:ahLst/>
            <a:cxnLst/>
            <a:rect l="l" t="t" r="r" b="b"/>
            <a:pathLst>
              <a:path w="18447325" h="10572986" extrusionOk="0">
                <a:moveTo>
                  <a:pt x="0" y="287255"/>
                </a:moveTo>
                <a:lnTo>
                  <a:pt x="18285744" y="0"/>
                </a:lnTo>
                <a:lnTo>
                  <a:pt x="18447326" y="10285731"/>
                </a:lnTo>
                <a:lnTo>
                  <a:pt x="161582" y="10572986"/>
                </a:lnTo>
                <a:lnTo>
                  <a:pt x="0" y="287255"/>
                </a:lnTo>
                <a:close/>
              </a:path>
            </a:pathLst>
          </a:custGeom>
          <a:blipFill rotWithShape="1">
            <a:blip r:embed="rId3">
              <a:alphaModFix/>
            </a:blip>
            <a:stretch>
              <a:fillRect l="-404" t="-46870" r="-1258" b="-3050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1" name="Google Shape;181;p10"/>
          <p:cNvSpPr/>
          <p:nvPr/>
        </p:nvSpPr>
        <p:spPr>
          <a:xfrm>
            <a:off x="1401043" y="4110110"/>
            <a:ext cx="5739949" cy="5784880"/>
          </a:xfrm>
          <a:custGeom>
            <a:avLst/>
            <a:gdLst/>
            <a:ahLst/>
            <a:cxnLst/>
            <a:rect l="l" t="t" r="r" b="b"/>
            <a:pathLst>
              <a:path w="5739949" h="5784880" extrusionOk="0">
                <a:moveTo>
                  <a:pt x="0" y="0"/>
                </a:moveTo>
                <a:lnTo>
                  <a:pt x="5739949" y="0"/>
                </a:lnTo>
                <a:lnTo>
                  <a:pt x="5739949" y="5784880"/>
                </a:lnTo>
                <a:lnTo>
                  <a:pt x="0" y="578488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2" name="Google Shape;182;p10"/>
          <p:cNvSpPr/>
          <p:nvPr/>
        </p:nvSpPr>
        <p:spPr>
          <a:xfrm>
            <a:off x="8186341" y="4110110"/>
            <a:ext cx="8439298" cy="5727501"/>
          </a:xfrm>
          <a:custGeom>
            <a:avLst/>
            <a:gdLst/>
            <a:ahLst/>
            <a:cxnLst/>
            <a:rect l="l" t="t" r="r" b="b"/>
            <a:pathLst>
              <a:path w="8439298" h="5727501" extrusionOk="0">
                <a:moveTo>
                  <a:pt x="0" y="0"/>
                </a:moveTo>
                <a:lnTo>
                  <a:pt x="8439298" y="0"/>
                </a:lnTo>
                <a:lnTo>
                  <a:pt x="8439298" y="5727501"/>
                </a:lnTo>
                <a:lnTo>
                  <a:pt x="0" y="572750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3" name="Google Shape;183;p10"/>
          <p:cNvSpPr txBox="1"/>
          <p:nvPr/>
        </p:nvSpPr>
        <p:spPr>
          <a:xfrm>
            <a:off x="17098255" y="9210675"/>
            <a:ext cx="474490" cy="50321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a:solidFill>
                  <a:srgbClr val="FFFFFF"/>
                </a:solidFill>
                <a:latin typeface="Arial"/>
                <a:ea typeface="Arial"/>
                <a:cs typeface="Arial"/>
                <a:sym typeface="Arial"/>
              </a:rPr>
              <a:t>10</a:t>
            </a:r>
            <a:endParaRPr/>
          </a:p>
        </p:txBody>
      </p:sp>
      <p:sp>
        <p:nvSpPr>
          <p:cNvPr id="184" name="Google Shape;184;p10"/>
          <p:cNvSpPr txBox="1"/>
          <p:nvPr/>
        </p:nvSpPr>
        <p:spPr>
          <a:xfrm>
            <a:off x="824790" y="660399"/>
            <a:ext cx="16434510" cy="690574"/>
          </a:xfrm>
          <a:prstGeom prst="rect">
            <a:avLst/>
          </a:prstGeom>
          <a:noFill/>
          <a:ln>
            <a:noFill/>
          </a:ln>
        </p:spPr>
        <p:txBody>
          <a:bodyPr spcFirstLastPara="1" wrap="square" lIns="0" tIns="0" rIns="0" bIns="0" anchor="t" anchorCtr="0">
            <a:spAutoFit/>
          </a:bodyPr>
          <a:lstStyle/>
          <a:p>
            <a:pPr marL="0" marR="0" lvl="0" indent="0" algn="l" rtl="0">
              <a:lnSpc>
                <a:spcPct val="141746"/>
              </a:lnSpc>
              <a:spcBef>
                <a:spcPts val="0"/>
              </a:spcBef>
              <a:spcAft>
                <a:spcPts val="0"/>
              </a:spcAft>
              <a:buNone/>
            </a:pPr>
            <a:r>
              <a:rPr lang="es-MX" sz="3950" b="1">
                <a:solidFill>
                  <a:srgbClr val="FFF7AD"/>
                </a:solidFill>
                <a:latin typeface="Arial"/>
                <a:ea typeface="Arial"/>
                <a:cs typeface="Arial"/>
                <a:sym typeface="Arial"/>
              </a:rPr>
              <a:t>Caso de Uso 48.1 - Registrando proyecto como Borrador</a:t>
            </a:r>
            <a:endParaRPr/>
          </a:p>
        </p:txBody>
      </p:sp>
      <p:sp>
        <p:nvSpPr>
          <p:cNvPr id="185" name="Google Shape;185;p10"/>
          <p:cNvSpPr txBox="1"/>
          <p:nvPr/>
        </p:nvSpPr>
        <p:spPr>
          <a:xfrm>
            <a:off x="670142" y="1395511"/>
            <a:ext cx="16103396" cy="3114676"/>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s-MX" sz="2999">
                <a:solidFill>
                  <a:srgbClr val="FFFFFF"/>
                </a:solidFill>
                <a:latin typeface="Arial"/>
                <a:ea typeface="Arial"/>
                <a:cs typeface="Arial"/>
                <a:sym typeface="Arial"/>
              </a:rPr>
              <a:t>Permite al Personal de Administración crear un Proyecto en estado borrador con su Nombre e imágenes.</a:t>
            </a:r>
            <a:endParaRPr/>
          </a:p>
          <a:p>
            <a:pPr marL="0" marR="0" lvl="0" indent="0" algn="l" rtl="0">
              <a:lnSpc>
                <a:spcPct val="140013"/>
              </a:lnSpc>
              <a:spcBef>
                <a:spcPts val="0"/>
              </a:spcBef>
              <a:spcAft>
                <a:spcPts val="0"/>
              </a:spcAft>
              <a:buNone/>
            </a:pPr>
            <a:endParaRPr sz="2999">
              <a:solidFill>
                <a:srgbClr val="FFFFFF"/>
              </a:solidFill>
              <a:latin typeface="Arial"/>
              <a:ea typeface="Arial"/>
              <a:cs typeface="Arial"/>
              <a:sym typeface="Arial"/>
            </a:endParaRPr>
          </a:p>
          <a:p>
            <a:pPr marL="647695" marR="0" lvl="1" indent="-323848" algn="l" rtl="0">
              <a:lnSpc>
                <a:spcPct val="140013"/>
              </a:lnSpc>
              <a:spcBef>
                <a:spcPts val="0"/>
              </a:spcBef>
              <a:spcAft>
                <a:spcPts val="0"/>
              </a:spcAft>
              <a:buClr>
                <a:srgbClr val="FFDE59"/>
              </a:buClr>
              <a:buSzPts val="2999"/>
              <a:buFont typeface="Arial"/>
              <a:buChar char="•"/>
            </a:pPr>
            <a:r>
              <a:rPr lang="es-MX" sz="2999" b="0" i="0" u="none" strike="noStrike" cap="none">
                <a:solidFill>
                  <a:srgbClr val="FFDE59"/>
                </a:solidFill>
                <a:latin typeface="Arial"/>
                <a:ea typeface="Arial"/>
                <a:cs typeface="Arial"/>
                <a:sym typeface="Arial"/>
              </a:rPr>
              <a:t>Objetivo principal: </a:t>
            </a:r>
            <a:r>
              <a:rPr lang="es-MX" sz="2999" b="0" i="0" u="none" strike="noStrike" cap="none">
                <a:solidFill>
                  <a:srgbClr val="FFFFFF"/>
                </a:solidFill>
                <a:latin typeface="Arial"/>
                <a:ea typeface="Arial"/>
                <a:cs typeface="Arial"/>
                <a:sym typeface="Arial"/>
              </a:rPr>
              <a:t>Guardar un proyecto para su posterior edición y publicación en la página web.</a:t>
            </a:r>
            <a:endParaRPr/>
          </a:p>
          <a:p>
            <a:pPr marL="0" marR="0" lvl="0" indent="0" algn="l" rtl="0">
              <a:lnSpc>
                <a:spcPct val="140013"/>
              </a:lnSpc>
              <a:spcBef>
                <a:spcPts val="0"/>
              </a:spcBef>
              <a:spcAft>
                <a:spcPts val="0"/>
              </a:spcAft>
              <a:buNone/>
            </a:pPr>
            <a:endParaRPr sz="2999">
              <a:solidFill>
                <a:srgbClr val="FFFFFF"/>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1"/>
          <p:cNvSpPr/>
          <p:nvPr/>
        </p:nvSpPr>
        <p:spPr>
          <a:xfrm rot="54000">
            <a:off x="-79663" y="-142993"/>
            <a:ext cx="18447325" cy="10572986"/>
          </a:xfrm>
          <a:custGeom>
            <a:avLst/>
            <a:gdLst/>
            <a:ahLst/>
            <a:cxnLst/>
            <a:rect l="l" t="t" r="r" b="b"/>
            <a:pathLst>
              <a:path w="18447325" h="10572986" extrusionOk="0">
                <a:moveTo>
                  <a:pt x="0" y="287255"/>
                </a:moveTo>
                <a:lnTo>
                  <a:pt x="18285744" y="0"/>
                </a:lnTo>
                <a:lnTo>
                  <a:pt x="18447326" y="10285731"/>
                </a:lnTo>
                <a:lnTo>
                  <a:pt x="161582" y="10572986"/>
                </a:lnTo>
                <a:lnTo>
                  <a:pt x="0" y="287255"/>
                </a:lnTo>
                <a:close/>
              </a:path>
            </a:pathLst>
          </a:custGeom>
          <a:blipFill rotWithShape="1">
            <a:blip r:embed="rId3">
              <a:alphaModFix/>
            </a:blip>
            <a:stretch>
              <a:fillRect l="-404" t="-46870" r="-1258" b="-3050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1" name="Google Shape;191;p11"/>
          <p:cNvSpPr txBox="1"/>
          <p:nvPr/>
        </p:nvSpPr>
        <p:spPr>
          <a:xfrm>
            <a:off x="2446193" y="140068"/>
            <a:ext cx="14813107" cy="495301"/>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s-MX" sz="2999" b="1">
                <a:solidFill>
                  <a:srgbClr val="E6CA69"/>
                </a:solidFill>
                <a:latin typeface="Arial"/>
                <a:ea typeface="Arial"/>
                <a:cs typeface="Arial"/>
                <a:sym typeface="Arial"/>
              </a:rPr>
              <a:t>DIAGRAMA DE SECUENCIA:</a:t>
            </a:r>
            <a:r>
              <a:rPr lang="es-MX" sz="2999" b="1">
                <a:solidFill>
                  <a:srgbClr val="FEFEFE"/>
                </a:solidFill>
                <a:latin typeface="Arial"/>
                <a:ea typeface="Arial"/>
                <a:cs typeface="Arial"/>
                <a:sym typeface="Arial"/>
              </a:rPr>
              <a:t> REGISTRANDO PROYECTO COMO BORRADOR</a:t>
            </a:r>
            <a:endParaRPr/>
          </a:p>
        </p:txBody>
      </p:sp>
      <p:sp>
        <p:nvSpPr>
          <p:cNvPr id="192" name="Google Shape;192;p11"/>
          <p:cNvSpPr txBox="1"/>
          <p:nvPr/>
        </p:nvSpPr>
        <p:spPr>
          <a:xfrm>
            <a:off x="17130315" y="9210675"/>
            <a:ext cx="410370" cy="50321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a:solidFill>
                  <a:srgbClr val="FFFFFF"/>
                </a:solidFill>
                <a:latin typeface="Arial"/>
                <a:ea typeface="Arial"/>
                <a:cs typeface="Arial"/>
                <a:sym typeface="Arial"/>
              </a:rPr>
              <a:t>11</a:t>
            </a:r>
            <a:endParaRPr/>
          </a:p>
        </p:txBody>
      </p:sp>
      <p:pic>
        <p:nvPicPr>
          <p:cNvPr id="193" name="Google Shape;193;p11"/>
          <p:cNvPicPr preferRelativeResize="0"/>
          <p:nvPr/>
        </p:nvPicPr>
        <p:blipFill rotWithShape="1">
          <a:blip r:embed="rId4">
            <a:alphaModFix/>
          </a:blip>
          <a:srcRect/>
          <a:stretch/>
        </p:blipFill>
        <p:spPr>
          <a:xfrm>
            <a:off x="3452564" y="795218"/>
            <a:ext cx="11148339" cy="891867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2"/>
          <p:cNvSpPr/>
          <p:nvPr/>
        </p:nvSpPr>
        <p:spPr>
          <a:xfrm rot="54000">
            <a:off x="-79663" y="-142993"/>
            <a:ext cx="18447325" cy="10572986"/>
          </a:xfrm>
          <a:custGeom>
            <a:avLst/>
            <a:gdLst/>
            <a:ahLst/>
            <a:cxnLst/>
            <a:rect l="l" t="t" r="r" b="b"/>
            <a:pathLst>
              <a:path w="18447325" h="10572986" extrusionOk="0">
                <a:moveTo>
                  <a:pt x="0" y="287255"/>
                </a:moveTo>
                <a:lnTo>
                  <a:pt x="18285744" y="0"/>
                </a:lnTo>
                <a:lnTo>
                  <a:pt x="18447326" y="10285731"/>
                </a:lnTo>
                <a:lnTo>
                  <a:pt x="161582" y="10572986"/>
                </a:lnTo>
                <a:lnTo>
                  <a:pt x="0" y="287255"/>
                </a:lnTo>
                <a:close/>
              </a:path>
            </a:pathLst>
          </a:custGeom>
          <a:blipFill rotWithShape="1">
            <a:blip r:embed="rId3">
              <a:alphaModFix/>
            </a:blip>
            <a:stretch>
              <a:fillRect l="-404" t="-46870" r="-1258" b="-3050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9" name="Google Shape;199;p12"/>
          <p:cNvSpPr/>
          <p:nvPr/>
        </p:nvSpPr>
        <p:spPr>
          <a:xfrm>
            <a:off x="9674565" y="4963235"/>
            <a:ext cx="4423514" cy="5111423"/>
          </a:xfrm>
          <a:custGeom>
            <a:avLst/>
            <a:gdLst/>
            <a:ahLst/>
            <a:cxnLst/>
            <a:rect l="l" t="t" r="r" b="b"/>
            <a:pathLst>
              <a:path w="4423514" h="5111423" extrusionOk="0">
                <a:moveTo>
                  <a:pt x="0" y="0"/>
                </a:moveTo>
                <a:lnTo>
                  <a:pt x="4423514" y="0"/>
                </a:lnTo>
                <a:lnTo>
                  <a:pt x="4423514" y="5111423"/>
                </a:lnTo>
                <a:lnTo>
                  <a:pt x="0" y="5111423"/>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0" name="Google Shape;200;p12"/>
          <p:cNvSpPr/>
          <p:nvPr/>
        </p:nvSpPr>
        <p:spPr>
          <a:xfrm>
            <a:off x="3730234" y="3742737"/>
            <a:ext cx="4970558" cy="6331921"/>
          </a:xfrm>
          <a:custGeom>
            <a:avLst/>
            <a:gdLst/>
            <a:ahLst/>
            <a:cxnLst/>
            <a:rect l="l" t="t" r="r" b="b"/>
            <a:pathLst>
              <a:path w="4970558" h="6331921" extrusionOk="0">
                <a:moveTo>
                  <a:pt x="0" y="0"/>
                </a:moveTo>
                <a:lnTo>
                  <a:pt x="4970558" y="0"/>
                </a:lnTo>
                <a:lnTo>
                  <a:pt x="4970558" y="6331921"/>
                </a:lnTo>
                <a:lnTo>
                  <a:pt x="0" y="633192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1" name="Google Shape;201;p12"/>
          <p:cNvSpPr txBox="1"/>
          <p:nvPr/>
        </p:nvSpPr>
        <p:spPr>
          <a:xfrm>
            <a:off x="17127109" y="9210675"/>
            <a:ext cx="416782" cy="50321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a:solidFill>
                  <a:srgbClr val="FFFFFF"/>
                </a:solidFill>
                <a:latin typeface="Arial"/>
                <a:ea typeface="Arial"/>
                <a:cs typeface="Arial"/>
                <a:sym typeface="Arial"/>
              </a:rPr>
              <a:t>12</a:t>
            </a:r>
            <a:endParaRPr/>
          </a:p>
        </p:txBody>
      </p:sp>
      <p:sp>
        <p:nvSpPr>
          <p:cNvPr id="202" name="Google Shape;202;p12"/>
          <p:cNvSpPr txBox="1"/>
          <p:nvPr/>
        </p:nvSpPr>
        <p:spPr>
          <a:xfrm>
            <a:off x="1230317" y="144906"/>
            <a:ext cx="16434510" cy="690574"/>
          </a:xfrm>
          <a:prstGeom prst="rect">
            <a:avLst/>
          </a:prstGeom>
          <a:noFill/>
          <a:ln>
            <a:noFill/>
          </a:ln>
        </p:spPr>
        <p:txBody>
          <a:bodyPr spcFirstLastPara="1" wrap="square" lIns="0" tIns="0" rIns="0" bIns="0" anchor="t" anchorCtr="0">
            <a:spAutoFit/>
          </a:bodyPr>
          <a:lstStyle/>
          <a:p>
            <a:pPr marL="0" marR="0" lvl="0" indent="0" algn="l" rtl="0">
              <a:lnSpc>
                <a:spcPct val="141746"/>
              </a:lnSpc>
              <a:spcBef>
                <a:spcPts val="0"/>
              </a:spcBef>
              <a:spcAft>
                <a:spcPts val="0"/>
              </a:spcAft>
              <a:buNone/>
            </a:pPr>
            <a:r>
              <a:rPr lang="es-MX" sz="3950" b="1">
                <a:solidFill>
                  <a:srgbClr val="FFF7AD"/>
                </a:solidFill>
                <a:latin typeface="Arial"/>
                <a:ea typeface="Arial"/>
                <a:cs typeface="Arial"/>
                <a:sym typeface="Arial"/>
              </a:rPr>
              <a:t>Caso de Uso 48.2 - Publicando Proyectos</a:t>
            </a:r>
            <a:endParaRPr sz="3950" b="1">
              <a:solidFill>
                <a:srgbClr val="FFF7AD"/>
              </a:solidFill>
              <a:latin typeface="Arial"/>
              <a:ea typeface="Arial"/>
              <a:cs typeface="Arial"/>
              <a:sym typeface="Arial"/>
            </a:endParaRPr>
          </a:p>
        </p:txBody>
      </p:sp>
      <p:sp>
        <p:nvSpPr>
          <p:cNvPr id="203" name="Google Shape;203;p12"/>
          <p:cNvSpPr txBox="1"/>
          <p:nvPr/>
        </p:nvSpPr>
        <p:spPr>
          <a:xfrm>
            <a:off x="1230317" y="981075"/>
            <a:ext cx="15496306" cy="3638551"/>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s-MX" sz="2999">
                <a:solidFill>
                  <a:srgbClr val="FEFEFE"/>
                </a:solidFill>
                <a:latin typeface="Arial"/>
                <a:ea typeface="Arial"/>
                <a:cs typeface="Arial"/>
                <a:sym typeface="Arial"/>
              </a:rPr>
              <a:t>Permite al Administrador editar la información de un proyecto y cambiar su estado de visualización a publicado.</a:t>
            </a:r>
            <a:endParaRPr/>
          </a:p>
          <a:p>
            <a:pPr marL="0" marR="0" lvl="0" indent="0" algn="l" rtl="0">
              <a:lnSpc>
                <a:spcPct val="140013"/>
              </a:lnSpc>
              <a:spcBef>
                <a:spcPts val="0"/>
              </a:spcBef>
              <a:spcAft>
                <a:spcPts val="0"/>
              </a:spcAft>
              <a:buNone/>
            </a:pPr>
            <a:endParaRPr sz="2999">
              <a:solidFill>
                <a:srgbClr val="FEFEFE"/>
              </a:solidFill>
              <a:latin typeface="Arial"/>
              <a:ea typeface="Arial"/>
              <a:cs typeface="Arial"/>
              <a:sym typeface="Arial"/>
            </a:endParaRPr>
          </a:p>
          <a:p>
            <a:pPr marL="647695" marR="0" lvl="1" indent="-323848" algn="l" rtl="0">
              <a:lnSpc>
                <a:spcPct val="140013"/>
              </a:lnSpc>
              <a:spcBef>
                <a:spcPts val="0"/>
              </a:spcBef>
              <a:spcAft>
                <a:spcPts val="0"/>
              </a:spcAft>
              <a:buClr>
                <a:srgbClr val="FFDE59"/>
              </a:buClr>
              <a:buSzPts val="2999"/>
              <a:buFont typeface="Arial"/>
              <a:buChar char="•"/>
            </a:pPr>
            <a:r>
              <a:rPr lang="es-MX" sz="2999" b="0" i="0" u="none" strike="noStrike" cap="none">
                <a:solidFill>
                  <a:srgbClr val="FFDE59"/>
                </a:solidFill>
                <a:latin typeface="Arial"/>
                <a:ea typeface="Arial"/>
                <a:cs typeface="Arial"/>
                <a:sym typeface="Arial"/>
              </a:rPr>
              <a:t>Objetivo principal: </a:t>
            </a:r>
            <a:r>
              <a:rPr lang="es-MX" sz="2999" b="0" i="0" u="none" strike="noStrike" cap="none">
                <a:solidFill>
                  <a:srgbClr val="FEFEFE"/>
                </a:solidFill>
                <a:latin typeface="Arial"/>
                <a:ea typeface="Arial"/>
                <a:cs typeface="Arial"/>
                <a:sym typeface="Arial"/>
              </a:rPr>
              <a:t>Publicar un proyecto en el sitio web para que los clientes puedan visualizar las obras realizadas por la empresa.</a:t>
            </a:r>
            <a:endParaRPr/>
          </a:p>
          <a:p>
            <a:pPr marL="0" marR="0" lvl="0" indent="0" algn="l" rtl="0">
              <a:lnSpc>
                <a:spcPct val="140013"/>
              </a:lnSpc>
              <a:spcBef>
                <a:spcPts val="0"/>
              </a:spcBef>
              <a:spcAft>
                <a:spcPts val="0"/>
              </a:spcAft>
              <a:buNone/>
            </a:pPr>
            <a:endParaRPr sz="2999">
              <a:solidFill>
                <a:srgbClr val="FEFEFE"/>
              </a:solidFill>
              <a:latin typeface="Arial"/>
              <a:ea typeface="Arial"/>
              <a:cs typeface="Arial"/>
              <a:sym typeface="Arial"/>
            </a:endParaRPr>
          </a:p>
          <a:p>
            <a:pPr marL="0" marR="0" lvl="0" indent="0" algn="l" rtl="0">
              <a:lnSpc>
                <a:spcPct val="140013"/>
              </a:lnSpc>
              <a:spcBef>
                <a:spcPts val="0"/>
              </a:spcBef>
              <a:spcAft>
                <a:spcPts val="0"/>
              </a:spcAft>
              <a:buNone/>
            </a:pPr>
            <a:endParaRPr sz="2999">
              <a:solidFill>
                <a:srgbClr val="FEFEFE"/>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3"/>
          <p:cNvSpPr/>
          <p:nvPr/>
        </p:nvSpPr>
        <p:spPr>
          <a:xfrm rot="54000">
            <a:off x="-79663" y="-142993"/>
            <a:ext cx="18447325" cy="10572986"/>
          </a:xfrm>
          <a:custGeom>
            <a:avLst/>
            <a:gdLst/>
            <a:ahLst/>
            <a:cxnLst/>
            <a:rect l="l" t="t" r="r" b="b"/>
            <a:pathLst>
              <a:path w="18447325" h="10572986" extrusionOk="0">
                <a:moveTo>
                  <a:pt x="0" y="287255"/>
                </a:moveTo>
                <a:lnTo>
                  <a:pt x="18285744" y="0"/>
                </a:lnTo>
                <a:lnTo>
                  <a:pt x="18447326" y="10285731"/>
                </a:lnTo>
                <a:lnTo>
                  <a:pt x="161582" y="10572986"/>
                </a:lnTo>
                <a:lnTo>
                  <a:pt x="0" y="287255"/>
                </a:lnTo>
                <a:close/>
              </a:path>
            </a:pathLst>
          </a:custGeom>
          <a:blipFill rotWithShape="1">
            <a:blip r:embed="rId3">
              <a:alphaModFix/>
            </a:blip>
            <a:stretch>
              <a:fillRect l="-404" t="-46870" r="-1258" b="-3050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9" name="Google Shape;209;p13"/>
          <p:cNvSpPr txBox="1"/>
          <p:nvPr/>
        </p:nvSpPr>
        <p:spPr>
          <a:xfrm>
            <a:off x="4186091" y="533399"/>
            <a:ext cx="14813107" cy="495301"/>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s-MX" sz="2999" b="1">
                <a:solidFill>
                  <a:srgbClr val="E6CA69"/>
                </a:solidFill>
                <a:latin typeface="Arial"/>
                <a:ea typeface="Arial"/>
                <a:cs typeface="Arial"/>
                <a:sym typeface="Arial"/>
              </a:rPr>
              <a:t>DIAGRAMA DE SECUENCIA: </a:t>
            </a:r>
            <a:r>
              <a:rPr lang="es-MX" sz="2999" b="1">
                <a:solidFill>
                  <a:srgbClr val="FFFFFF"/>
                </a:solidFill>
                <a:latin typeface="Arial"/>
                <a:ea typeface="Arial"/>
                <a:cs typeface="Arial"/>
                <a:sym typeface="Arial"/>
              </a:rPr>
              <a:t>Publicando Proyecto</a:t>
            </a:r>
            <a:endParaRPr/>
          </a:p>
        </p:txBody>
      </p:sp>
      <p:sp>
        <p:nvSpPr>
          <p:cNvPr id="210" name="Google Shape;210;p13"/>
          <p:cNvSpPr txBox="1"/>
          <p:nvPr/>
        </p:nvSpPr>
        <p:spPr>
          <a:xfrm>
            <a:off x="17121499" y="9210675"/>
            <a:ext cx="428002" cy="50321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a:solidFill>
                  <a:srgbClr val="FFFFFF"/>
                </a:solidFill>
                <a:latin typeface="Arial"/>
                <a:ea typeface="Arial"/>
                <a:cs typeface="Arial"/>
                <a:sym typeface="Arial"/>
              </a:rPr>
              <a:t>13</a:t>
            </a:r>
            <a:endParaRPr/>
          </a:p>
        </p:txBody>
      </p:sp>
      <p:pic>
        <p:nvPicPr>
          <p:cNvPr id="211" name="Google Shape;211;p13"/>
          <p:cNvPicPr preferRelativeResize="0"/>
          <p:nvPr/>
        </p:nvPicPr>
        <p:blipFill rotWithShape="1">
          <a:blip r:embed="rId4">
            <a:alphaModFix/>
          </a:blip>
          <a:srcRect/>
          <a:stretch/>
        </p:blipFill>
        <p:spPr>
          <a:xfrm>
            <a:off x="2941074" y="1256189"/>
            <a:ext cx="12721714" cy="862160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9" b="-3888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7" name="Google Shape;217;p14"/>
          <p:cNvSpPr/>
          <p:nvPr/>
        </p:nvSpPr>
        <p:spPr>
          <a:xfrm>
            <a:off x="1938509" y="1475107"/>
            <a:ext cx="14791380" cy="8505044"/>
          </a:xfrm>
          <a:custGeom>
            <a:avLst/>
            <a:gdLst/>
            <a:ahLst/>
            <a:cxnLst/>
            <a:rect l="l" t="t" r="r" b="b"/>
            <a:pathLst>
              <a:path w="14791380" h="8505044" extrusionOk="0">
                <a:moveTo>
                  <a:pt x="0" y="0"/>
                </a:moveTo>
                <a:lnTo>
                  <a:pt x="14791380" y="0"/>
                </a:lnTo>
                <a:lnTo>
                  <a:pt x="14791380" y="8505044"/>
                </a:lnTo>
                <a:lnTo>
                  <a:pt x="0" y="8505044"/>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8" name="Google Shape;218;p14"/>
          <p:cNvSpPr/>
          <p:nvPr/>
        </p:nvSpPr>
        <p:spPr>
          <a:xfrm>
            <a:off x="15290389" y="915639"/>
            <a:ext cx="1437906" cy="2022630"/>
          </a:xfrm>
          <a:custGeom>
            <a:avLst/>
            <a:gdLst/>
            <a:ahLst/>
            <a:cxnLst/>
            <a:rect l="l" t="t" r="r" b="b"/>
            <a:pathLst>
              <a:path w="1437906" h="2022630" extrusionOk="0">
                <a:moveTo>
                  <a:pt x="0" y="0"/>
                </a:moveTo>
                <a:lnTo>
                  <a:pt x="1437906" y="0"/>
                </a:lnTo>
                <a:lnTo>
                  <a:pt x="1437906" y="2022630"/>
                </a:lnTo>
                <a:lnTo>
                  <a:pt x="0" y="202263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9" name="Google Shape;219;p14"/>
          <p:cNvSpPr txBox="1"/>
          <p:nvPr/>
        </p:nvSpPr>
        <p:spPr>
          <a:xfrm>
            <a:off x="4082767" y="687068"/>
            <a:ext cx="16678832" cy="7880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s-MX" sz="5900" b="1">
                <a:solidFill>
                  <a:srgbClr val="E6CA69"/>
                </a:solidFill>
                <a:latin typeface="Alexandria"/>
                <a:ea typeface="Alexandria"/>
                <a:cs typeface="Alexandria"/>
                <a:sym typeface="Alexandria"/>
              </a:rPr>
              <a:t>ÁRBOL DE NAVEGACIÓN</a:t>
            </a:r>
            <a:endParaRPr/>
          </a:p>
        </p:txBody>
      </p:sp>
      <p:sp>
        <p:nvSpPr>
          <p:cNvPr id="220" name="Google Shape;220;p14"/>
          <p:cNvSpPr txBox="1"/>
          <p:nvPr/>
        </p:nvSpPr>
        <p:spPr>
          <a:xfrm>
            <a:off x="17116690" y="9210675"/>
            <a:ext cx="437620" cy="50321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a:solidFill>
                  <a:srgbClr val="FFFFFF"/>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313" b="-931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6" name="Google Shape;226;p15"/>
          <p:cNvSpPr txBox="1"/>
          <p:nvPr/>
        </p:nvSpPr>
        <p:spPr>
          <a:xfrm>
            <a:off x="5017137" y="533399"/>
            <a:ext cx="14813107" cy="495301"/>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s-MX" sz="2999" b="1">
                <a:solidFill>
                  <a:srgbClr val="E6CA69"/>
                </a:solidFill>
                <a:latin typeface="Arial"/>
                <a:ea typeface="Arial"/>
                <a:cs typeface="Arial"/>
                <a:sym typeface="Arial"/>
              </a:rPr>
              <a:t>BASES DE DATOS - </a:t>
            </a:r>
            <a:r>
              <a:rPr lang="es-MX" sz="2999" b="1">
                <a:solidFill>
                  <a:srgbClr val="FEFEFE"/>
                </a:solidFill>
                <a:latin typeface="Arial"/>
                <a:ea typeface="Arial"/>
                <a:cs typeface="Arial"/>
                <a:sym typeface="Arial"/>
              </a:rPr>
              <a:t>DIAGRAMA DE CLASES</a:t>
            </a:r>
            <a:endParaRPr/>
          </a:p>
        </p:txBody>
      </p:sp>
      <p:sp>
        <p:nvSpPr>
          <p:cNvPr id="227" name="Google Shape;227;p15"/>
          <p:cNvSpPr/>
          <p:nvPr/>
        </p:nvSpPr>
        <p:spPr>
          <a:xfrm>
            <a:off x="3203177" y="1183394"/>
            <a:ext cx="12543448" cy="8599411"/>
          </a:xfrm>
          <a:custGeom>
            <a:avLst/>
            <a:gdLst/>
            <a:ahLst/>
            <a:cxnLst/>
            <a:rect l="l" t="t" r="r" b="b"/>
            <a:pathLst>
              <a:path w="12543448" h="8599411" extrusionOk="0">
                <a:moveTo>
                  <a:pt x="0" y="0"/>
                </a:moveTo>
                <a:lnTo>
                  <a:pt x="12543448" y="0"/>
                </a:lnTo>
                <a:lnTo>
                  <a:pt x="12543448" y="8599410"/>
                </a:lnTo>
                <a:lnTo>
                  <a:pt x="0" y="8599410"/>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8" name="Google Shape;228;p15"/>
          <p:cNvSpPr txBox="1"/>
          <p:nvPr/>
        </p:nvSpPr>
        <p:spPr>
          <a:xfrm>
            <a:off x="17119095" y="9210675"/>
            <a:ext cx="432811" cy="50321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a:solidFill>
                  <a:srgbClr val="FFFFFF"/>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9" b="-3888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4" name="Google Shape;234;p16"/>
          <p:cNvSpPr/>
          <p:nvPr/>
        </p:nvSpPr>
        <p:spPr>
          <a:xfrm rot="3228445">
            <a:off x="-4782647" y="-1549206"/>
            <a:ext cx="16795899" cy="15268999"/>
          </a:xfrm>
          <a:custGeom>
            <a:avLst/>
            <a:gdLst/>
            <a:ahLst/>
            <a:cxnLst/>
            <a:rect l="l" t="t" r="r" b="b"/>
            <a:pathLst>
              <a:path w="16795899" h="15268999" extrusionOk="0">
                <a:moveTo>
                  <a:pt x="0" y="0"/>
                </a:moveTo>
                <a:lnTo>
                  <a:pt x="16795899" y="0"/>
                </a:lnTo>
                <a:lnTo>
                  <a:pt x="16795899" y="15268999"/>
                </a:lnTo>
                <a:lnTo>
                  <a:pt x="0" y="1526899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5" name="Google Shape;235;p16"/>
          <p:cNvSpPr/>
          <p:nvPr/>
        </p:nvSpPr>
        <p:spPr>
          <a:xfrm>
            <a:off x="8930547" y="7057084"/>
            <a:ext cx="1989590" cy="2019888"/>
          </a:xfrm>
          <a:custGeom>
            <a:avLst/>
            <a:gdLst/>
            <a:ahLst/>
            <a:cxnLst/>
            <a:rect l="l" t="t" r="r" b="b"/>
            <a:pathLst>
              <a:path w="1989590" h="2019888" extrusionOk="0">
                <a:moveTo>
                  <a:pt x="0" y="0"/>
                </a:moveTo>
                <a:lnTo>
                  <a:pt x="1989590" y="0"/>
                </a:lnTo>
                <a:lnTo>
                  <a:pt x="1989590" y="2019888"/>
                </a:lnTo>
                <a:lnTo>
                  <a:pt x="0" y="2019888"/>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6" name="Google Shape;236;p16"/>
          <p:cNvSpPr/>
          <p:nvPr/>
        </p:nvSpPr>
        <p:spPr>
          <a:xfrm>
            <a:off x="14458951" y="1028700"/>
            <a:ext cx="2652977" cy="2230666"/>
          </a:xfrm>
          <a:custGeom>
            <a:avLst/>
            <a:gdLst/>
            <a:ahLst/>
            <a:cxnLst/>
            <a:rect l="l" t="t" r="r" b="b"/>
            <a:pathLst>
              <a:path w="2652977" h="2230666" extrusionOk="0">
                <a:moveTo>
                  <a:pt x="0" y="0"/>
                </a:moveTo>
                <a:lnTo>
                  <a:pt x="2652977" y="0"/>
                </a:lnTo>
                <a:lnTo>
                  <a:pt x="2652977" y="2230666"/>
                </a:lnTo>
                <a:lnTo>
                  <a:pt x="0" y="2230666"/>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7" name="Google Shape;237;p16"/>
          <p:cNvSpPr/>
          <p:nvPr/>
        </p:nvSpPr>
        <p:spPr>
          <a:xfrm>
            <a:off x="1356329" y="4846097"/>
            <a:ext cx="16340928" cy="3223339"/>
          </a:xfrm>
          <a:custGeom>
            <a:avLst/>
            <a:gdLst/>
            <a:ahLst/>
            <a:cxnLst/>
            <a:rect l="l" t="t" r="r" b="b"/>
            <a:pathLst>
              <a:path w="16340928" h="3223339" extrusionOk="0">
                <a:moveTo>
                  <a:pt x="0" y="0"/>
                </a:moveTo>
                <a:lnTo>
                  <a:pt x="16340928" y="0"/>
                </a:lnTo>
                <a:lnTo>
                  <a:pt x="16340928" y="3223339"/>
                </a:lnTo>
                <a:lnTo>
                  <a:pt x="0" y="3223339"/>
                </a:lnTo>
                <a:lnTo>
                  <a:pt x="0" y="0"/>
                </a:lnTo>
                <a:close/>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8" name="Google Shape;238;p16"/>
          <p:cNvSpPr txBox="1"/>
          <p:nvPr/>
        </p:nvSpPr>
        <p:spPr>
          <a:xfrm>
            <a:off x="2045723" y="4023371"/>
            <a:ext cx="7481070" cy="6898940"/>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s-MX" sz="3808" b="1" dirty="0">
                <a:solidFill>
                  <a:srgbClr val="FFFFFF"/>
                </a:solidFill>
                <a:latin typeface="Cambay"/>
                <a:ea typeface="Cambay"/>
                <a:cs typeface="Cambay"/>
                <a:sym typeface="Cambay"/>
              </a:rPr>
              <a:t>Integrantes</a:t>
            </a:r>
            <a:endParaRPr dirty="0"/>
          </a:p>
          <a:p>
            <a:pPr marL="0" marR="0" lvl="0" indent="0" algn="l" rtl="0">
              <a:lnSpc>
                <a:spcPct val="120010"/>
              </a:lnSpc>
              <a:spcBef>
                <a:spcPts val="0"/>
              </a:spcBef>
              <a:spcAft>
                <a:spcPts val="0"/>
              </a:spcAft>
              <a:buNone/>
            </a:pPr>
            <a:endParaRPr sz="3808" b="1" dirty="0">
              <a:solidFill>
                <a:srgbClr val="FFFFFF"/>
              </a:solidFill>
              <a:latin typeface="Cambay"/>
              <a:ea typeface="Cambay"/>
              <a:cs typeface="Cambay"/>
              <a:sym typeface="Cambay"/>
            </a:endParaRPr>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dirty="0">
                <a:solidFill>
                  <a:srgbClr val="FFFFFF"/>
                </a:solidFill>
                <a:latin typeface="Cambay"/>
                <a:ea typeface="Cambay"/>
                <a:cs typeface="Cambay"/>
                <a:sym typeface="Cambay"/>
              </a:rPr>
              <a:t>Diego Carabajal Belmar </a:t>
            </a:r>
            <a:endParaRPr dirty="0"/>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dirty="0">
                <a:solidFill>
                  <a:srgbClr val="FFFFFF"/>
                </a:solidFill>
                <a:latin typeface="Cambay"/>
                <a:ea typeface="Cambay"/>
                <a:cs typeface="Cambay"/>
                <a:sym typeface="Cambay"/>
              </a:rPr>
              <a:t>Tomás Hurtado Silva </a:t>
            </a:r>
            <a:endParaRPr dirty="0"/>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dirty="0">
                <a:solidFill>
                  <a:srgbClr val="FFFFFF"/>
                </a:solidFill>
                <a:latin typeface="Cambay"/>
                <a:ea typeface="Cambay"/>
                <a:cs typeface="Cambay"/>
                <a:sym typeface="Cambay"/>
              </a:rPr>
              <a:t>Vicente Ortega Nobizelli </a:t>
            </a:r>
            <a:endParaRPr dirty="0"/>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dirty="0">
                <a:solidFill>
                  <a:srgbClr val="FFFFFF"/>
                </a:solidFill>
                <a:latin typeface="Cambay"/>
                <a:ea typeface="Cambay"/>
                <a:cs typeface="Cambay"/>
                <a:sym typeface="Cambay"/>
              </a:rPr>
              <a:t>Benjamín Parraguez Aguirre </a:t>
            </a:r>
            <a:endParaRPr dirty="0"/>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dirty="0">
                <a:solidFill>
                  <a:srgbClr val="FFFFFF"/>
                </a:solidFill>
                <a:latin typeface="Cambay"/>
                <a:ea typeface="Cambay"/>
                <a:cs typeface="Cambay"/>
                <a:sym typeface="Cambay"/>
              </a:rPr>
              <a:t>Paulina Urrutia Moya </a:t>
            </a:r>
            <a:endParaRPr dirty="0"/>
          </a:p>
          <a:p>
            <a:pPr marL="0" marR="0" lvl="0" indent="0" algn="l" rtl="0">
              <a:lnSpc>
                <a:spcPct val="120006"/>
              </a:lnSpc>
              <a:spcBef>
                <a:spcPts val="0"/>
              </a:spcBef>
              <a:spcAft>
                <a:spcPts val="0"/>
              </a:spcAft>
              <a:buNone/>
            </a:pPr>
            <a:endParaRPr sz="2974" dirty="0">
              <a:solidFill>
                <a:srgbClr val="FFFFFF"/>
              </a:solidFill>
              <a:latin typeface="Cambay"/>
              <a:ea typeface="Cambay"/>
              <a:cs typeface="Cambay"/>
              <a:sym typeface="Cambay"/>
            </a:endParaRPr>
          </a:p>
          <a:p>
            <a:pPr marL="0" marR="0" lvl="0" indent="0" algn="l" rtl="0">
              <a:lnSpc>
                <a:spcPct val="120006"/>
              </a:lnSpc>
              <a:spcBef>
                <a:spcPts val="0"/>
              </a:spcBef>
              <a:spcAft>
                <a:spcPts val="0"/>
              </a:spcAft>
              <a:buNone/>
            </a:pPr>
            <a:endParaRPr sz="2974" dirty="0">
              <a:solidFill>
                <a:srgbClr val="FFFFFF"/>
              </a:solidFill>
              <a:latin typeface="Cambay"/>
              <a:ea typeface="Cambay"/>
              <a:cs typeface="Cambay"/>
              <a:sym typeface="Cambay"/>
            </a:endParaRPr>
          </a:p>
          <a:p>
            <a:pPr marL="0" marR="0" lvl="0" indent="0" algn="l" rtl="0">
              <a:lnSpc>
                <a:spcPct val="120006"/>
              </a:lnSpc>
              <a:spcBef>
                <a:spcPts val="0"/>
              </a:spcBef>
              <a:spcAft>
                <a:spcPts val="0"/>
              </a:spcAft>
              <a:buNone/>
            </a:pPr>
            <a:endParaRPr sz="2974" dirty="0">
              <a:solidFill>
                <a:srgbClr val="FFFFFF"/>
              </a:solidFill>
              <a:latin typeface="Cambay"/>
              <a:ea typeface="Cambay"/>
              <a:cs typeface="Cambay"/>
              <a:sym typeface="Cambay"/>
            </a:endParaRPr>
          </a:p>
          <a:p>
            <a:pPr marL="0" marR="0" lvl="0" indent="0" algn="l" rtl="0">
              <a:lnSpc>
                <a:spcPct val="120006"/>
              </a:lnSpc>
              <a:spcBef>
                <a:spcPts val="0"/>
              </a:spcBef>
              <a:spcAft>
                <a:spcPts val="0"/>
              </a:spcAft>
              <a:buNone/>
            </a:pPr>
            <a:endParaRPr sz="2974" dirty="0">
              <a:solidFill>
                <a:srgbClr val="FFFFFF"/>
              </a:solidFill>
              <a:latin typeface="Cambay"/>
              <a:ea typeface="Cambay"/>
              <a:cs typeface="Cambay"/>
              <a:sym typeface="Cambay"/>
            </a:endParaRPr>
          </a:p>
          <a:p>
            <a:pPr marL="0" marR="0" lvl="0" indent="0" algn="l" rtl="0">
              <a:lnSpc>
                <a:spcPct val="120006"/>
              </a:lnSpc>
              <a:spcBef>
                <a:spcPts val="0"/>
              </a:spcBef>
              <a:spcAft>
                <a:spcPts val="0"/>
              </a:spcAft>
              <a:buNone/>
            </a:pPr>
            <a:endParaRPr sz="2974" dirty="0">
              <a:solidFill>
                <a:srgbClr val="FFFFFF"/>
              </a:solidFill>
              <a:latin typeface="Cambay"/>
              <a:ea typeface="Cambay"/>
              <a:cs typeface="Cambay"/>
              <a:sym typeface="Cambay"/>
            </a:endParaRPr>
          </a:p>
        </p:txBody>
      </p:sp>
      <p:sp>
        <p:nvSpPr>
          <p:cNvPr id="239" name="Google Shape;239;p16"/>
          <p:cNvSpPr txBox="1"/>
          <p:nvPr/>
        </p:nvSpPr>
        <p:spPr>
          <a:xfrm>
            <a:off x="4513455" y="5052540"/>
            <a:ext cx="16340928" cy="495301"/>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b="1">
                <a:solidFill>
                  <a:srgbClr val="FFFFFF"/>
                </a:solidFill>
                <a:latin typeface="Arial"/>
                <a:ea typeface="Arial"/>
                <a:cs typeface="Arial"/>
                <a:sym typeface="Arial"/>
              </a:rPr>
              <a:t>Profesor: </a:t>
            </a:r>
            <a:r>
              <a:rPr lang="es-MX" sz="2999">
                <a:solidFill>
                  <a:srgbClr val="FFFFFF"/>
                </a:solidFill>
                <a:latin typeface="Arial"/>
                <a:ea typeface="Arial"/>
                <a:cs typeface="Arial"/>
                <a:sym typeface="Arial"/>
              </a:rPr>
              <a:t>Paulo Quinsacara Jofré</a:t>
            </a:r>
            <a:endParaRPr/>
          </a:p>
        </p:txBody>
      </p:sp>
      <p:sp>
        <p:nvSpPr>
          <p:cNvPr id="240" name="Google Shape;240;p16"/>
          <p:cNvSpPr txBox="1"/>
          <p:nvPr/>
        </p:nvSpPr>
        <p:spPr>
          <a:xfrm>
            <a:off x="17259300" y="9210675"/>
            <a:ext cx="152400" cy="20002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None/>
            </a:pPr>
            <a:r>
              <a:rPr lang="es-MX" sz="2999">
                <a:solidFill>
                  <a:srgbClr val="FFFFFF"/>
                </a:solidFill>
                <a:latin typeface="Arial"/>
                <a:ea typeface="Arial"/>
                <a:cs typeface="Arial"/>
                <a:sym typeface="Arial"/>
              </a:rPr>
              <a:t>16</a:t>
            </a:r>
            <a:endParaRPr/>
          </a:p>
        </p:txBody>
      </p:sp>
      <p:sp>
        <p:nvSpPr>
          <p:cNvPr id="241" name="Google Shape;241;p16"/>
          <p:cNvSpPr txBox="1"/>
          <p:nvPr/>
        </p:nvSpPr>
        <p:spPr>
          <a:xfrm>
            <a:off x="1518683" y="1696290"/>
            <a:ext cx="12400609" cy="206057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s-MX" sz="7999" b="1">
                <a:solidFill>
                  <a:srgbClr val="CCFFAB"/>
                </a:solidFill>
                <a:latin typeface="Alexandria"/>
                <a:ea typeface="Alexandria"/>
                <a:cs typeface="Alexandria"/>
                <a:sym typeface="Alexandria"/>
              </a:rPr>
              <a:t>PROYECTO INGECON GRUPO 12</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560</Words>
  <Application>Microsoft Office PowerPoint</Application>
  <PresentationFormat>Personalizado</PresentationFormat>
  <Paragraphs>107</Paragraphs>
  <Slides>16</Slides>
  <Notes>16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Alexandria</vt:lpstr>
      <vt:lpstr>Calibri</vt:lpstr>
      <vt:lpstr>Cambay</vt:lpstr>
      <vt:lpstr>Manjari</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ORTEGA NOBIZELLI VICENTE I</cp:lastModifiedBy>
  <cp:revision>2</cp:revision>
  <dcterms:created xsi:type="dcterms:W3CDTF">2006-08-16T00:00:00Z</dcterms:created>
  <dcterms:modified xsi:type="dcterms:W3CDTF">2026-09-13T01:09:15Z</dcterms:modified>
</cp:coreProperties>
</file>